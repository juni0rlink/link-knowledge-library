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5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6768" autoAdjust="0"/>
  </p:normalViewPr>
  <p:slideViewPr>
    <p:cSldViewPr snapToGrid="0">
      <p:cViewPr varScale="1">
        <p:scale>
          <a:sx n="110" d="100"/>
          <a:sy n="110" d="100"/>
        </p:scale>
        <p:origin x="61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B9BC47-F8BA-4390-A7BD-1C273A7606B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D30944-E3CD-41B0-963A-3183A7CD1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197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775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197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719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089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031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588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877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197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193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752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3895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9_标题幻灯片">
    <p:bg>
      <p:bgPr>
        <a:blipFill rotWithShape="1">
          <a:blip r:embed="rId2">
            <a:alphaModFix amt="90000"/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64077" y="6431923"/>
            <a:ext cx="1143166" cy="365125"/>
          </a:xfrm>
        </p:spPr>
        <p:txBody>
          <a:bodyPr/>
          <a:lstStyle/>
          <a:p>
            <a:fld id="{B61BEF0D-F0BB-DE4B-95CE-6DB70DBA9567}" type="datetimeFigureOut">
              <a:rPr lang="en-US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63199" y="6431923"/>
            <a:ext cx="432467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583459" y="6431923"/>
            <a:ext cx="551247" cy="365125"/>
          </a:xfrm>
        </p:spPr>
        <p:txBody>
          <a:bodyPr/>
          <a:lstStyle/>
          <a:p>
            <a:fld id="{D57F1E4F-1CFF-5643-939E-217C01CDF565}" type="slidenum">
              <a:rPr lang="en-US"/>
              <a:t>‹#›</a:t>
            </a:fld>
            <a:endParaRPr lang="en-US"/>
          </a:p>
        </p:txBody>
      </p:sp>
      <p:sp>
        <p:nvSpPr>
          <p:cNvPr id="7" name="矩形 6"/>
          <p:cNvSpPr/>
          <p:nvPr userDrawn="1"/>
        </p:nvSpPr>
        <p:spPr>
          <a:xfrm>
            <a:off x="-3810" y="-16510"/>
            <a:ext cx="12223682" cy="6899910"/>
          </a:xfrm>
          <a:prstGeom prst="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42000">
                <a:schemeClr val="bg1"/>
              </a:gs>
              <a:gs pos="69000">
                <a:schemeClr val="bg1">
                  <a:lumMod val="95000"/>
                </a:schemeClr>
              </a:gs>
              <a:gs pos="92000">
                <a:schemeClr val="bg1">
                  <a:lumMod val="9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 descr="LINK  PPT1010-0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3810" y="-16510"/>
            <a:ext cx="12224317" cy="794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82156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24B26F-F2E0-4F53-981B-BB84DEAAB2C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478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6">
            <a:extLst>
              <a:ext uri="{FF2B5EF4-FFF2-40B4-BE49-F238E27FC236}">
                <a16:creationId xmlns:a16="http://schemas.microsoft.com/office/drawing/2014/main" id="{2AD7A79E-3956-2609-3AA6-7B94082105B5}"/>
              </a:ext>
            </a:extLst>
          </p:cNvPr>
          <p:cNvGrpSpPr/>
          <p:nvPr/>
        </p:nvGrpSpPr>
        <p:grpSpPr>
          <a:xfrm>
            <a:off x="10205368" y="-55880"/>
            <a:ext cx="1775460" cy="821055"/>
            <a:chOff x="13535" y="1423"/>
            <a:chExt cx="2796" cy="1293"/>
          </a:xfrm>
        </p:grpSpPr>
        <p:sp>
          <p:nvSpPr>
            <p:cNvPr id="9" name="文本框 7">
              <a:extLst>
                <a:ext uri="{FF2B5EF4-FFF2-40B4-BE49-F238E27FC236}">
                  <a16:creationId xmlns:a16="http://schemas.microsoft.com/office/drawing/2014/main" id="{72915727-257D-BCD0-3342-8C116E778522}"/>
                </a:ext>
              </a:extLst>
            </p:cNvPr>
            <p:cNvSpPr txBox="1"/>
            <p:nvPr/>
          </p:nvSpPr>
          <p:spPr>
            <a:xfrm>
              <a:off x="13535" y="1423"/>
              <a:ext cx="2796" cy="12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indent="0"/>
              <a:r>
                <a:rPr lang="en-US" altLang="zh-CN" sz="4400" b="1" i="1" dirty="0">
                  <a:solidFill>
                    <a:srgbClr val="016AC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</a:t>
              </a:r>
              <a:r>
                <a:rPr lang="en-US" altLang="zh-CN" sz="4400" b="1" i="1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I</a:t>
              </a:r>
              <a:r>
                <a:rPr lang="en-US" altLang="zh-CN" sz="4400" b="1" i="1" dirty="0">
                  <a:solidFill>
                    <a:srgbClr val="016AC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NK</a:t>
              </a:r>
            </a:p>
          </p:txBody>
        </p:sp>
        <p:sp>
          <p:nvSpPr>
            <p:cNvPr id="10" name="文本框 8">
              <a:extLst>
                <a:ext uri="{FF2B5EF4-FFF2-40B4-BE49-F238E27FC236}">
                  <a16:creationId xmlns:a16="http://schemas.microsoft.com/office/drawing/2014/main" id="{964CF148-E6C0-5CA8-B3BE-51F6A57827AE}"/>
                </a:ext>
              </a:extLst>
            </p:cNvPr>
            <p:cNvSpPr txBox="1"/>
            <p:nvPr/>
          </p:nvSpPr>
          <p:spPr>
            <a:xfrm>
              <a:off x="15140" y="2354"/>
              <a:ext cx="1176" cy="36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indent="0"/>
              <a:r>
                <a:rPr lang="en-US" altLang="zh-CN" sz="900" b="1" i="1">
                  <a:solidFill>
                    <a:srgbClr val="016AC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GROUP</a:t>
              </a:r>
            </a:p>
          </p:txBody>
        </p:sp>
      </p:grpSp>
      <p:grpSp>
        <p:nvGrpSpPr>
          <p:cNvPr id="27" name="组合 31">
            <a:extLst>
              <a:ext uri="{FF2B5EF4-FFF2-40B4-BE49-F238E27FC236}">
                <a16:creationId xmlns:a16="http://schemas.microsoft.com/office/drawing/2014/main" id="{2190E015-DB5E-AE8E-FE33-E246ECEE0E1A}"/>
              </a:ext>
            </a:extLst>
          </p:cNvPr>
          <p:cNvGrpSpPr/>
          <p:nvPr/>
        </p:nvGrpSpPr>
        <p:grpSpPr>
          <a:xfrm>
            <a:off x="1596157" y="1419249"/>
            <a:ext cx="1927860" cy="902970"/>
            <a:chOff x="13535" y="1423"/>
            <a:chExt cx="3036" cy="1422"/>
          </a:xfrm>
        </p:grpSpPr>
        <p:sp>
          <p:nvSpPr>
            <p:cNvPr id="28" name="文本框 32">
              <a:extLst>
                <a:ext uri="{FF2B5EF4-FFF2-40B4-BE49-F238E27FC236}">
                  <a16:creationId xmlns:a16="http://schemas.microsoft.com/office/drawing/2014/main" id="{85F00CBA-A2CF-1541-9C7D-40CE764CA600}"/>
                </a:ext>
              </a:extLst>
            </p:cNvPr>
            <p:cNvSpPr txBox="1"/>
            <p:nvPr/>
          </p:nvSpPr>
          <p:spPr>
            <a:xfrm>
              <a:off x="13535" y="1423"/>
              <a:ext cx="2796" cy="135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indent="0"/>
              <a:r>
                <a:rPr lang="en-US" altLang="zh-CN" sz="5000" b="1" i="1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</a:t>
              </a:r>
              <a:r>
                <a:rPr lang="en-US" altLang="zh-CN" sz="5000" b="1" i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I</a:t>
              </a:r>
              <a:r>
                <a:rPr lang="en-US" altLang="zh-CN" sz="5000" b="1" i="1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NK</a:t>
              </a:r>
            </a:p>
          </p:txBody>
        </p:sp>
        <p:sp>
          <p:nvSpPr>
            <p:cNvPr id="29" name="文本框 33">
              <a:extLst>
                <a:ext uri="{FF2B5EF4-FFF2-40B4-BE49-F238E27FC236}">
                  <a16:creationId xmlns:a16="http://schemas.microsoft.com/office/drawing/2014/main" id="{0E06C5C1-C151-3C3E-AFC5-8D21E3C3F4A8}"/>
                </a:ext>
              </a:extLst>
            </p:cNvPr>
            <p:cNvSpPr txBox="1"/>
            <p:nvPr/>
          </p:nvSpPr>
          <p:spPr>
            <a:xfrm>
              <a:off x="15395" y="2459"/>
              <a:ext cx="1176" cy="38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indent="0"/>
              <a:r>
                <a:rPr lang="en-US" altLang="zh-CN" sz="1000" b="1" i="1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GROUP</a:t>
              </a:r>
            </a:p>
          </p:txBody>
        </p:sp>
      </p:grpSp>
      <p:sp>
        <p:nvSpPr>
          <p:cNvPr id="30" name="文本框 36">
            <a:extLst>
              <a:ext uri="{FF2B5EF4-FFF2-40B4-BE49-F238E27FC236}">
                <a16:creationId xmlns:a16="http://schemas.microsoft.com/office/drawing/2014/main" id="{00ED4894-E9E2-5E0D-1B93-C5AD5A69823E}"/>
              </a:ext>
            </a:extLst>
          </p:cNvPr>
          <p:cNvSpPr txBox="1"/>
          <p:nvPr/>
        </p:nvSpPr>
        <p:spPr>
          <a:xfrm>
            <a:off x="3371617" y="1522000"/>
            <a:ext cx="7233100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en-US" altLang="zh-CN" sz="2400" b="1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Automation </a:t>
            </a:r>
            <a:r>
              <a:rPr lang="en-US" altLang="zh-CN" sz="2400" b="1" i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Engineering (Shanghai) Co.,Ltd.</a:t>
            </a:r>
            <a:endParaRPr lang="en-US" altLang="zh-CN" sz="2400" b="1" i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F338B2-489E-06D0-1CF6-7F252DF35561}"/>
              </a:ext>
            </a:extLst>
          </p:cNvPr>
          <p:cNvSpPr txBox="1"/>
          <p:nvPr/>
        </p:nvSpPr>
        <p:spPr>
          <a:xfrm>
            <a:off x="3855563" y="2598003"/>
            <a:ext cx="52790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Record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30B78A-F9D9-CC1E-DF26-4EBEE49CF820}"/>
              </a:ext>
            </a:extLst>
          </p:cNvPr>
          <p:cNvSpPr txBox="1"/>
          <p:nvPr/>
        </p:nvSpPr>
        <p:spPr>
          <a:xfrm>
            <a:off x="961533" y="3997173"/>
            <a:ext cx="71185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Pham Tung Lam : PLC Engineer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D5CBD6-A833-235F-EBF8-D11E311EF2FD}"/>
              </a:ext>
            </a:extLst>
          </p:cNvPr>
          <p:cNvSpPr txBox="1"/>
          <p:nvPr/>
        </p:nvSpPr>
        <p:spPr>
          <a:xfrm>
            <a:off x="961533" y="4500168"/>
            <a:ext cx="5746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Module 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Sequence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35">
            <a:extLst>
              <a:ext uri="{FF2B5EF4-FFF2-40B4-BE49-F238E27FC236}">
                <a16:creationId xmlns:a16="http://schemas.microsoft.com/office/drawing/2014/main" id="{6DAD7C5F-860F-3E5D-B8BB-1C252A8FF164}"/>
              </a:ext>
            </a:extLst>
          </p:cNvPr>
          <p:cNvSpPr txBox="1"/>
          <p:nvPr/>
        </p:nvSpPr>
        <p:spPr>
          <a:xfrm>
            <a:off x="7184266" y="1980561"/>
            <a:ext cx="3243565" cy="33855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zh-CN" altLang="en-US" sz="1600" b="1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霖和自动化工程</a:t>
            </a:r>
            <a:r>
              <a:rPr lang="en-US" altLang="zh-CN" sz="1600" b="1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1600" b="1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上海</a:t>
            </a:r>
            <a:r>
              <a:rPr lang="en-US" altLang="zh-CN" sz="1600" b="1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lang="zh-CN" altLang="en-US" sz="1600" b="1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有限公司</a:t>
            </a:r>
          </a:p>
        </p:txBody>
      </p:sp>
    </p:spTree>
    <p:extLst>
      <p:ext uri="{BB962C8B-B14F-4D97-AF65-F5344CB8AC3E}">
        <p14:creationId xmlns:p14="http://schemas.microsoft.com/office/powerpoint/2010/main" val="2822460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2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91885" y="982619"/>
            <a:ext cx="959684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>
                <a:latin typeface="Arial-BoldMT"/>
              </a:rPr>
              <a:t>SOFTWARE / NETWORK STRUCTURE WITHIN </a:t>
            </a:r>
            <a:r>
              <a:rPr lang="en-US" b="1">
                <a:latin typeface="Arial-BoldMT"/>
              </a:rPr>
              <a:t>A </a:t>
            </a:r>
            <a:r>
              <a:rPr lang="en-US" b="1" smtClean="0">
                <a:latin typeface="Arial-BoldMT"/>
              </a:rPr>
              <a:t>COMPONENT WITH A SEQUENCER</a:t>
            </a:r>
            <a:r>
              <a:rPr lang="en-US" smtClean="0"/>
              <a:t> </a:t>
            </a:r>
            <a:r>
              <a:rPr lang="en-US"/>
              <a:t/>
            </a:r>
            <a:br>
              <a:rPr lang="en-US"/>
            </a:br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391885" y="1418048"/>
            <a:ext cx="1065929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/>
              <a:t>All relevant blocks that are directly involved in the sequential program are called within a component</a:t>
            </a:r>
            <a:br>
              <a:rPr lang="en-US"/>
            </a:br>
            <a:r>
              <a:rPr lang="en-US"/>
              <a:t>This results in the following typical block structure</a:t>
            </a:r>
            <a:r>
              <a:rPr lang="en-US"/>
              <a:t>:</a:t>
            </a:r>
            <a:r>
              <a:rPr lang="en-US"/>
              <a:t> </a:t>
            </a:r>
            <a:r>
              <a:rPr lang="en-US" smtClean="0"/>
              <a:t> </a:t>
            </a:r>
            <a:r>
              <a:rPr lang="en-US"/>
              <a:t/>
            </a:r>
            <a:br>
              <a:rPr lang="en-US"/>
            </a:b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148" y="2064379"/>
            <a:ext cx="5308853" cy="500838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825" y="2341378"/>
            <a:ext cx="5645257" cy="3687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748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3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3979" y="1010083"/>
            <a:ext cx="5254127" cy="560440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7469" y="1635496"/>
            <a:ext cx="5273902" cy="313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519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4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95794" y="893858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>
                <a:latin typeface="Arial-BoldMT"/>
              </a:rPr>
              <a:t>PROCESS -RELEVANT SIGNALS : SDB</a:t>
            </a:r>
            <a:r>
              <a:rPr lang="en-US"/>
              <a:t> </a:t>
            </a:r>
            <a:br>
              <a:rPr lang="en-US"/>
            </a:br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365759" y="1217023"/>
            <a:ext cx="1153885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000000"/>
                </a:solidFill>
                <a:latin typeface="Arial-BoldMT"/>
              </a:rPr>
              <a:t>All process-relevant blocks have a "SEQ" interface </a:t>
            </a:r>
            <a:r>
              <a:rPr lang="en-US">
                <a:solidFill>
                  <a:srgbClr val="000000"/>
                </a:solidFill>
                <a:latin typeface="ArialMT"/>
              </a:rPr>
              <a:t>, which is based on a block-specific UDT definition.</a:t>
            </a:r>
            <a:br>
              <a:rPr lang="en-US">
                <a:solidFill>
                  <a:srgbClr val="000000"/>
                </a:solidFill>
                <a:latin typeface="ArialMT"/>
              </a:rPr>
            </a:br>
            <a:r>
              <a:rPr lang="en-US">
                <a:solidFill>
                  <a:srgbClr val="000000"/>
                </a:solidFill>
                <a:latin typeface="ArialMT"/>
              </a:rPr>
              <a:t>The corresponding variables for this are created in</a:t>
            </a:r>
            <a:r>
              <a:rPr lang="en-US"/>
              <a:t> </a:t>
            </a:r>
            <a:br>
              <a:rPr lang="en-US"/>
            </a:b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493" y="2012332"/>
            <a:ext cx="6163535" cy="429637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514011" y="3213689"/>
            <a:ext cx="562069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ArialMT"/>
              </a:rPr>
              <a:t>With this, sequence-relevant signals can also be</a:t>
            </a:r>
            <a:br>
              <a:rPr lang="en-US">
                <a:solidFill>
                  <a:srgbClr val="000000"/>
                </a:solidFill>
                <a:latin typeface="ArialMT"/>
              </a:rPr>
            </a:br>
            <a:r>
              <a:rPr lang="en-US">
                <a:solidFill>
                  <a:srgbClr val="000000"/>
                </a:solidFill>
                <a:latin typeface="ArialMT"/>
              </a:rPr>
              <a:t>controlled / queried across blocks, for example the</a:t>
            </a:r>
            <a:br>
              <a:rPr lang="en-US">
                <a:solidFill>
                  <a:srgbClr val="000000"/>
                </a:solidFill>
                <a:latin typeface="ArialMT"/>
              </a:rPr>
            </a:br>
            <a:r>
              <a:rPr lang="en-US">
                <a:solidFill>
                  <a:srgbClr val="000000"/>
                </a:solidFill>
                <a:latin typeface="ArialMT"/>
              </a:rPr>
              <a:t>control of an actuator from the sequencer!</a:t>
            </a:r>
            <a:br>
              <a:rPr lang="en-US">
                <a:solidFill>
                  <a:srgbClr val="000000"/>
                </a:solidFill>
                <a:latin typeface="ArialMT"/>
              </a:rPr>
            </a:br>
            <a:r>
              <a:rPr lang="en-US" b="1">
                <a:solidFill>
                  <a:srgbClr val="000000"/>
                </a:solidFill>
                <a:latin typeface="Arial-BoldMT"/>
              </a:rPr>
              <a:t>The use of markers is therefore not </a:t>
            </a:r>
            <a:r>
              <a:rPr lang="en-US" b="1">
                <a:solidFill>
                  <a:srgbClr val="000000"/>
                </a:solidFill>
                <a:latin typeface="Arial-BoldMT"/>
              </a:rPr>
              <a:t>necessary </a:t>
            </a:r>
            <a:r>
              <a:rPr lang="en-US" b="1" smtClean="0">
                <a:solidFill>
                  <a:srgbClr val="000000"/>
                </a:solidFill>
                <a:latin typeface="Arial-BoldMT"/>
              </a:rPr>
              <a:t>and also </a:t>
            </a:r>
            <a:r>
              <a:rPr lang="en-US" b="1">
                <a:solidFill>
                  <a:srgbClr val="000000"/>
                </a:solidFill>
                <a:latin typeface="Arial-BoldMT"/>
              </a:rPr>
              <a:t>not permitted!</a:t>
            </a:r>
            <a:r>
              <a:rPr lang="en-US"/>
              <a:t> 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903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5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526971" y="2706077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600" b="1">
                <a:solidFill>
                  <a:srgbClr val="000000"/>
                </a:solidFill>
                <a:latin typeface="Arial-BoldMT"/>
              </a:rPr>
              <a:t>SEQUENCERS PHASE</a:t>
            </a:r>
            <a:r>
              <a:rPr lang="en-US" sz="3600" b="1">
                <a:solidFill>
                  <a:srgbClr val="000000"/>
                </a:solidFill>
                <a:latin typeface="Arial-BoldMT"/>
              </a:rPr>
              <a:t/>
            </a:r>
            <a:br>
              <a:rPr lang="en-US" sz="3600" b="1">
                <a:solidFill>
                  <a:srgbClr val="000000"/>
                </a:solidFill>
                <a:latin typeface="Arial-BoldMT"/>
              </a:rPr>
            </a:br>
            <a:r>
              <a:rPr lang="en-US" sz="3600" b="1" smtClean="0">
                <a:solidFill>
                  <a:srgbClr val="000000"/>
                </a:solidFill>
                <a:latin typeface="Arial-BoldMT"/>
              </a:rPr>
              <a:t>          STRUCTURE</a:t>
            </a:r>
            <a:r>
              <a:rPr lang="en-US" sz="3600" smtClean="0"/>
              <a:t> </a:t>
            </a:r>
            <a:r>
              <a:rPr lang="en-US"/>
              <a:t/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394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6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091" y="1114696"/>
            <a:ext cx="3603194" cy="542924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467497" y="2133599"/>
            <a:ext cx="720198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ArialMT"/>
              </a:rPr>
              <a:t>The production process is structured in phases.</a:t>
            </a:r>
            <a:br>
              <a:rPr lang="en-US">
                <a:solidFill>
                  <a:srgbClr val="000000"/>
                </a:solidFill>
                <a:latin typeface="ArialMT"/>
              </a:rPr>
            </a:br>
            <a:r>
              <a:rPr lang="en-US">
                <a:solidFill>
                  <a:srgbClr val="000000"/>
                </a:solidFill>
                <a:latin typeface="ArialMT"/>
              </a:rPr>
              <a:t>The individual phases are therefore synchronization points at which it </a:t>
            </a:r>
            <a:r>
              <a:rPr lang="en-US">
                <a:solidFill>
                  <a:srgbClr val="000000"/>
                </a:solidFill>
                <a:latin typeface="ArialMT"/>
              </a:rPr>
              <a:t>must </a:t>
            </a:r>
            <a:r>
              <a:rPr lang="en-US" smtClean="0">
                <a:solidFill>
                  <a:srgbClr val="000000"/>
                </a:solidFill>
                <a:latin typeface="ArialMT"/>
              </a:rPr>
              <a:t>be possible </a:t>
            </a:r>
            <a:r>
              <a:rPr lang="en-US">
                <a:solidFill>
                  <a:srgbClr val="000000"/>
                </a:solidFill>
                <a:latin typeface="ArialMT"/>
              </a:rPr>
              <a:t>to restart the system.</a:t>
            </a:r>
            <a:br>
              <a:rPr lang="en-US">
                <a:solidFill>
                  <a:srgbClr val="000000"/>
                </a:solidFill>
                <a:latin typeface="ArialMT"/>
              </a:rPr>
            </a:br>
            <a:r>
              <a:rPr lang="en-US" b="1">
                <a:solidFill>
                  <a:srgbClr val="000000"/>
                </a:solidFill>
                <a:latin typeface="Arial-BoldMT"/>
              </a:rPr>
              <a:t>Fulfilled phases are therefore sequencer basic positions and have </a:t>
            </a:r>
            <a:r>
              <a:rPr lang="en-US" b="1">
                <a:solidFill>
                  <a:srgbClr val="000000"/>
                </a:solidFill>
                <a:latin typeface="Arial-BoldMT"/>
              </a:rPr>
              <a:t>a </a:t>
            </a:r>
            <a:r>
              <a:rPr lang="en-US" b="1" smtClean="0">
                <a:solidFill>
                  <a:srgbClr val="000000"/>
                </a:solidFill>
                <a:latin typeface="Arial-BoldMT"/>
              </a:rPr>
              <a:t>direct effect </a:t>
            </a:r>
            <a:r>
              <a:rPr lang="en-US" b="1">
                <a:solidFill>
                  <a:srgbClr val="000000"/>
                </a:solidFill>
                <a:latin typeface="Arial-BoldMT"/>
              </a:rPr>
              <a:t>on the overall basic position of a FG!</a:t>
            </a:r>
            <a:r>
              <a:rPr lang="en-US"/>
              <a:t> 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503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7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25" y="3071965"/>
            <a:ext cx="11203257" cy="372508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55825" y="1194528"/>
            <a:ext cx="6096000" cy="187743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600" b="1">
                <a:latin typeface="Arial-BoldMT"/>
              </a:rPr>
              <a:t>ACTIVATE PHASE</a:t>
            </a:r>
            <a:r>
              <a:rPr lang="en-US" sz="2600" b="1">
                <a:solidFill>
                  <a:srgbClr val="035970"/>
                </a:solidFill>
                <a:latin typeface="Arial-BoldMT"/>
              </a:rPr>
              <a:t/>
            </a:r>
            <a:br>
              <a:rPr lang="en-US" sz="2600" b="1">
                <a:solidFill>
                  <a:srgbClr val="035970"/>
                </a:solidFill>
                <a:latin typeface="Arial-BoldMT"/>
              </a:rPr>
            </a:br>
            <a:r>
              <a:rPr lang="en-US">
                <a:solidFill>
                  <a:srgbClr val="000000"/>
                </a:solidFill>
                <a:latin typeface="ArialMT"/>
              </a:rPr>
              <a:t>In the process, exactly one phase must always be active.</a:t>
            </a:r>
            <a:br>
              <a:rPr lang="en-US">
                <a:solidFill>
                  <a:srgbClr val="000000"/>
                </a:solidFill>
                <a:latin typeface="ArialMT"/>
              </a:rPr>
            </a:br>
            <a:r>
              <a:rPr lang="en-US">
                <a:solidFill>
                  <a:srgbClr val="000000"/>
                </a:solidFill>
                <a:latin typeface="ArialMT"/>
              </a:rPr>
              <a:t>This is done using the following logic, which is also formed exclusively from</a:t>
            </a:r>
            <a:br>
              <a:rPr lang="en-US">
                <a:solidFill>
                  <a:srgbClr val="000000"/>
                </a:solidFill>
                <a:latin typeface="ArialMT"/>
              </a:rPr>
            </a:br>
            <a:r>
              <a:rPr lang="en-US">
                <a:solidFill>
                  <a:srgbClr val="000000"/>
                </a:solidFill>
                <a:latin typeface="ArialMT"/>
              </a:rPr>
              <a:t>standardized signals:</a:t>
            </a:r>
            <a:r>
              <a:rPr lang="en-US"/>
              <a:t> 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51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8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592" y="2356216"/>
            <a:ext cx="11574490" cy="425826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40227" y="1357088"/>
            <a:ext cx="924850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ArialMT"/>
              </a:rPr>
              <a:t>At the end of the sequencer, before jumping back to step 1, the initial phase must be</a:t>
            </a:r>
            <a:br>
              <a:rPr lang="en-US">
                <a:solidFill>
                  <a:srgbClr val="000000"/>
                </a:solidFill>
                <a:latin typeface="ArialMT"/>
              </a:rPr>
            </a:br>
            <a:r>
              <a:rPr lang="en-US">
                <a:solidFill>
                  <a:srgbClr val="000000"/>
                </a:solidFill>
                <a:latin typeface="ArialMT"/>
              </a:rPr>
              <a:t>activated:</a:t>
            </a:r>
            <a:r>
              <a:rPr lang="en-US"/>
              <a:t> 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15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9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081" y="2833271"/>
            <a:ext cx="10823496" cy="359865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3177" y="922496"/>
            <a:ext cx="633113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ArialMT"/>
              </a:rPr>
              <a:t>Both the actuator control in the step and the transition formation must be carried out exclusively with signals</a:t>
            </a:r>
            <a:br>
              <a:rPr lang="en-US">
                <a:solidFill>
                  <a:srgbClr val="000000"/>
                </a:solidFill>
                <a:latin typeface="ArialMT"/>
              </a:rPr>
            </a:br>
            <a:r>
              <a:rPr lang="en-US">
                <a:solidFill>
                  <a:srgbClr val="000000"/>
                </a:solidFill>
                <a:latin typeface="ArialMT"/>
              </a:rPr>
              <a:t>from the SEQ interface of the relevant actuator component :</a:t>
            </a:r>
            <a:r>
              <a:rPr lang="en-US"/>
              <a:t> </a:t>
            </a:r>
            <a:br>
              <a:rPr lang="en-US"/>
            </a:b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833257" y="4632597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>
                <a:solidFill>
                  <a:srgbClr val="000000"/>
                </a:solidFill>
                <a:latin typeface="Arial-BoldMT"/>
              </a:rPr>
              <a:t>The use of the actuator outputs and the relevant inputs such as e.g</a:t>
            </a:r>
            <a:br>
              <a:rPr lang="en-US" b="1">
                <a:solidFill>
                  <a:srgbClr val="000000"/>
                </a:solidFill>
                <a:latin typeface="Arial-BoldMT"/>
              </a:rPr>
            </a:br>
            <a:r>
              <a:rPr lang="en-US" b="1">
                <a:solidFill>
                  <a:srgbClr val="000000"/>
                </a:solidFill>
                <a:latin typeface="Arial-BoldMT"/>
              </a:rPr>
              <a:t>Clamp end positions is only permitted on the actuator module and not</a:t>
            </a:r>
            <a:br>
              <a:rPr lang="en-US" b="1">
                <a:solidFill>
                  <a:srgbClr val="000000"/>
                </a:solidFill>
                <a:latin typeface="Arial-BoldMT"/>
              </a:rPr>
            </a:br>
            <a:r>
              <a:rPr lang="en-US" b="1">
                <a:solidFill>
                  <a:srgbClr val="000000"/>
                </a:solidFill>
                <a:latin typeface="Arial-BoldMT"/>
              </a:rPr>
              <a:t>in the further sequence program!</a:t>
            </a:r>
            <a:r>
              <a:rPr lang="en-US"/>
              <a:t> 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1801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5069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82624" y="1099185"/>
            <a:ext cx="2986405" cy="810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b="1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</a:rPr>
              <a:t>L</a:t>
            </a:r>
            <a:r>
              <a:rPr lang="en-US" altLang="zh-CN" b="1" dirty="0">
                <a:solidFill>
                  <a:srgbClr val="FF0000"/>
                </a:solidFill>
                <a:latin typeface="Arial MT Std" panose="020B0802020202020204" charset="0"/>
                <a:ea typeface="Arial Unicode MS" panose="020B0604020202020204" charset="-122"/>
              </a:rPr>
              <a:t>I</a:t>
            </a:r>
            <a:r>
              <a:rPr lang="en-US" altLang="zh-CN" b="1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</a:rPr>
              <a:t>NK</a:t>
            </a:r>
            <a:r>
              <a:rPr lang="en-US" altLang="zh-CN" b="1" dirty="0">
                <a:latin typeface="Arial MT Std" panose="020B0802020202020204" charset="0"/>
                <a:ea typeface="Arial Unicode MS" panose="020B0604020202020204" charset="-122"/>
              </a:rPr>
              <a:t> </a:t>
            </a:r>
            <a:r>
              <a:rPr lang="en-US" altLang="zh-CN" b="1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</a:rPr>
              <a:t>Group Headquarter</a:t>
            </a:r>
          </a:p>
          <a:p>
            <a:pPr algn="ctr">
              <a:lnSpc>
                <a:spcPct val="130000"/>
              </a:lnSpc>
            </a:pPr>
            <a:r>
              <a:rPr lang="en-US" altLang="zh-CN" b="1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</a:rPr>
              <a:t>Shanghai, China </a:t>
            </a:r>
            <a:endParaRPr lang="en-US" altLang="zh-CN" dirty="0">
              <a:solidFill>
                <a:srgbClr val="0070C0"/>
              </a:solidFill>
              <a:latin typeface="Arial" panose="020B0604020202020204" pitchFamily="34" charset="0"/>
              <a:ea typeface="Arial Unicode MS" panose="020B0604020202020204" charset="-122"/>
            </a:endParaRPr>
          </a:p>
        </p:txBody>
      </p:sp>
      <p:pic>
        <p:nvPicPr>
          <p:cNvPr id="71" name="图片 70" descr="LINK封面1改1111"/>
          <p:cNvPicPr>
            <a:picLocks noChangeAspect="1"/>
          </p:cNvPicPr>
          <p:nvPr/>
        </p:nvPicPr>
        <p:blipFill>
          <a:blip r:embed="rId2"/>
          <a:srcRect l="70401" t="12295" r="11041" b="71499"/>
          <a:stretch>
            <a:fillRect/>
          </a:stretch>
        </p:blipFill>
        <p:spPr>
          <a:xfrm>
            <a:off x="10258425" y="73025"/>
            <a:ext cx="1493520" cy="73406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87058" y="238760"/>
            <a:ext cx="179197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400" b="1" dirty="0">
                <a:solidFill>
                  <a:schemeClr val="bg1"/>
                </a:solidFill>
                <a:uFillTx/>
                <a:latin typeface="Arial MT Std" panose="020B0802020202020204" charset="0"/>
                <a:ea typeface="Arial Unicode MS" panose="020B0604020202020204" charset="-122"/>
                <a:sym typeface="+mn-ea"/>
              </a:rPr>
              <a:t>C</a:t>
            </a:r>
            <a:r>
              <a:rPr lang="en-US" altLang="zh-CN" sz="2400" b="1" dirty="0">
                <a:solidFill>
                  <a:schemeClr val="bg1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ontact Us</a:t>
            </a:r>
          </a:p>
        </p:txBody>
      </p:sp>
      <p:grpSp>
        <p:nvGrpSpPr>
          <p:cNvPr id="50" name="组合 49"/>
          <p:cNvGrpSpPr/>
          <p:nvPr/>
        </p:nvGrpSpPr>
        <p:grpSpPr>
          <a:xfrm>
            <a:off x="852805" y="2623185"/>
            <a:ext cx="2970530" cy="3374390"/>
            <a:chOff x="913" y="4001"/>
            <a:chExt cx="4678" cy="5314"/>
          </a:xfrm>
        </p:grpSpPr>
        <p:sp>
          <p:nvSpPr>
            <p:cNvPr id="9" name="任意多边形 8"/>
            <p:cNvSpPr/>
            <p:nvPr/>
          </p:nvSpPr>
          <p:spPr>
            <a:xfrm>
              <a:off x="913" y="4001"/>
              <a:ext cx="4577" cy="5314"/>
            </a:xfrm>
            <a:custGeom>
              <a:avLst/>
              <a:gdLst>
                <a:gd name="connsiteX0" fmla="*/ 0 w 4577"/>
                <a:gd name="connsiteY0" fmla="*/ 268 h 4985"/>
                <a:gd name="connsiteX1" fmla="*/ 179 w 4577"/>
                <a:gd name="connsiteY1" fmla="*/ 0 h 4985"/>
                <a:gd name="connsiteX2" fmla="*/ 4398 w 4577"/>
                <a:gd name="connsiteY2" fmla="*/ 0 h 4985"/>
                <a:gd name="connsiteX3" fmla="*/ 4577 w 4577"/>
                <a:gd name="connsiteY3" fmla="*/ 268 h 4985"/>
                <a:gd name="connsiteX4" fmla="*/ 4565 w 4577"/>
                <a:gd name="connsiteY4" fmla="*/ 4734 h 4985"/>
                <a:gd name="connsiteX5" fmla="*/ 4429 w 4577"/>
                <a:gd name="connsiteY5" fmla="*/ 4985 h 4985"/>
                <a:gd name="connsiteX6" fmla="*/ 177 w 4577"/>
                <a:gd name="connsiteY6" fmla="*/ 4982 h 4985"/>
                <a:gd name="connsiteX7" fmla="*/ 10 w 4577"/>
                <a:gd name="connsiteY7" fmla="*/ 4771 h 4985"/>
                <a:gd name="connsiteX8" fmla="*/ 0 w 4577"/>
                <a:gd name="connsiteY8" fmla="*/ 268 h 4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7" h="4985">
                  <a:moveTo>
                    <a:pt x="0" y="268"/>
                  </a:moveTo>
                  <a:cubicBezTo>
                    <a:pt x="0" y="120"/>
                    <a:pt x="80" y="0"/>
                    <a:pt x="179" y="0"/>
                  </a:cubicBezTo>
                  <a:lnTo>
                    <a:pt x="4398" y="0"/>
                  </a:lnTo>
                  <a:cubicBezTo>
                    <a:pt x="4497" y="0"/>
                    <a:pt x="4577" y="120"/>
                    <a:pt x="4577" y="268"/>
                  </a:cubicBezTo>
                  <a:lnTo>
                    <a:pt x="4565" y="4734"/>
                  </a:lnTo>
                  <a:cubicBezTo>
                    <a:pt x="4565" y="4882"/>
                    <a:pt x="4528" y="4985"/>
                    <a:pt x="4429" y="4985"/>
                  </a:cubicBezTo>
                  <a:lnTo>
                    <a:pt x="177" y="4982"/>
                  </a:lnTo>
                  <a:cubicBezTo>
                    <a:pt x="78" y="4982"/>
                    <a:pt x="10" y="4919"/>
                    <a:pt x="10" y="4771"/>
                  </a:cubicBezTo>
                  <a:lnTo>
                    <a:pt x="0" y="268"/>
                  </a:lnTo>
                  <a:close/>
                </a:path>
              </a:pathLst>
            </a:custGeom>
            <a:noFill/>
            <a:ln>
              <a:solidFill>
                <a:srgbClr val="016AC5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" name="图片 6" descr="5653f3e7356a7-0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4" y="5273"/>
              <a:ext cx="717" cy="632"/>
            </a:xfrm>
            <a:prstGeom prst="rect">
              <a:avLst/>
            </a:prstGeom>
          </p:spPr>
        </p:pic>
        <p:pic>
          <p:nvPicPr>
            <p:cNvPr id="8" name="图片 7" descr="5653f3e7356a7-0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04" y="4609"/>
              <a:ext cx="712" cy="627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/>
          </p:nvSpPr>
          <p:spPr>
            <a:xfrm>
              <a:off x="1026" y="4178"/>
              <a:ext cx="1464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0070C0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Enquiry </a:t>
              </a: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603" y="4729"/>
              <a:ext cx="338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ying.liu@LKautomation.com</a:t>
              </a: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603" y="5454"/>
              <a:ext cx="2787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+86 021  6918 0161</a:t>
              </a: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1026" y="5905"/>
              <a:ext cx="111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0070C0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Sales</a:t>
              </a: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603" y="6496"/>
              <a:ext cx="398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gene.zhang@LKautomation.com</a:t>
              </a: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1603" y="7127"/>
              <a:ext cx="2787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+86 136 2179 1621</a:t>
              </a: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004" y="7670"/>
              <a:ext cx="4486" cy="15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400" b="1" dirty="0">
                  <a:solidFill>
                    <a:srgbClr val="0070C0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Address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BLDG #D,North </a:t>
              </a:r>
              <a:r>
                <a:rPr lang="en-US" altLang="zh-CN" sz="1000" dirty="0" err="1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Jiasong</a:t>
              </a:r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 Road No.3570 Jiading District,Shanghai,</a:t>
              </a:r>
              <a:r>
                <a:rPr lang="en-US" altLang="zh-CN" sz="1000" dirty="0" err="1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P.R.China</a:t>
              </a:r>
              <a:r>
                <a:rPr lang="en-US" altLang="zh-CN" sz="12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 </a:t>
              </a:r>
            </a:p>
            <a:p>
              <a:endParaRPr lang="en-US" altLang="zh-CN" sz="1200" dirty="0">
                <a:solidFill>
                  <a:srgbClr val="016AC5"/>
                </a:solidFill>
                <a:latin typeface="Arial" panose="020B0604020202020204" pitchFamily="34" charset="0"/>
                <a:ea typeface="Arial Unicode MS" panose="020B0604020202020204" charset="-122"/>
                <a:sym typeface="+mn-ea"/>
              </a:endParaRPr>
            </a:p>
          </p:txBody>
        </p:sp>
        <p:pic>
          <p:nvPicPr>
            <p:cNvPr id="11" name="图片 10" descr="5653f3e7356a7-0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4" y="7040"/>
              <a:ext cx="717" cy="632"/>
            </a:xfrm>
            <a:prstGeom prst="rect">
              <a:avLst/>
            </a:prstGeom>
          </p:spPr>
        </p:pic>
        <p:pic>
          <p:nvPicPr>
            <p:cNvPr id="13" name="图片 12" descr="5653f3e7356a7-0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04" y="6376"/>
              <a:ext cx="712" cy="627"/>
            </a:xfrm>
            <a:prstGeom prst="rect">
              <a:avLst/>
            </a:prstGeom>
          </p:spPr>
        </p:pic>
      </p:grpSp>
      <p:sp>
        <p:nvSpPr>
          <p:cNvPr id="22" name="文本框 21"/>
          <p:cNvSpPr txBox="1"/>
          <p:nvPr/>
        </p:nvSpPr>
        <p:spPr>
          <a:xfrm>
            <a:off x="3904932" y="1099185"/>
            <a:ext cx="4370070" cy="810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b="1" kern="600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L</a:t>
            </a:r>
            <a:r>
              <a:rPr lang="en-US" altLang="zh-CN" b="1" kern="600" dirty="0">
                <a:solidFill>
                  <a:srgbClr val="FF000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I</a:t>
            </a:r>
            <a:r>
              <a:rPr lang="en-US" altLang="zh-CN" b="1" kern="600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NK</a:t>
            </a:r>
            <a:r>
              <a:rPr lang="en-US" altLang="zh-CN" b="1" kern="600" dirty="0">
                <a:latin typeface="Arial MT Std" panose="020B0802020202020204" charset="0"/>
                <a:ea typeface="Arial Unicode MS" panose="020B0604020202020204" charset="-122"/>
                <a:sym typeface="+mn-ea"/>
              </a:rPr>
              <a:t> </a:t>
            </a:r>
            <a:r>
              <a:rPr lang="en-US" altLang="zh-CN" b="1" kern="600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Group North China</a:t>
            </a:r>
          </a:p>
          <a:p>
            <a:pPr algn="ctr">
              <a:lnSpc>
                <a:spcPct val="130000"/>
              </a:lnSpc>
            </a:pPr>
            <a:r>
              <a:rPr lang="en-US" altLang="zh-CN" b="1" kern="600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Shenyang, China</a:t>
            </a:r>
            <a:endParaRPr lang="en-US" altLang="zh-CN" kern="600" dirty="0">
              <a:solidFill>
                <a:srgbClr val="0070C0"/>
              </a:solidFill>
              <a:latin typeface="Arial" panose="020B0604020202020204" pitchFamily="34" charset="0"/>
              <a:ea typeface="Arial Unicode MS" panose="020B0604020202020204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7885112" y="1113479"/>
            <a:ext cx="4092575" cy="11726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b="1" kern="600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L</a:t>
            </a:r>
            <a:r>
              <a:rPr lang="en-US" altLang="zh-CN" b="1" kern="600" dirty="0">
                <a:solidFill>
                  <a:srgbClr val="FF000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I</a:t>
            </a:r>
            <a:r>
              <a:rPr lang="en-US" altLang="zh-CN" b="1" kern="600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N</a:t>
            </a:r>
            <a:r>
              <a:rPr lang="en-US" altLang="zh-CN" b="1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K Group Europe</a:t>
            </a:r>
            <a:br>
              <a:rPr lang="en-US" altLang="zh-CN" b="1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</a:br>
            <a:r>
              <a:rPr lang="en-US" altLang="zh-CN" b="1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(LKGG GmbH)</a:t>
            </a:r>
          </a:p>
          <a:p>
            <a:pPr algn="ctr">
              <a:lnSpc>
                <a:spcPct val="130000"/>
              </a:lnSpc>
            </a:pPr>
            <a:r>
              <a:rPr lang="en-US" altLang="zh-CN" b="1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Bad Reichenhall, Germany</a:t>
            </a:r>
            <a:endParaRPr lang="en-US" altLang="zh-CN" kern="600" dirty="0">
              <a:solidFill>
                <a:srgbClr val="0070C0"/>
              </a:solidFill>
              <a:latin typeface="Arial" panose="020B0604020202020204" pitchFamily="34" charset="0"/>
              <a:ea typeface="Arial Unicode MS" panose="020B0604020202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652583" y="6489708"/>
            <a:ext cx="551247" cy="365125"/>
          </a:xfrm>
        </p:spPr>
        <p:txBody>
          <a:bodyPr/>
          <a:lstStyle/>
          <a:p>
            <a:fld id="{D57F1E4F-1CFF-5643-939E-217C01CDF565}" type="slidenum">
              <a:rPr lang="en-US" dirty="0">
                <a:latin typeface="Arial Unicode MS" panose="020B0604020202020204" charset="-122"/>
                <a:ea typeface="Arial Unicode MS" panose="020B0604020202020204" charset="-122"/>
              </a:rPr>
              <a:t>11</a:t>
            </a:fld>
            <a:endParaRPr lang="en-US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4690746" y="2623185"/>
            <a:ext cx="2970530" cy="3374390"/>
            <a:chOff x="6872" y="4001"/>
            <a:chExt cx="4678" cy="5314"/>
          </a:xfrm>
        </p:grpSpPr>
        <p:sp>
          <p:nvSpPr>
            <p:cNvPr id="18" name="任意多边形 17"/>
            <p:cNvSpPr/>
            <p:nvPr/>
          </p:nvSpPr>
          <p:spPr>
            <a:xfrm>
              <a:off x="6872" y="4001"/>
              <a:ext cx="4577" cy="5314"/>
            </a:xfrm>
            <a:custGeom>
              <a:avLst/>
              <a:gdLst>
                <a:gd name="connsiteX0" fmla="*/ 0 w 4577"/>
                <a:gd name="connsiteY0" fmla="*/ 268 h 4985"/>
                <a:gd name="connsiteX1" fmla="*/ 179 w 4577"/>
                <a:gd name="connsiteY1" fmla="*/ 0 h 4985"/>
                <a:gd name="connsiteX2" fmla="*/ 4398 w 4577"/>
                <a:gd name="connsiteY2" fmla="*/ 0 h 4985"/>
                <a:gd name="connsiteX3" fmla="*/ 4577 w 4577"/>
                <a:gd name="connsiteY3" fmla="*/ 268 h 4985"/>
                <a:gd name="connsiteX4" fmla="*/ 4565 w 4577"/>
                <a:gd name="connsiteY4" fmla="*/ 4734 h 4985"/>
                <a:gd name="connsiteX5" fmla="*/ 4429 w 4577"/>
                <a:gd name="connsiteY5" fmla="*/ 4985 h 4985"/>
                <a:gd name="connsiteX6" fmla="*/ 177 w 4577"/>
                <a:gd name="connsiteY6" fmla="*/ 4982 h 4985"/>
                <a:gd name="connsiteX7" fmla="*/ 10 w 4577"/>
                <a:gd name="connsiteY7" fmla="*/ 4771 h 4985"/>
                <a:gd name="connsiteX8" fmla="*/ 0 w 4577"/>
                <a:gd name="connsiteY8" fmla="*/ 268 h 4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7" h="4985">
                  <a:moveTo>
                    <a:pt x="0" y="268"/>
                  </a:moveTo>
                  <a:cubicBezTo>
                    <a:pt x="0" y="120"/>
                    <a:pt x="80" y="0"/>
                    <a:pt x="179" y="0"/>
                  </a:cubicBezTo>
                  <a:lnTo>
                    <a:pt x="4398" y="0"/>
                  </a:lnTo>
                  <a:cubicBezTo>
                    <a:pt x="4497" y="0"/>
                    <a:pt x="4577" y="120"/>
                    <a:pt x="4577" y="268"/>
                  </a:cubicBezTo>
                  <a:lnTo>
                    <a:pt x="4565" y="4734"/>
                  </a:lnTo>
                  <a:cubicBezTo>
                    <a:pt x="4565" y="4882"/>
                    <a:pt x="4528" y="4985"/>
                    <a:pt x="4429" y="4985"/>
                  </a:cubicBezTo>
                  <a:lnTo>
                    <a:pt x="177" y="4982"/>
                  </a:lnTo>
                  <a:cubicBezTo>
                    <a:pt x="78" y="4982"/>
                    <a:pt x="10" y="4919"/>
                    <a:pt x="10" y="4771"/>
                  </a:cubicBezTo>
                  <a:lnTo>
                    <a:pt x="0" y="268"/>
                  </a:lnTo>
                  <a:close/>
                </a:path>
              </a:pathLst>
            </a:custGeom>
            <a:noFill/>
            <a:ln>
              <a:solidFill>
                <a:srgbClr val="016AC5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片 22" descr="5653f3e7356a7-0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63" y="5273"/>
              <a:ext cx="717" cy="632"/>
            </a:xfrm>
            <a:prstGeom prst="rect">
              <a:avLst/>
            </a:prstGeom>
          </p:spPr>
        </p:pic>
        <p:pic>
          <p:nvPicPr>
            <p:cNvPr id="26" name="图片 25" descr="5653f3e7356a7-0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63" y="4609"/>
              <a:ext cx="712" cy="627"/>
            </a:xfrm>
            <a:prstGeom prst="rect">
              <a:avLst/>
            </a:prstGeom>
          </p:spPr>
        </p:pic>
        <p:sp>
          <p:nvSpPr>
            <p:cNvPr id="27" name="文本框 26"/>
            <p:cNvSpPr txBox="1"/>
            <p:nvPr/>
          </p:nvSpPr>
          <p:spPr>
            <a:xfrm>
              <a:off x="6985" y="4178"/>
              <a:ext cx="1464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0070C0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Enquiry </a:t>
              </a: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7562" y="4729"/>
              <a:ext cx="338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kimi.wang@LKautomation.com</a:t>
              </a: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7562" y="5454"/>
              <a:ext cx="2787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+86 021  6918 0161</a:t>
              </a: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6985" y="5905"/>
              <a:ext cx="111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0070C0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Sales</a:t>
              </a: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7562" y="6496"/>
              <a:ext cx="398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gene.zhang@LKautomation.com</a:t>
              </a: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7562" y="7127"/>
              <a:ext cx="2787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+86 136 2179 1621</a:t>
              </a: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6963" y="7670"/>
              <a:ext cx="4233" cy="15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400" b="1" dirty="0">
                  <a:solidFill>
                    <a:srgbClr val="0070C0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Address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NO. 14 22nd Floor,NO.168-3 Harbin Road, 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000" dirty="0" err="1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Shenhe</a:t>
              </a:r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 District,Shenyang,Liaoning 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Province,</a:t>
              </a:r>
              <a:r>
                <a:rPr lang="en-US" altLang="zh-CN" sz="1000" dirty="0" err="1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P.R.China</a:t>
              </a:r>
              <a:endParaRPr lang="en-US" altLang="zh-CN" sz="1200" dirty="0">
                <a:solidFill>
                  <a:srgbClr val="016AC5"/>
                </a:solidFill>
                <a:latin typeface="Arial" panose="020B0604020202020204" pitchFamily="34" charset="0"/>
                <a:ea typeface="Arial Unicode MS" panose="020B0604020202020204" charset="-122"/>
                <a:sym typeface="+mn-ea"/>
              </a:endParaRPr>
            </a:p>
          </p:txBody>
        </p:sp>
        <p:pic>
          <p:nvPicPr>
            <p:cNvPr id="34" name="图片 33" descr="5653f3e7356a7-0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63" y="7040"/>
              <a:ext cx="717" cy="632"/>
            </a:xfrm>
            <a:prstGeom prst="rect">
              <a:avLst/>
            </a:prstGeom>
          </p:spPr>
        </p:pic>
        <p:pic>
          <p:nvPicPr>
            <p:cNvPr id="35" name="图片 34" descr="5653f3e7356a7-0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63" y="6376"/>
              <a:ext cx="712" cy="627"/>
            </a:xfrm>
            <a:prstGeom prst="rect">
              <a:avLst/>
            </a:prstGeom>
          </p:spPr>
        </p:pic>
      </p:grpSp>
      <p:grpSp>
        <p:nvGrpSpPr>
          <p:cNvPr id="3" name="组合 2"/>
          <p:cNvGrpSpPr/>
          <p:nvPr/>
        </p:nvGrpSpPr>
        <p:grpSpPr>
          <a:xfrm>
            <a:off x="8478203" y="2623185"/>
            <a:ext cx="3121660" cy="3374390"/>
            <a:chOff x="12853" y="4001"/>
            <a:chExt cx="4916" cy="5314"/>
          </a:xfrm>
        </p:grpSpPr>
        <p:sp>
          <p:nvSpPr>
            <p:cNvPr id="37" name="任意多边形 36"/>
            <p:cNvSpPr/>
            <p:nvPr/>
          </p:nvSpPr>
          <p:spPr>
            <a:xfrm>
              <a:off x="12853" y="4001"/>
              <a:ext cx="4577" cy="5314"/>
            </a:xfrm>
            <a:custGeom>
              <a:avLst/>
              <a:gdLst>
                <a:gd name="connsiteX0" fmla="*/ 0 w 4577"/>
                <a:gd name="connsiteY0" fmla="*/ 268 h 4985"/>
                <a:gd name="connsiteX1" fmla="*/ 179 w 4577"/>
                <a:gd name="connsiteY1" fmla="*/ 0 h 4985"/>
                <a:gd name="connsiteX2" fmla="*/ 4398 w 4577"/>
                <a:gd name="connsiteY2" fmla="*/ 0 h 4985"/>
                <a:gd name="connsiteX3" fmla="*/ 4577 w 4577"/>
                <a:gd name="connsiteY3" fmla="*/ 268 h 4985"/>
                <a:gd name="connsiteX4" fmla="*/ 4565 w 4577"/>
                <a:gd name="connsiteY4" fmla="*/ 4734 h 4985"/>
                <a:gd name="connsiteX5" fmla="*/ 4429 w 4577"/>
                <a:gd name="connsiteY5" fmla="*/ 4985 h 4985"/>
                <a:gd name="connsiteX6" fmla="*/ 177 w 4577"/>
                <a:gd name="connsiteY6" fmla="*/ 4982 h 4985"/>
                <a:gd name="connsiteX7" fmla="*/ 10 w 4577"/>
                <a:gd name="connsiteY7" fmla="*/ 4771 h 4985"/>
                <a:gd name="connsiteX8" fmla="*/ 0 w 4577"/>
                <a:gd name="connsiteY8" fmla="*/ 268 h 4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7" h="4985">
                  <a:moveTo>
                    <a:pt x="0" y="268"/>
                  </a:moveTo>
                  <a:cubicBezTo>
                    <a:pt x="0" y="120"/>
                    <a:pt x="80" y="0"/>
                    <a:pt x="179" y="0"/>
                  </a:cubicBezTo>
                  <a:lnTo>
                    <a:pt x="4398" y="0"/>
                  </a:lnTo>
                  <a:cubicBezTo>
                    <a:pt x="4497" y="0"/>
                    <a:pt x="4577" y="120"/>
                    <a:pt x="4577" y="268"/>
                  </a:cubicBezTo>
                  <a:lnTo>
                    <a:pt x="4565" y="4734"/>
                  </a:lnTo>
                  <a:cubicBezTo>
                    <a:pt x="4565" y="4882"/>
                    <a:pt x="4528" y="4985"/>
                    <a:pt x="4429" y="4985"/>
                  </a:cubicBezTo>
                  <a:lnTo>
                    <a:pt x="177" y="4982"/>
                  </a:lnTo>
                  <a:cubicBezTo>
                    <a:pt x="78" y="4982"/>
                    <a:pt x="10" y="4919"/>
                    <a:pt x="10" y="4771"/>
                  </a:cubicBezTo>
                  <a:lnTo>
                    <a:pt x="0" y="268"/>
                  </a:lnTo>
                  <a:close/>
                </a:path>
              </a:pathLst>
            </a:custGeom>
            <a:noFill/>
            <a:ln>
              <a:solidFill>
                <a:srgbClr val="016AC5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9" name="图片 38" descr="5653f3e7356a7-0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944" y="5273"/>
              <a:ext cx="717" cy="632"/>
            </a:xfrm>
            <a:prstGeom prst="rect">
              <a:avLst/>
            </a:prstGeom>
          </p:spPr>
        </p:pic>
        <p:pic>
          <p:nvPicPr>
            <p:cNvPr id="40" name="图片 39" descr="5653f3e7356a7-0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944" y="4609"/>
              <a:ext cx="712" cy="627"/>
            </a:xfrm>
            <a:prstGeom prst="rect">
              <a:avLst/>
            </a:prstGeom>
          </p:spPr>
        </p:pic>
        <p:sp>
          <p:nvSpPr>
            <p:cNvPr id="41" name="文本框 40"/>
            <p:cNvSpPr txBox="1"/>
            <p:nvPr/>
          </p:nvSpPr>
          <p:spPr>
            <a:xfrm>
              <a:off x="12966" y="4178"/>
              <a:ext cx="1464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0070C0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Enquiry </a:t>
              </a: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13543" y="4729"/>
              <a:ext cx="338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jackey.yin@LKautomation.com</a:t>
              </a: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13543" y="5454"/>
              <a:ext cx="2787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+86 186 2171 9367 </a:t>
              </a: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12966" y="5905"/>
              <a:ext cx="111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0070C0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Sales</a:t>
              </a: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13543" y="6496"/>
              <a:ext cx="398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andreas.reymendt@LKautomation.com</a:t>
              </a: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13543" y="7127"/>
              <a:ext cx="2787" cy="4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endParaRPr lang="en-US" altLang="zh-CN" sz="1000" dirty="0">
                <a:solidFill>
                  <a:srgbClr val="016AC5"/>
                </a:solidFill>
                <a:latin typeface="Arial" panose="020B0604020202020204" pitchFamily="34" charset="0"/>
                <a:ea typeface="Arial Unicode MS" panose="020B0604020202020204" charset="-122"/>
                <a:sym typeface="+mn-ea"/>
              </a:endParaRP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12944" y="7670"/>
              <a:ext cx="4825" cy="1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400" b="1" dirty="0">
                  <a:solidFill>
                    <a:srgbClr val="0070C0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Address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000" dirty="0" err="1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Fischerbraeuwiese</a:t>
              </a:r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 18b,83435 Bad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000" dirty="0" err="1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Reichenhall</a:t>
              </a:r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,Bavaria,Germany</a:t>
              </a:r>
              <a:endParaRPr lang="en-US" altLang="zh-CN" sz="1200" dirty="0">
                <a:solidFill>
                  <a:srgbClr val="016AC5"/>
                </a:solidFill>
                <a:latin typeface="Arial" panose="020B0604020202020204" pitchFamily="34" charset="0"/>
                <a:ea typeface="Arial Unicode MS" panose="020B0604020202020204" charset="-122"/>
                <a:sym typeface="+mn-ea"/>
              </a:endParaRPr>
            </a:p>
          </p:txBody>
        </p:sp>
        <p:pic>
          <p:nvPicPr>
            <p:cNvPr id="48" name="图片 47" descr="5653f3e7356a7-0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944" y="7040"/>
              <a:ext cx="717" cy="632"/>
            </a:xfrm>
            <a:prstGeom prst="rect">
              <a:avLst/>
            </a:prstGeom>
          </p:spPr>
        </p:pic>
        <p:pic>
          <p:nvPicPr>
            <p:cNvPr id="49" name="图片 48" descr="5653f3e7356a7-0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944" y="6376"/>
              <a:ext cx="712" cy="62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12695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6267</TotalTime>
  <Words>250</Words>
  <Application>Microsoft Office PowerPoint</Application>
  <PresentationFormat>Widescreen</PresentationFormat>
  <Paragraphs>63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微软雅黑</vt:lpstr>
      <vt:lpstr>宋体</vt:lpstr>
      <vt:lpstr>Arial</vt:lpstr>
      <vt:lpstr>Arial MT Std</vt:lpstr>
      <vt:lpstr>Arial Unicode MS</vt:lpstr>
      <vt:lpstr>Arial-BoldMT</vt:lpstr>
      <vt:lpstr>ArialMT</vt:lpstr>
      <vt:lpstr>Calibri</vt:lpstr>
      <vt:lpstr>Calibri Light</vt:lpstr>
      <vt:lpstr>Times New Roman</vt:lpstr>
      <vt:lpstr>Office 主题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Sean Ma</dc:creator>
  <cp:lastModifiedBy>lâm phạm</cp:lastModifiedBy>
  <cp:revision>362</cp:revision>
  <dcterms:created xsi:type="dcterms:W3CDTF">2018-08-09T02:12:30Z</dcterms:created>
  <dcterms:modified xsi:type="dcterms:W3CDTF">2026-04-02T14:21:55Z</dcterms:modified>
</cp:coreProperties>
</file>