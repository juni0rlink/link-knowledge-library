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6768" autoAdjust="0"/>
  </p:normalViewPr>
  <p:slideViewPr>
    <p:cSldViewPr snapToGrid="0">
      <p:cViewPr varScale="1">
        <p:scale>
          <a:sx n="110" d="100"/>
          <a:sy n="110" d="100"/>
        </p:scale>
        <p:origin x="61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9BC47-F8BA-4390-A7BD-1C273A7606B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30944-E3CD-41B0-963A-3183A7CD1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9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9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19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8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3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9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9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5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89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幻灯片">
    <p:bg>
      <p:bgPr>
        <a:blipFill rotWithShape="1">
          <a:blip r:embed="rId2">
            <a:alphaModFix amt="90000"/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4077" y="6431923"/>
            <a:ext cx="1143166" cy="365125"/>
          </a:xfrm>
        </p:spPr>
        <p:txBody>
          <a:bodyPr/>
          <a:lstStyle/>
          <a:p>
            <a:fld id="{B61BEF0D-F0BB-DE4B-95CE-6DB70DBA9567}" type="datetimeFigureOut">
              <a:rPr lang="en-US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63199" y="6431923"/>
            <a:ext cx="4324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3459" y="6431923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-3810" y="-16510"/>
            <a:ext cx="12223682" cy="689991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2000">
                <a:schemeClr val="bg1"/>
              </a:gs>
              <a:gs pos="69000">
                <a:schemeClr val="bg1">
                  <a:lumMod val="95000"/>
                </a:schemeClr>
              </a:gs>
              <a:gs pos="92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LINK  PPT1010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810" y="-16510"/>
            <a:ext cx="12224317" cy="7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215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7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6">
            <a:extLst>
              <a:ext uri="{FF2B5EF4-FFF2-40B4-BE49-F238E27FC236}">
                <a16:creationId xmlns:a16="http://schemas.microsoft.com/office/drawing/2014/main" id="{2AD7A79E-3956-2609-3AA6-7B94082105B5}"/>
              </a:ext>
            </a:extLst>
          </p:cNvPr>
          <p:cNvGrpSpPr/>
          <p:nvPr/>
        </p:nvGrpSpPr>
        <p:grpSpPr>
          <a:xfrm>
            <a:off x="10205368" y="-55880"/>
            <a:ext cx="1775460" cy="821055"/>
            <a:chOff x="13535" y="1423"/>
            <a:chExt cx="2796" cy="1293"/>
          </a:xfrm>
        </p:grpSpPr>
        <p:sp>
          <p:nvSpPr>
            <p:cNvPr id="9" name="文本框 7">
              <a:extLst>
                <a:ext uri="{FF2B5EF4-FFF2-40B4-BE49-F238E27FC236}">
                  <a16:creationId xmlns:a16="http://schemas.microsoft.com/office/drawing/2014/main" id="{72915727-257D-BCD0-3342-8C116E778522}"/>
                </a:ext>
              </a:extLst>
            </p:cNvPr>
            <p:cNvSpPr txBox="1"/>
            <p:nvPr/>
          </p:nvSpPr>
          <p:spPr>
            <a:xfrm>
              <a:off x="13535" y="1423"/>
              <a:ext cx="279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44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10" name="文本框 8">
              <a:extLst>
                <a:ext uri="{FF2B5EF4-FFF2-40B4-BE49-F238E27FC236}">
                  <a16:creationId xmlns:a16="http://schemas.microsoft.com/office/drawing/2014/main" id="{964CF148-E6C0-5CA8-B3BE-51F6A57827AE}"/>
                </a:ext>
              </a:extLst>
            </p:cNvPr>
            <p:cNvSpPr txBox="1"/>
            <p:nvPr/>
          </p:nvSpPr>
          <p:spPr>
            <a:xfrm>
              <a:off x="15140" y="2354"/>
              <a:ext cx="1176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900" b="1" i="1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grpSp>
        <p:nvGrpSpPr>
          <p:cNvPr id="27" name="组合 31">
            <a:extLst>
              <a:ext uri="{FF2B5EF4-FFF2-40B4-BE49-F238E27FC236}">
                <a16:creationId xmlns:a16="http://schemas.microsoft.com/office/drawing/2014/main" id="{2190E015-DB5E-AE8E-FE33-E246ECEE0E1A}"/>
              </a:ext>
            </a:extLst>
          </p:cNvPr>
          <p:cNvGrpSpPr/>
          <p:nvPr/>
        </p:nvGrpSpPr>
        <p:grpSpPr>
          <a:xfrm>
            <a:off x="1596157" y="1419249"/>
            <a:ext cx="1927860" cy="902970"/>
            <a:chOff x="13535" y="1423"/>
            <a:chExt cx="3036" cy="1422"/>
          </a:xfrm>
        </p:grpSpPr>
        <p:sp>
          <p:nvSpPr>
            <p:cNvPr id="28" name="文本框 32">
              <a:extLst>
                <a:ext uri="{FF2B5EF4-FFF2-40B4-BE49-F238E27FC236}">
                  <a16:creationId xmlns:a16="http://schemas.microsoft.com/office/drawing/2014/main" id="{85F00CBA-A2CF-1541-9C7D-40CE764CA600}"/>
                </a:ext>
              </a:extLst>
            </p:cNvPr>
            <p:cNvSpPr txBox="1"/>
            <p:nvPr/>
          </p:nvSpPr>
          <p:spPr>
            <a:xfrm>
              <a:off x="13535" y="1423"/>
              <a:ext cx="2796" cy="13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5000" b="1" i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29" name="文本框 33">
              <a:extLst>
                <a:ext uri="{FF2B5EF4-FFF2-40B4-BE49-F238E27FC236}">
                  <a16:creationId xmlns:a16="http://schemas.microsoft.com/office/drawing/2014/main" id="{0E06C5C1-C151-3C3E-AFC5-8D21E3C3F4A8}"/>
                </a:ext>
              </a:extLst>
            </p:cNvPr>
            <p:cNvSpPr txBox="1"/>
            <p:nvPr/>
          </p:nvSpPr>
          <p:spPr>
            <a:xfrm>
              <a:off x="15395" y="2459"/>
              <a:ext cx="1176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1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30" name="文本框 36">
            <a:extLst>
              <a:ext uri="{FF2B5EF4-FFF2-40B4-BE49-F238E27FC236}">
                <a16:creationId xmlns:a16="http://schemas.microsoft.com/office/drawing/2014/main" id="{00ED4894-E9E2-5E0D-1B93-C5AD5A69823E}"/>
              </a:ext>
            </a:extLst>
          </p:cNvPr>
          <p:cNvSpPr txBox="1"/>
          <p:nvPr/>
        </p:nvSpPr>
        <p:spPr>
          <a:xfrm>
            <a:off x="3371617" y="1522000"/>
            <a:ext cx="72331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Automation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Engineering (Shanghai) Co.,Ltd.</a:t>
            </a:r>
            <a:endParaRPr lang="en-US" altLang="zh-CN" sz="2400" b="1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338B2-489E-06D0-1CF6-7F252DF35561}"/>
              </a:ext>
            </a:extLst>
          </p:cNvPr>
          <p:cNvSpPr txBox="1"/>
          <p:nvPr/>
        </p:nvSpPr>
        <p:spPr>
          <a:xfrm>
            <a:off x="3855563" y="2598003"/>
            <a:ext cx="5279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Record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0B78A-F9D9-CC1E-DF26-4EBEE49CF820}"/>
              </a:ext>
            </a:extLst>
          </p:cNvPr>
          <p:cNvSpPr txBox="1"/>
          <p:nvPr/>
        </p:nvSpPr>
        <p:spPr>
          <a:xfrm>
            <a:off x="961533" y="3997173"/>
            <a:ext cx="7118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Pham Tung Lam : PLC Engineer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D5CBD6-A833-235F-EBF8-D11E311EF2FD}"/>
              </a:ext>
            </a:extLst>
          </p:cNvPr>
          <p:cNvSpPr txBox="1"/>
          <p:nvPr/>
        </p:nvSpPr>
        <p:spPr>
          <a:xfrm>
            <a:off x="961533" y="4500168"/>
            <a:ext cx="574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structure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35">
            <a:extLst>
              <a:ext uri="{FF2B5EF4-FFF2-40B4-BE49-F238E27FC236}">
                <a16:creationId xmlns:a16="http://schemas.microsoft.com/office/drawing/2014/main" id="{6DAD7C5F-860F-3E5D-B8BB-1C252A8FF164}"/>
              </a:ext>
            </a:extLst>
          </p:cNvPr>
          <p:cNvSpPr txBox="1"/>
          <p:nvPr/>
        </p:nvSpPr>
        <p:spPr>
          <a:xfrm>
            <a:off x="7184266" y="1980561"/>
            <a:ext cx="3243565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霖和自动化工程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有限公司</a:t>
            </a:r>
          </a:p>
        </p:txBody>
      </p:sp>
    </p:spTree>
    <p:extLst>
      <p:ext uri="{BB962C8B-B14F-4D97-AF65-F5344CB8AC3E}">
        <p14:creationId xmlns:p14="http://schemas.microsoft.com/office/powerpoint/2010/main" val="282246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578" y="1265779"/>
            <a:ext cx="9185881" cy="559222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590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latin typeface="ArialMT"/>
              </a:rPr>
              <a:t>SOFTWARE STRUCTURE - ORGANIZATION</a:t>
            </a:r>
            <a:r>
              <a:rPr lang="en-US" b="1"/>
              <a:t> 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4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52549" y="98094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latin typeface="ArialMT"/>
              </a:rPr>
              <a:t>SOFTWARE STRUCTURE – SOFTWARE SETUP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52549" y="1387402"/>
            <a:ext cx="974489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The basic idea of the program structure of the GSC standard is to map the system structure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using the identification system.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Areas with a common operating mode are formed based on the levels in the identification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system, which are also made dependent on faults in the corresponding level in the call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structure of the TIA project.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76" y="3017807"/>
            <a:ext cx="2591162" cy="36962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60213" y="3411694"/>
            <a:ext cx="79606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So there is the superimposed station ++ST000. Disturbances at this level affect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overall operating mode of the PLC. Faults in lower levels, such as in the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++ST010, only affect the operating mode area of the ++ST010.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concept of fault inheritance is also reflected for the selection of the areas on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HMI for manual operation.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1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52846" y="9896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latin typeface="ArialMT"/>
              </a:rPr>
              <a:t>GROUPING OF COMPONENTS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2846" y="1312817"/>
            <a:ext cx="107899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latin typeface="ArialMT"/>
              </a:rPr>
              <a:t>The </a:t>
            </a:r>
            <a:r>
              <a:rPr lang="en-US">
                <a:solidFill>
                  <a:srgbClr val="000000"/>
                </a:solidFill>
                <a:latin typeface="ArialMT"/>
              </a:rPr>
              <a:t>software is structured via the station.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In addition to this naming and structural grouping, there is also a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summary of the grouping regarding the operation of the components of a station :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A station can be completely selected and operated in the HMI!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03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17714" y="94610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latin typeface="ArialMT"/>
              </a:rPr>
              <a:t>MANAGEMENT OF THE OPERATING MODES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17714" y="1424749"/>
            <a:ext cx="823830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Each component with an operating mode has its own DB (MDB) for managing its specific data.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MODE substructure manages all data relevant to the subject of operating modes 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IN / OUT area :</a:t>
            </a:r>
            <a:br>
              <a:rPr lang="en-US" b="1">
                <a:solidFill>
                  <a:srgbClr val="000000"/>
                </a:solidFill>
                <a:latin typeface="Arial-Bold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Is intended for the communication of the component to its subordinate blocks.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communication is intended exclusively for standard blocks 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ONLY the OUT area may also be read in the user program.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9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40" y="1402080"/>
            <a:ext cx="9403468" cy="53949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0629" y="783159"/>
            <a:ext cx="117478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Each component with an operating mode has its own DB (MDB) for managing its specific data.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MODE substructure manages all data relevant to the subject of operating modes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949" y="1329015"/>
            <a:ext cx="7702143" cy="503818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22515" y="97391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The operating mode DB (MDB) is already parameterized on the component block and then routed to the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individual internally called blocks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80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0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4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85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73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2624" y="1099185"/>
            <a:ext cx="298640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L</a:t>
            </a:r>
            <a:r>
              <a:rPr lang="en-US" altLang="zh-CN" b="1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NK</a:t>
            </a:r>
            <a:r>
              <a:rPr lang="en-US" altLang="zh-CN" b="1" dirty="0">
                <a:latin typeface="Arial MT Std" panose="020B0802020202020204" charset="0"/>
                <a:ea typeface="Arial Unicode MS" panose="020B0604020202020204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Group Headquarter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Shanghai, China 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pic>
        <p:nvPicPr>
          <p:cNvPr id="71" name="图片 70" descr="LINK封面1改1111"/>
          <p:cNvPicPr>
            <a:picLocks noChangeAspect="1"/>
          </p:cNvPicPr>
          <p:nvPr/>
        </p:nvPicPr>
        <p:blipFill>
          <a:blip r:embed="rId2"/>
          <a:srcRect l="70401" t="12295" r="11041" b="71499"/>
          <a:stretch>
            <a:fillRect/>
          </a:stretch>
        </p:blipFill>
        <p:spPr>
          <a:xfrm>
            <a:off x="10258425" y="73025"/>
            <a:ext cx="1493520" cy="7340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7058" y="238760"/>
            <a:ext cx="179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1"/>
                </a:solidFill>
                <a:uFillTx/>
                <a:latin typeface="Arial MT Std" panose="020B0802020202020204" charset="0"/>
                <a:ea typeface="Arial Unicode MS" panose="020B0604020202020204" charset="-122"/>
                <a:sym typeface="+mn-ea"/>
              </a:rPr>
              <a:t>C</a:t>
            </a:r>
            <a:r>
              <a:rPr lang="en-US" altLang="zh-CN" sz="2400" b="1" dirty="0">
                <a:solidFill>
                  <a:schemeClr val="bg1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ontact Us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852805" y="2623185"/>
            <a:ext cx="2970530" cy="3374390"/>
            <a:chOff x="913" y="4001"/>
            <a:chExt cx="4678" cy="5314"/>
          </a:xfrm>
        </p:grpSpPr>
        <p:sp>
          <p:nvSpPr>
            <p:cNvPr id="9" name="任意多边形 8"/>
            <p:cNvSpPr/>
            <p:nvPr/>
          </p:nvSpPr>
          <p:spPr>
            <a:xfrm>
              <a:off x="91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5273"/>
              <a:ext cx="717" cy="632"/>
            </a:xfrm>
            <a:prstGeom prst="rect">
              <a:avLst/>
            </a:prstGeom>
          </p:spPr>
        </p:pic>
        <p:pic>
          <p:nvPicPr>
            <p:cNvPr id="8" name="图片 7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4609"/>
              <a:ext cx="712" cy="627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02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60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ying.liu@LKautomation.com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0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2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0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03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04" y="7670"/>
              <a:ext cx="4486" cy="1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BLDG #D,North 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Jiasong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Road No.3570 Jiading District,Shanghai,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r>
                <a:rPr lang="en-US" altLang="zh-CN" sz="12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</a:t>
              </a:r>
            </a:p>
            <a:p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11" name="图片 10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7040"/>
              <a:ext cx="717" cy="632"/>
            </a:xfrm>
            <a:prstGeom prst="rect">
              <a:avLst/>
            </a:prstGeom>
          </p:spPr>
        </p:pic>
        <p:pic>
          <p:nvPicPr>
            <p:cNvPr id="13" name="图片 12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6376"/>
              <a:ext cx="712" cy="627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3904932" y="1099185"/>
            <a:ext cx="437007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NK</a:t>
            </a:r>
            <a:r>
              <a:rPr lang="en-US" altLang="zh-CN" b="1" kern="600" dirty="0">
                <a:latin typeface="Arial MT Std" panose="020B0802020202020204" charset="0"/>
                <a:ea typeface="Arial Unicode MS" panose="020B0604020202020204" charset="-122"/>
                <a:sym typeface="+mn-ea"/>
              </a:rPr>
              <a:t> 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Group North China</a:t>
            </a:r>
          </a:p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Shenyang, China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885112" y="1113479"/>
            <a:ext cx="4092575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K Group Europe</a:t>
            </a:r>
            <a:b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</a:b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(LKGG GmbH)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Bad Reichenhall, Germany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652583" y="6489708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14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690746" y="2623185"/>
            <a:ext cx="2970530" cy="3374390"/>
            <a:chOff x="6872" y="4001"/>
            <a:chExt cx="4678" cy="5314"/>
          </a:xfrm>
        </p:grpSpPr>
        <p:sp>
          <p:nvSpPr>
            <p:cNvPr id="18" name="任意多边形 17"/>
            <p:cNvSpPr/>
            <p:nvPr/>
          </p:nvSpPr>
          <p:spPr>
            <a:xfrm>
              <a:off x="6872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5273"/>
              <a:ext cx="717" cy="632"/>
            </a:xfrm>
            <a:prstGeom prst="rect">
              <a:avLst/>
            </a:prstGeom>
          </p:spPr>
        </p:pic>
        <p:pic>
          <p:nvPicPr>
            <p:cNvPr id="26" name="图片 25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4609"/>
              <a:ext cx="712" cy="627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6985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562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kimi.wang@LKautomation.com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562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85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562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562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63" y="7670"/>
              <a:ext cx="4233" cy="1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NO. 14 22nd Floor,NO.168-3 Harbin Road,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Shenhe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District,Shenyang,Liaoning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Province,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34" name="图片 33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7040"/>
              <a:ext cx="717" cy="632"/>
            </a:xfrm>
            <a:prstGeom prst="rect">
              <a:avLst/>
            </a:prstGeom>
          </p:spPr>
        </p:pic>
        <p:pic>
          <p:nvPicPr>
            <p:cNvPr id="35" name="图片 34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6376"/>
              <a:ext cx="712" cy="62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8478203" y="2623185"/>
            <a:ext cx="3121660" cy="3374390"/>
            <a:chOff x="12853" y="4001"/>
            <a:chExt cx="4916" cy="5314"/>
          </a:xfrm>
        </p:grpSpPr>
        <p:sp>
          <p:nvSpPr>
            <p:cNvPr id="37" name="任意多边形 36"/>
            <p:cNvSpPr/>
            <p:nvPr/>
          </p:nvSpPr>
          <p:spPr>
            <a:xfrm>
              <a:off x="1285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5273"/>
              <a:ext cx="717" cy="632"/>
            </a:xfrm>
            <a:prstGeom prst="rect">
              <a:avLst/>
            </a:prstGeom>
          </p:spPr>
        </p:pic>
        <p:pic>
          <p:nvPicPr>
            <p:cNvPr id="40" name="图片 39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4609"/>
              <a:ext cx="712" cy="627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1296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54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jackey.yin@LKautomation.com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354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+86 186 2171 9367 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296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354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andreas.reymendt@LKautomation.com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43" y="7127"/>
              <a:ext cx="2787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0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2944" y="7670"/>
              <a:ext cx="4825" cy="1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Fischerbraeuwiese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18b,83435 Bad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Reichenhall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,Bavaria,Germany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48" name="图片 47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7040"/>
              <a:ext cx="717" cy="632"/>
            </a:xfrm>
            <a:prstGeom prst="rect">
              <a:avLst/>
            </a:prstGeom>
          </p:spPr>
        </p:pic>
        <p:pic>
          <p:nvPicPr>
            <p:cNvPr id="49" name="图片 48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6376"/>
              <a:ext cx="712" cy="6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269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6263</TotalTime>
  <Words>246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微软雅黑</vt:lpstr>
      <vt:lpstr>宋体</vt:lpstr>
      <vt:lpstr>Arial</vt:lpstr>
      <vt:lpstr>Arial MT Std</vt:lpstr>
      <vt:lpstr>Arial Unicode MS</vt:lpstr>
      <vt:lpstr>Arial-BoldMT</vt:lpstr>
      <vt:lpstr>ArialMT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Sean Ma</dc:creator>
  <cp:lastModifiedBy>lâm phạm</cp:lastModifiedBy>
  <cp:revision>360</cp:revision>
  <dcterms:created xsi:type="dcterms:W3CDTF">2018-08-09T02:12:30Z</dcterms:created>
  <dcterms:modified xsi:type="dcterms:W3CDTF">2026-04-02T14:09:08Z</dcterms:modified>
</cp:coreProperties>
</file>