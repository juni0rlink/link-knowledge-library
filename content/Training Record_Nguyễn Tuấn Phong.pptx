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92" r:id="rId3"/>
    <p:sldId id="294" r:id="rId4"/>
    <p:sldId id="293" r:id="rId5"/>
    <p:sldId id="295" r:id="rId6"/>
    <p:sldId id="296" r:id="rId7"/>
    <p:sldId id="297" r:id="rId8"/>
    <p:sldId id="298" r:id="rId9"/>
    <p:sldId id="299" r:id="rId10"/>
    <p:sldId id="300" r:id="rId11"/>
    <p:sldId id="301" r:id="rId12"/>
    <p:sldId id="302" r:id="rId13"/>
    <p:sldId id="25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868" autoAdjust="0"/>
    <p:restoredTop sz="96768" autoAdjust="0"/>
  </p:normalViewPr>
  <p:slideViewPr>
    <p:cSldViewPr snapToGrid="0">
      <p:cViewPr varScale="1">
        <p:scale>
          <a:sx n="53" d="100"/>
          <a:sy n="53" d="100"/>
        </p:scale>
        <p:origin x="725"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B9BC47-F8BA-4390-A7BD-1C273A7606B5}" type="datetimeFigureOut">
              <a:rPr lang="en-US" smtClean="0"/>
              <a:t>5/10/2024</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D30944-E3CD-41B0-963A-3183A7CD1065}" type="slidenum">
              <a:rPr lang="en-US" smtClean="0"/>
              <a:t>‹#›</a:t>
            </a:fld>
            <a:endParaRPr lang="en-US"/>
          </a:p>
        </p:txBody>
      </p:sp>
    </p:spTree>
    <p:extLst>
      <p:ext uri="{BB962C8B-B14F-4D97-AF65-F5344CB8AC3E}">
        <p14:creationId xmlns:p14="http://schemas.microsoft.com/office/powerpoint/2010/main" val="1884197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p:cNvSpPr>
            <a:spLocks noGrp="1"/>
          </p:cNvSpPr>
          <p:nvPr>
            <p:ph type="dt" sz="half" idx="10"/>
          </p:nvPr>
        </p:nvSpPr>
        <p:spPr/>
        <p:txBody>
          <a:bodyPr/>
          <a:lstStyle/>
          <a:p>
            <a:fld id="{FF24B26F-F2E0-4F53-981B-BB84DEAAB2C5}" type="datetimeFigureOut">
              <a:rPr lang="en-US" smtClean="0"/>
              <a:t>5/10/2024</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2462775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p:txBody>
          <a:bodyPr/>
          <a:lstStyle/>
          <a:p>
            <a:fld id="{FF24B26F-F2E0-4F53-981B-BB84DEAAB2C5}" type="datetimeFigureOut">
              <a:rPr lang="en-US" smtClean="0"/>
              <a:t>5/10/2024</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2468197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F24B26F-F2E0-4F53-981B-BB84DEAAB2C5}" type="datetimeFigureOut">
              <a:rPr lang="en-US" smtClean="0"/>
              <a:t>5/10/2024</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958719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p:cNvSpPr>
            <a:spLocks noGrp="1"/>
          </p:cNvSpPr>
          <p:nvPr>
            <p:ph type="dt" sz="half" idx="10"/>
          </p:nvPr>
        </p:nvSpPr>
        <p:spPr/>
        <p:txBody>
          <a:bodyPr/>
          <a:lstStyle/>
          <a:p>
            <a:fld id="{FF24B26F-F2E0-4F53-981B-BB84DEAAB2C5}" type="datetimeFigureOut">
              <a:rPr lang="en-US" smtClean="0"/>
              <a:t>5/10/2024</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4012089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6"/>
          <p:cNvSpPr>
            <a:spLocks noGrp="1"/>
          </p:cNvSpPr>
          <p:nvPr>
            <p:ph type="dt" sz="half" idx="10"/>
          </p:nvPr>
        </p:nvSpPr>
        <p:spPr/>
        <p:txBody>
          <a:bodyPr/>
          <a:lstStyle/>
          <a:p>
            <a:fld id="{FF24B26F-F2E0-4F53-981B-BB84DEAAB2C5}" type="datetimeFigureOut">
              <a:rPr lang="en-US" smtClean="0"/>
              <a:t>5/10/2024</a:t>
            </a:fld>
            <a:endParaRPr lang="en-US"/>
          </a:p>
        </p:txBody>
      </p:sp>
      <p:sp>
        <p:nvSpPr>
          <p:cNvPr id="8" name="页脚占位符 7"/>
          <p:cNvSpPr>
            <a:spLocks noGrp="1"/>
          </p:cNvSpPr>
          <p:nvPr>
            <p:ph type="ftr" sz="quarter" idx="11"/>
          </p:nvPr>
        </p:nvSpPr>
        <p:spPr/>
        <p:txBody>
          <a:bodyPr/>
          <a:lstStyle/>
          <a:p>
            <a:endParaRPr lang="en-US"/>
          </a:p>
        </p:txBody>
      </p:sp>
      <p:sp>
        <p:nvSpPr>
          <p:cNvPr id="9" name="灯片编号占位符 8"/>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1241031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lstStyle/>
          <a:p>
            <a:fld id="{FF24B26F-F2E0-4F53-981B-BB84DEAAB2C5}" type="datetimeFigureOut">
              <a:rPr lang="en-US" smtClean="0"/>
              <a:t>5/10/2024</a:t>
            </a:fld>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2903588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F24B26F-F2E0-4F53-981B-BB84DEAAB2C5}" type="datetimeFigureOut">
              <a:rPr lang="en-US" smtClean="0"/>
              <a:t>5/10/2024</a:t>
            </a:fld>
            <a:endParaRPr lang="en-US"/>
          </a:p>
        </p:txBody>
      </p:sp>
      <p:sp>
        <p:nvSpPr>
          <p:cNvPr id="3" name="页脚占位符 2"/>
          <p:cNvSpPr>
            <a:spLocks noGrp="1"/>
          </p:cNvSpPr>
          <p:nvPr>
            <p:ph type="ftr" sz="quarter" idx="11"/>
          </p:nvPr>
        </p:nvSpPr>
        <p:spPr/>
        <p:txBody>
          <a:bodyPr/>
          <a:lstStyle/>
          <a:p>
            <a:endParaRPr lang="en-US"/>
          </a:p>
        </p:txBody>
      </p:sp>
      <p:sp>
        <p:nvSpPr>
          <p:cNvPr id="4" name="灯片编号占位符 3"/>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2808877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F24B26F-F2E0-4F53-981B-BB84DEAAB2C5}" type="datetimeFigureOut">
              <a:rPr lang="en-US" smtClean="0"/>
              <a:t>5/10/2024</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3825197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F24B26F-F2E0-4F53-981B-BB84DEAAB2C5}" type="datetimeFigureOut">
              <a:rPr lang="en-US" smtClean="0"/>
              <a:t>5/10/2024</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4147193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p:txBody>
          <a:bodyPr/>
          <a:lstStyle/>
          <a:p>
            <a:fld id="{FF24B26F-F2E0-4F53-981B-BB84DEAAB2C5}" type="datetimeFigureOut">
              <a:rPr lang="en-US" smtClean="0"/>
              <a:t>5/10/2024</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1242752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p:txBody>
          <a:bodyPr/>
          <a:lstStyle/>
          <a:p>
            <a:fld id="{FF24B26F-F2E0-4F53-981B-BB84DEAAB2C5}" type="datetimeFigureOut">
              <a:rPr lang="en-US" smtClean="0"/>
              <a:t>5/10/2024</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36633895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9_标题幻灯片">
    <p:bg>
      <p:bgPr>
        <a:blipFill rotWithShape="1">
          <a:blip r:embed="rId2">
            <a:alphaModFix amt="90000"/>
            <a:duotone>
              <a:schemeClr val="phClr">
                <a:shade val="76000"/>
                <a:satMod val="180000"/>
              </a:schemeClr>
              <a:schemeClr val="phClr">
                <a:tint val="80000"/>
                <a:satMod val="120000"/>
                <a:lumMod val="180000"/>
              </a:schemeClr>
            </a:duotone>
          </a:blip>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0364077" y="6431923"/>
            <a:ext cx="1143166" cy="365125"/>
          </a:xfrm>
        </p:spPr>
        <p:txBody>
          <a:bodyPr/>
          <a:lstStyle/>
          <a:p>
            <a:fld id="{B61BEF0D-F0BB-DE4B-95CE-6DB70DBA9567}" type="datetimeFigureOut">
              <a:rPr lang="en-US" dirty="0"/>
              <a:t>5/10/2024</a:t>
            </a:fld>
            <a:endParaRPr lang="en-US" dirty="0"/>
          </a:p>
        </p:txBody>
      </p:sp>
      <p:sp>
        <p:nvSpPr>
          <p:cNvPr id="5" name="Footer Placeholder 4"/>
          <p:cNvSpPr>
            <a:spLocks noGrp="1"/>
          </p:cNvSpPr>
          <p:nvPr>
            <p:ph type="ftr" sz="quarter" idx="11"/>
          </p:nvPr>
        </p:nvSpPr>
        <p:spPr>
          <a:xfrm>
            <a:off x="5963199" y="6431923"/>
            <a:ext cx="4324671" cy="365125"/>
          </a:xfrm>
        </p:spPr>
        <p:txBody>
          <a:bodyPr/>
          <a:lstStyle/>
          <a:p>
            <a:endParaRPr lang="en-US" dirty="0"/>
          </a:p>
        </p:txBody>
      </p:sp>
      <p:sp>
        <p:nvSpPr>
          <p:cNvPr id="6" name="Slide Number Placeholder 5"/>
          <p:cNvSpPr>
            <a:spLocks noGrp="1"/>
          </p:cNvSpPr>
          <p:nvPr>
            <p:ph type="sldNum" sz="quarter" idx="12"/>
          </p:nvPr>
        </p:nvSpPr>
        <p:spPr>
          <a:xfrm>
            <a:off x="11583459" y="6431923"/>
            <a:ext cx="551247" cy="365125"/>
          </a:xfrm>
        </p:spPr>
        <p:txBody>
          <a:bodyPr/>
          <a:lstStyle/>
          <a:p>
            <a:fld id="{D57F1E4F-1CFF-5643-939E-217C01CDF565}" type="slidenum">
              <a:rPr lang="en-US" dirty="0"/>
              <a:t>‹#›</a:t>
            </a:fld>
            <a:endParaRPr lang="en-US" dirty="0"/>
          </a:p>
        </p:txBody>
      </p:sp>
      <p:sp>
        <p:nvSpPr>
          <p:cNvPr id="7" name="矩形 6"/>
          <p:cNvSpPr/>
          <p:nvPr userDrawn="1"/>
        </p:nvSpPr>
        <p:spPr>
          <a:xfrm>
            <a:off x="-3810" y="-16510"/>
            <a:ext cx="12223682" cy="6899910"/>
          </a:xfrm>
          <a:prstGeom prst="rect">
            <a:avLst/>
          </a:prstGeom>
          <a:gradFill>
            <a:gsLst>
              <a:gs pos="0">
                <a:schemeClr val="bg1">
                  <a:lumMod val="95000"/>
                </a:schemeClr>
              </a:gs>
              <a:gs pos="42000">
                <a:schemeClr val="bg1"/>
              </a:gs>
              <a:gs pos="69000">
                <a:schemeClr val="bg1">
                  <a:lumMod val="95000"/>
                </a:schemeClr>
              </a:gs>
              <a:gs pos="92000">
                <a:schemeClr val="bg1">
                  <a:lumMod val="9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LINK  PPT1010-05"/>
          <p:cNvPicPr>
            <a:picLocks noChangeAspect="1"/>
          </p:cNvPicPr>
          <p:nvPr userDrawn="1"/>
        </p:nvPicPr>
        <p:blipFill>
          <a:blip r:embed="rId3"/>
          <a:stretch>
            <a:fillRect/>
          </a:stretch>
        </p:blipFill>
        <p:spPr>
          <a:xfrm>
            <a:off x="-3810" y="-16510"/>
            <a:ext cx="12224317" cy="794385"/>
          </a:xfrm>
          <a:prstGeom prst="rect">
            <a:avLst/>
          </a:prstGeom>
        </p:spPr>
      </p:pic>
    </p:spTree>
    <p:extLst>
      <p:ext uri="{BB962C8B-B14F-4D97-AF65-F5344CB8AC3E}">
        <p14:creationId xmlns:p14="http://schemas.microsoft.com/office/powerpoint/2010/main" val="198282156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7_标题幻灯片">
    <p:bg>
      <p:bgPr>
        <a:blipFill rotWithShape="1">
          <a:blip r:embed="rId2">
            <a:alphaModFix amt="90000"/>
            <a:duotone>
              <a:schemeClr val="phClr">
                <a:shade val="76000"/>
                <a:satMod val="180000"/>
              </a:schemeClr>
              <a:schemeClr val="phClr">
                <a:tint val="80000"/>
                <a:satMod val="120000"/>
                <a:lumMod val="180000"/>
              </a:schemeClr>
            </a:duotone>
          </a:blip>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0364077" y="6431923"/>
            <a:ext cx="1143166" cy="365125"/>
          </a:xfrm>
        </p:spPr>
        <p:txBody>
          <a:bodyPr/>
          <a:lstStyle/>
          <a:p>
            <a:fld id="{B61BEF0D-F0BB-DE4B-95CE-6DB70DBA9567}" type="datetimeFigureOut">
              <a:rPr lang="en-US" dirty="0"/>
              <a:t>5/10/2024</a:t>
            </a:fld>
            <a:endParaRPr lang="en-US" dirty="0"/>
          </a:p>
        </p:txBody>
      </p:sp>
      <p:sp>
        <p:nvSpPr>
          <p:cNvPr id="5" name="Footer Placeholder 4"/>
          <p:cNvSpPr>
            <a:spLocks noGrp="1"/>
          </p:cNvSpPr>
          <p:nvPr>
            <p:ph type="ftr" sz="quarter" idx="11"/>
          </p:nvPr>
        </p:nvSpPr>
        <p:spPr>
          <a:xfrm>
            <a:off x="5963199" y="6431923"/>
            <a:ext cx="4324671" cy="365125"/>
          </a:xfrm>
        </p:spPr>
        <p:txBody>
          <a:bodyPr/>
          <a:lstStyle/>
          <a:p>
            <a:endParaRPr lang="en-US" dirty="0"/>
          </a:p>
        </p:txBody>
      </p:sp>
      <p:sp>
        <p:nvSpPr>
          <p:cNvPr id="6" name="Slide Number Placeholder 5"/>
          <p:cNvSpPr>
            <a:spLocks noGrp="1"/>
          </p:cNvSpPr>
          <p:nvPr>
            <p:ph type="sldNum" sz="quarter" idx="12"/>
          </p:nvPr>
        </p:nvSpPr>
        <p:spPr>
          <a:xfrm>
            <a:off x="11583459" y="6431923"/>
            <a:ext cx="551247" cy="365125"/>
          </a:xfrm>
        </p:spPr>
        <p:txBody>
          <a:bodyPr/>
          <a:lstStyle/>
          <a:p>
            <a:fld id="{D57F1E4F-1CFF-5643-939E-217C01CDF565}" type="slidenum">
              <a:rPr lang="en-US" dirty="0"/>
              <a:t>‹#›</a:t>
            </a:fld>
            <a:endParaRPr lang="en-US" dirty="0"/>
          </a:p>
        </p:txBody>
      </p:sp>
      <p:sp>
        <p:nvSpPr>
          <p:cNvPr id="7" name="矩形 6"/>
          <p:cNvSpPr/>
          <p:nvPr userDrawn="1"/>
        </p:nvSpPr>
        <p:spPr>
          <a:xfrm>
            <a:off x="-3810" y="-16510"/>
            <a:ext cx="12223682" cy="6899910"/>
          </a:xfrm>
          <a:prstGeom prst="rect">
            <a:avLst/>
          </a:prstGeom>
          <a:gradFill>
            <a:gsLst>
              <a:gs pos="0">
                <a:schemeClr val="bg1">
                  <a:lumMod val="95000"/>
                </a:schemeClr>
              </a:gs>
              <a:gs pos="42000">
                <a:schemeClr val="bg1"/>
              </a:gs>
              <a:gs pos="69000">
                <a:schemeClr val="bg1">
                  <a:lumMod val="95000"/>
                </a:schemeClr>
              </a:gs>
              <a:gs pos="92000">
                <a:schemeClr val="bg1">
                  <a:lumMod val="9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LINK  PPT1010-05"/>
          <p:cNvPicPr>
            <a:picLocks noChangeAspect="1"/>
          </p:cNvPicPr>
          <p:nvPr userDrawn="1"/>
        </p:nvPicPr>
        <p:blipFill>
          <a:blip r:embed="rId3"/>
          <a:stretch>
            <a:fillRect/>
          </a:stretch>
        </p:blipFill>
        <p:spPr>
          <a:xfrm>
            <a:off x="-3810" y="-16510"/>
            <a:ext cx="12224317" cy="794385"/>
          </a:xfrm>
          <a:prstGeom prst="rect">
            <a:avLst/>
          </a:prstGeom>
        </p:spPr>
      </p:pic>
    </p:spTree>
    <p:extLst>
      <p:ext uri="{BB962C8B-B14F-4D97-AF65-F5344CB8AC3E}">
        <p14:creationId xmlns:p14="http://schemas.microsoft.com/office/powerpoint/2010/main" val="251258550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24B26F-F2E0-4F53-981B-BB84DEAAB2C5}" type="datetimeFigureOut">
              <a:rPr lang="en-US" smtClean="0"/>
              <a:t>5/10/2024</a:t>
            </a:fld>
            <a:endParaRPr 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AF076A-AA46-46FC-BDC2-1A0B24C6FFB6}" type="slidenum">
              <a:rPr lang="en-US" smtClean="0"/>
              <a:t>‹#›</a:t>
            </a:fld>
            <a:endParaRPr lang="en-US"/>
          </a:p>
        </p:txBody>
      </p:sp>
    </p:spTree>
    <p:extLst>
      <p:ext uri="{BB962C8B-B14F-4D97-AF65-F5344CB8AC3E}">
        <p14:creationId xmlns:p14="http://schemas.microsoft.com/office/powerpoint/2010/main" val="3446478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0205368" y="-55880"/>
            <a:ext cx="1775460" cy="821055"/>
            <a:chOff x="13535" y="1423"/>
            <a:chExt cx="2796" cy="1293"/>
          </a:xfrm>
        </p:grpSpPr>
        <p:sp>
          <p:nvSpPr>
            <p:cNvPr id="8" name="文本框 7"/>
            <p:cNvSpPr txBox="1"/>
            <p:nvPr/>
          </p:nvSpPr>
          <p:spPr>
            <a:xfrm>
              <a:off x="13535" y="1423"/>
              <a:ext cx="2796" cy="1210"/>
            </a:xfrm>
            <a:prstGeom prst="rect">
              <a:avLst/>
            </a:prstGeom>
            <a:noFill/>
            <a:ln w="9525">
              <a:noFill/>
            </a:ln>
          </p:spPr>
          <p:txBody>
            <a:bodyPr wrap="square">
              <a:spAutoFit/>
            </a:bodyPr>
            <a:lstStyle/>
            <a:p>
              <a:pPr indent="0"/>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L</a:t>
              </a:r>
              <a:r>
                <a:rPr lang="en-US" altLang="zh-CN" sz="44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NK</a:t>
              </a:r>
            </a:p>
          </p:txBody>
        </p:sp>
        <p:sp>
          <p:nvSpPr>
            <p:cNvPr id="9" name="文本框 8"/>
            <p:cNvSpPr txBox="1"/>
            <p:nvPr/>
          </p:nvSpPr>
          <p:spPr>
            <a:xfrm>
              <a:off x="15140" y="2354"/>
              <a:ext cx="1176" cy="362"/>
            </a:xfrm>
            <a:prstGeom prst="rect">
              <a:avLst/>
            </a:prstGeom>
            <a:noFill/>
            <a:ln w="9525">
              <a:noFill/>
            </a:ln>
          </p:spPr>
          <p:txBody>
            <a:bodyPr wrap="square">
              <a:spAutoFit/>
            </a:bodyPr>
            <a:lstStyle/>
            <a:p>
              <a:pPr indent="0"/>
              <a:r>
                <a:rPr lang="en-US" altLang="zh-CN" sz="900" b="1" i="1">
                  <a:solidFill>
                    <a:srgbClr val="016AC5"/>
                  </a:solidFill>
                  <a:latin typeface="微软雅黑" panose="020B0503020204020204" charset="-122"/>
                  <a:ea typeface="微软雅黑" panose="020B0503020204020204" charset="-122"/>
                  <a:cs typeface="微软雅黑" panose="020B0503020204020204" charset="-122"/>
                </a:rPr>
                <a:t>GROUP</a:t>
              </a:r>
            </a:p>
          </p:txBody>
        </p:sp>
      </p:grpSp>
      <p:sp>
        <p:nvSpPr>
          <p:cNvPr id="10" name="灯片编号占位符 9"/>
          <p:cNvSpPr>
            <a:spLocks noGrp="1"/>
          </p:cNvSpPr>
          <p:nvPr>
            <p:ph type="sldNum" sz="quarter" idx="12"/>
          </p:nvPr>
        </p:nvSpPr>
        <p:spPr/>
        <p:txBody>
          <a:bodyPr/>
          <a:lstStyle/>
          <a:p>
            <a:fld id="{D57F1E4F-1CFF-5643-939E-217C01CDF565}" type="slidenum">
              <a:rPr lang="en-US" dirty="0">
                <a:latin typeface="Arial Unicode MS" panose="020B0604020202020204" charset="-122"/>
                <a:ea typeface="Arial Unicode MS" panose="020B0604020202020204" charset="-122"/>
              </a:rPr>
              <a:t>1</a:t>
            </a:fld>
            <a:endParaRPr lang="en-US" dirty="0">
              <a:latin typeface="Arial Unicode MS" panose="020B0604020202020204" charset="-122"/>
              <a:ea typeface="Arial Unicode MS" panose="020B0604020202020204" charset="-122"/>
            </a:endParaRPr>
          </a:p>
        </p:txBody>
      </p:sp>
      <p:grpSp>
        <p:nvGrpSpPr>
          <p:cNvPr id="32" name="组合 31"/>
          <p:cNvGrpSpPr/>
          <p:nvPr/>
        </p:nvGrpSpPr>
        <p:grpSpPr>
          <a:xfrm>
            <a:off x="1387570" y="910163"/>
            <a:ext cx="1927860" cy="902970"/>
            <a:chOff x="13535" y="1423"/>
            <a:chExt cx="3036" cy="1422"/>
          </a:xfrm>
        </p:grpSpPr>
        <p:sp>
          <p:nvSpPr>
            <p:cNvPr id="33" name="文本框 32"/>
            <p:cNvSpPr txBox="1"/>
            <p:nvPr/>
          </p:nvSpPr>
          <p:spPr>
            <a:xfrm>
              <a:off x="13535" y="1423"/>
              <a:ext cx="2796" cy="1355"/>
            </a:xfrm>
            <a:prstGeom prst="rect">
              <a:avLst/>
            </a:prstGeom>
            <a:noFill/>
            <a:ln w="9525">
              <a:noFill/>
            </a:ln>
          </p:spPr>
          <p:txBody>
            <a:bodyPr wrap="square">
              <a:spAutoFit/>
            </a:bodyPr>
            <a:lstStyle/>
            <a:p>
              <a:pPr indent="0"/>
              <a:r>
                <a:rPr lang="en-US" altLang="zh-CN" sz="5000" b="1" i="1" dirty="0">
                  <a:solidFill>
                    <a:srgbClr val="0070C0"/>
                  </a:solidFill>
                  <a:latin typeface="微软雅黑" panose="020B0503020204020204" charset="-122"/>
                  <a:ea typeface="微软雅黑" panose="020B0503020204020204" charset="-122"/>
                  <a:cs typeface="微软雅黑" panose="020B0503020204020204" charset="-122"/>
                </a:rPr>
                <a:t>L</a:t>
              </a:r>
              <a:r>
                <a:rPr lang="en-US" altLang="zh-CN" sz="50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5000" b="1" i="1" dirty="0">
                  <a:solidFill>
                    <a:srgbClr val="0070C0"/>
                  </a:solidFill>
                  <a:latin typeface="微软雅黑" panose="020B0503020204020204" charset="-122"/>
                  <a:ea typeface="微软雅黑" panose="020B0503020204020204" charset="-122"/>
                  <a:cs typeface="微软雅黑" panose="020B0503020204020204" charset="-122"/>
                </a:rPr>
                <a:t>NK</a:t>
              </a:r>
            </a:p>
          </p:txBody>
        </p:sp>
        <p:sp>
          <p:nvSpPr>
            <p:cNvPr id="34" name="文本框 33"/>
            <p:cNvSpPr txBox="1"/>
            <p:nvPr/>
          </p:nvSpPr>
          <p:spPr>
            <a:xfrm>
              <a:off x="15395" y="2459"/>
              <a:ext cx="1176" cy="386"/>
            </a:xfrm>
            <a:prstGeom prst="rect">
              <a:avLst/>
            </a:prstGeom>
            <a:noFill/>
            <a:ln w="9525">
              <a:noFill/>
            </a:ln>
          </p:spPr>
          <p:txBody>
            <a:bodyPr wrap="square">
              <a:spAutoFit/>
            </a:bodyPr>
            <a:lstStyle/>
            <a:p>
              <a:pPr indent="0"/>
              <a:r>
                <a:rPr lang="en-US" altLang="zh-CN" sz="1000" b="1" i="1" dirty="0">
                  <a:solidFill>
                    <a:srgbClr val="0070C0"/>
                  </a:solidFill>
                  <a:latin typeface="微软雅黑" panose="020B0503020204020204" charset="-122"/>
                  <a:ea typeface="微软雅黑" panose="020B0503020204020204" charset="-122"/>
                  <a:cs typeface="微软雅黑" panose="020B0503020204020204" charset="-122"/>
                </a:rPr>
                <a:t>GROUP</a:t>
              </a:r>
            </a:p>
          </p:txBody>
        </p:sp>
      </p:grpSp>
      <p:sp>
        <p:nvSpPr>
          <p:cNvPr id="36" name="文本框 35"/>
          <p:cNvSpPr txBox="1"/>
          <p:nvPr/>
        </p:nvSpPr>
        <p:spPr>
          <a:xfrm>
            <a:off x="7045219" y="1474579"/>
            <a:ext cx="3243565" cy="338554"/>
          </a:xfrm>
          <a:prstGeom prst="rect">
            <a:avLst/>
          </a:prstGeom>
          <a:noFill/>
          <a:ln w="9525">
            <a:noFill/>
          </a:ln>
        </p:spPr>
        <p:txBody>
          <a:bodyPr wrap="square">
            <a:spAutoFit/>
          </a:bodyPr>
          <a:lstStyle/>
          <a:p>
            <a:pPr indent="0"/>
            <a:r>
              <a:rPr lang="zh-CN" altLang="en-US" sz="1600" b="1" i="1" dirty="0">
                <a:latin typeface="微软雅黑" panose="020B0503020204020204" charset="-122"/>
                <a:ea typeface="微软雅黑" panose="020B0503020204020204" charset="-122"/>
                <a:cs typeface="微软雅黑" panose="020B0503020204020204" charset="-122"/>
              </a:rPr>
              <a:t>霖和自动化工程</a:t>
            </a:r>
            <a:r>
              <a:rPr lang="en-US" altLang="zh-CN" sz="1600" b="1" i="1" dirty="0">
                <a:latin typeface="微软雅黑" panose="020B0503020204020204" charset="-122"/>
                <a:ea typeface="微软雅黑" panose="020B0503020204020204" charset="-122"/>
                <a:cs typeface="微软雅黑" panose="020B0503020204020204" charset="-122"/>
              </a:rPr>
              <a:t>(</a:t>
            </a:r>
            <a:r>
              <a:rPr lang="zh-CN" altLang="en-US" sz="1600" b="1" i="1" dirty="0">
                <a:latin typeface="微软雅黑" panose="020B0503020204020204" charset="-122"/>
                <a:ea typeface="微软雅黑" panose="020B0503020204020204" charset="-122"/>
                <a:cs typeface="微软雅黑" panose="020B0503020204020204" charset="-122"/>
              </a:rPr>
              <a:t>上海</a:t>
            </a:r>
            <a:r>
              <a:rPr lang="en-US" altLang="zh-CN" sz="1600" b="1" i="1" dirty="0">
                <a:latin typeface="微软雅黑" panose="020B0503020204020204" charset="-122"/>
                <a:ea typeface="微软雅黑" panose="020B0503020204020204" charset="-122"/>
                <a:cs typeface="微软雅黑" panose="020B0503020204020204" charset="-122"/>
              </a:rPr>
              <a:t>)</a:t>
            </a:r>
            <a:r>
              <a:rPr lang="zh-CN" altLang="en-US" sz="1600" b="1" i="1" dirty="0">
                <a:latin typeface="微软雅黑" panose="020B0503020204020204" charset="-122"/>
                <a:ea typeface="微软雅黑" panose="020B0503020204020204" charset="-122"/>
                <a:cs typeface="微软雅黑" panose="020B0503020204020204" charset="-122"/>
              </a:rPr>
              <a:t>有限公司</a:t>
            </a:r>
          </a:p>
        </p:txBody>
      </p:sp>
      <p:sp>
        <p:nvSpPr>
          <p:cNvPr id="37" name="文本框 36"/>
          <p:cNvSpPr txBox="1"/>
          <p:nvPr/>
        </p:nvSpPr>
        <p:spPr>
          <a:xfrm>
            <a:off x="3163030" y="1012914"/>
            <a:ext cx="7233100" cy="461665"/>
          </a:xfrm>
          <a:prstGeom prst="rect">
            <a:avLst/>
          </a:prstGeom>
          <a:noFill/>
          <a:ln w="9525">
            <a:noFill/>
          </a:ln>
        </p:spPr>
        <p:txBody>
          <a:bodyPr wrap="square">
            <a:spAutoFit/>
          </a:bodyPr>
          <a:lstStyle/>
          <a:p>
            <a:pPr indent="0"/>
            <a:r>
              <a:rPr lang="en-US" altLang="zh-CN" sz="2400" b="1" i="1" dirty="0">
                <a:latin typeface="微软雅黑" panose="020B0503020204020204" charset="-122"/>
                <a:ea typeface="微软雅黑" panose="020B0503020204020204" charset="-122"/>
                <a:cs typeface="微软雅黑" panose="020B0503020204020204" charset="-122"/>
              </a:rPr>
              <a:t>Automation Engineering (Shanghai) </a:t>
            </a:r>
            <a:r>
              <a:rPr lang="en-US" altLang="zh-CN" sz="2400" b="1" i="1" dirty="0" err="1">
                <a:latin typeface="微软雅黑" panose="020B0503020204020204" charset="-122"/>
                <a:ea typeface="微软雅黑" panose="020B0503020204020204" charset="-122"/>
                <a:cs typeface="微软雅黑" panose="020B0503020204020204" charset="-122"/>
              </a:rPr>
              <a:t>Co.,Ltd</a:t>
            </a:r>
            <a:r>
              <a:rPr lang="en-US" altLang="zh-CN" sz="2400" b="1" i="1" dirty="0">
                <a:latin typeface="微软雅黑" panose="020B0503020204020204" charset="-122"/>
                <a:ea typeface="微软雅黑" panose="020B0503020204020204" charset="-122"/>
                <a:cs typeface="微软雅黑" panose="020B0503020204020204" charset="-122"/>
              </a:rPr>
              <a:t>.</a:t>
            </a:r>
          </a:p>
        </p:txBody>
      </p:sp>
      <p:sp>
        <p:nvSpPr>
          <p:cNvPr id="12" name="TextBox 11">
            <a:extLst>
              <a:ext uri="{FF2B5EF4-FFF2-40B4-BE49-F238E27FC236}">
                <a16:creationId xmlns:a16="http://schemas.microsoft.com/office/drawing/2014/main" id="{D143052B-C32A-403D-DBBD-3FA3430547E9}"/>
              </a:ext>
            </a:extLst>
          </p:cNvPr>
          <p:cNvSpPr txBox="1"/>
          <p:nvPr/>
        </p:nvSpPr>
        <p:spPr>
          <a:xfrm>
            <a:off x="194725" y="2390335"/>
            <a:ext cx="6241410"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Staff name: Nguyễn </a:t>
            </a:r>
            <a:r>
              <a:rPr lang="en-US" altLang="zh-CN" sz="2000" dirty="0" err="1">
                <a:latin typeface="Times New Roman" panose="02020603050405020304" pitchFamily="18" charset="0"/>
                <a:cs typeface="Times New Roman" panose="02020603050405020304" pitchFamily="18" charset="0"/>
              </a:rPr>
              <a:t>Tuấn</a:t>
            </a:r>
            <a:r>
              <a:rPr lang="en-US" altLang="zh-CN" sz="2000" dirty="0">
                <a:latin typeface="Times New Roman" panose="02020603050405020304" pitchFamily="18" charset="0"/>
                <a:cs typeface="Times New Roman" panose="02020603050405020304" pitchFamily="18" charset="0"/>
              </a:rPr>
              <a:t> Phong ( Assistant PLC Engineer)</a:t>
            </a:r>
          </a:p>
        </p:txBody>
      </p:sp>
      <p:sp>
        <p:nvSpPr>
          <p:cNvPr id="13" name="TextBox 12">
            <a:extLst>
              <a:ext uri="{FF2B5EF4-FFF2-40B4-BE49-F238E27FC236}">
                <a16:creationId xmlns:a16="http://schemas.microsoft.com/office/drawing/2014/main" id="{F11592BE-D11F-269D-DA15-8977649F0EEF}"/>
              </a:ext>
            </a:extLst>
          </p:cNvPr>
          <p:cNvSpPr txBox="1"/>
          <p:nvPr/>
        </p:nvSpPr>
        <p:spPr>
          <a:xfrm>
            <a:off x="194725" y="2866645"/>
            <a:ext cx="4840447" cy="1323439"/>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Mainly training: GSC Phase Concept</a:t>
            </a:r>
          </a:p>
          <a:p>
            <a:pPr marL="457200" indent="-457200">
              <a:buAutoNum type="arabicPeriod"/>
            </a:pPr>
            <a:r>
              <a:rPr lang="en-US" altLang="zh-CN" sz="2000" dirty="0">
                <a:latin typeface="Times New Roman" panose="02020603050405020304" pitchFamily="18" charset="0"/>
                <a:cs typeface="Times New Roman" panose="02020603050405020304" pitchFamily="18" charset="0"/>
              </a:rPr>
              <a:t>Phase definition</a:t>
            </a:r>
          </a:p>
          <a:p>
            <a:pPr marL="457200" indent="-457200">
              <a:buAutoNum type="arabicPeriod"/>
            </a:pPr>
            <a:r>
              <a:rPr lang="en-US" altLang="zh-CN" sz="2000" dirty="0">
                <a:latin typeface="Times New Roman" panose="02020603050405020304" pitchFamily="18" charset="0"/>
                <a:cs typeface="Times New Roman" panose="02020603050405020304" pitchFamily="18" charset="0"/>
              </a:rPr>
              <a:t>HMI Support</a:t>
            </a:r>
          </a:p>
          <a:p>
            <a:pPr marL="457200" indent="-457200">
              <a:buAutoNum type="arabicPeriod"/>
            </a:pPr>
            <a:r>
              <a:rPr lang="en-US" altLang="zh-CN" sz="2000" dirty="0">
                <a:latin typeface="Times New Roman" panose="02020603050405020304" pitchFamily="18" charset="0"/>
                <a:cs typeface="Times New Roman" panose="02020603050405020304" pitchFamily="18" charset="0"/>
              </a:rPr>
              <a:t>Programming details</a:t>
            </a:r>
          </a:p>
        </p:txBody>
      </p:sp>
      <p:sp>
        <p:nvSpPr>
          <p:cNvPr id="2" name="TextBox 1">
            <a:extLst>
              <a:ext uri="{FF2B5EF4-FFF2-40B4-BE49-F238E27FC236}">
                <a16:creationId xmlns:a16="http://schemas.microsoft.com/office/drawing/2014/main" id="{2EE95C07-1E6B-79C5-02B8-C910C5DCED2B}"/>
              </a:ext>
            </a:extLst>
          </p:cNvPr>
          <p:cNvSpPr txBox="1"/>
          <p:nvPr/>
        </p:nvSpPr>
        <p:spPr>
          <a:xfrm>
            <a:off x="3865782" y="1813133"/>
            <a:ext cx="3013137" cy="584775"/>
          </a:xfrm>
          <a:prstGeom prst="rect">
            <a:avLst/>
          </a:prstGeom>
          <a:noFill/>
        </p:spPr>
        <p:txBody>
          <a:bodyPr wrap="square" rtlCol="0">
            <a:spAutoFit/>
          </a:bodyPr>
          <a:lstStyle/>
          <a:p>
            <a:r>
              <a:rPr lang="en-US" sz="3200" dirty="0">
                <a:solidFill>
                  <a:schemeClr val="accent2"/>
                </a:solidFill>
                <a:latin typeface="Times New Roman" panose="02020603050405020304" pitchFamily="18" charset="0"/>
                <a:cs typeface="Times New Roman" panose="02020603050405020304" pitchFamily="18" charset="0"/>
              </a:rPr>
              <a:t>Training Record</a:t>
            </a:r>
          </a:p>
        </p:txBody>
      </p:sp>
    </p:spTree>
    <p:extLst>
      <p:ext uri="{BB962C8B-B14F-4D97-AF65-F5344CB8AC3E}">
        <p14:creationId xmlns:p14="http://schemas.microsoft.com/office/powerpoint/2010/main" val="1365511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0205368" y="-55880"/>
            <a:ext cx="1775460" cy="821055"/>
            <a:chOff x="13535" y="1423"/>
            <a:chExt cx="2796" cy="1293"/>
          </a:xfrm>
        </p:grpSpPr>
        <p:sp>
          <p:nvSpPr>
            <p:cNvPr id="8" name="文本框 7"/>
            <p:cNvSpPr txBox="1"/>
            <p:nvPr/>
          </p:nvSpPr>
          <p:spPr>
            <a:xfrm>
              <a:off x="13535" y="1423"/>
              <a:ext cx="2796" cy="1210"/>
            </a:xfrm>
            <a:prstGeom prst="rect">
              <a:avLst/>
            </a:prstGeom>
            <a:noFill/>
            <a:ln w="9525">
              <a:noFill/>
            </a:ln>
          </p:spPr>
          <p:txBody>
            <a:bodyPr wrap="square">
              <a:spAutoFit/>
            </a:bodyPr>
            <a:lstStyle/>
            <a:p>
              <a:pPr indent="0"/>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L</a:t>
              </a:r>
              <a:r>
                <a:rPr lang="en-US" altLang="zh-CN" sz="44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NK</a:t>
              </a:r>
            </a:p>
          </p:txBody>
        </p:sp>
        <p:sp>
          <p:nvSpPr>
            <p:cNvPr id="9" name="文本框 8"/>
            <p:cNvSpPr txBox="1"/>
            <p:nvPr/>
          </p:nvSpPr>
          <p:spPr>
            <a:xfrm>
              <a:off x="15140" y="2354"/>
              <a:ext cx="1176" cy="362"/>
            </a:xfrm>
            <a:prstGeom prst="rect">
              <a:avLst/>
            </a:prstGeom>
            <a:noFill/>
            <a:ln w="9525">
              <a:noFill/>
            </a:ln>
          </p:spPr>
          <p:txBody>
            <a:bodyPr wrap="square">
              <a:spAutoFit/>
            </a:bodyPr>
            <a:lstStyle/>
            <a:p>
              <a:pPr indent="0"/>
              <a:r>
                <a:rPr lang="en-US" altLang="zh-CN" sz="900" b="1" i="1">
                  <a:solidFill>
                    <a:srgbClr val="016AC5"/>
                  </a:solidFill>
                  <a:latin typeface="微软雅黑" panose="020B0503020204020204" charset="-122"/>
                  <a:ea typeface="微软雅黑" panose="020B0503020204020204" charset="-122"/>
                  <a:cs typeface="微软雅黑" panose="020B0503020204020204" charset="-122"/>
                </a:rPr>
                <a:t>GROUP</a:t>
              </a:r>
            </a:p>
          </p:txBody>
        </p:sp>
      </p:grpSp>
      <p:sp>
        <p:nvSpPr>
          <p:cNvPr id="10" name="灯片编号占位符 9"/>
          <p:cNvSpPr>
            <a:spLocks noGrp="1"/>
          </p:cNvSpPr>
          <p:nvPr>
            <p:ph type="sldNum" sz="quarter" idx="12"/>
          </p:nvPr>
        </p:nvSpPr>
        <p:spPr/>
        <p:txBody>
          <a:bodyPr/>
          <a:lstStyle/>
          <a:p>
            <a:fld id="{D57F1E4F-1CFF-5643-939E-217C01CDF565}" type="slidenum">
              <a:rPr lang="en-US" dirty="0">
                <a:latin typeface="Arial Unicode MS" panose="020B0604020202020204" charset="-122"/>
                <a:ea typeface="Arial Unicode MS" panose="020B0604020202020204" charset="-122"/>
              </a:rPr>
              <a:t>2</a:t>
            </a:fld>
            <a:endParaRPr lang="en-US" dirty="0">
              <a:latin typeface="Arial Unicode MS" panose="020B0604020202020204" charset="-122"/>
              <a:ea typeface="Arial Unicode MS" panose="020B0604020202020204" charset="-122"/>
            </a:endParaRPr>
          </a:p>
        </p:txBody>
      </p:sp>
      <p:sp>
        <p:nvSpPr>
          <p:cNvPr id="5" name="TextBox 4">
            <a:extLst>
              <a:ext uri="{FF2B5EF4-FFF2-40B4-BE49-F238E27FC236}">
                <a16:creationId xmlns:a16="http://schemas.microsoft.com/office/drawing/2014/main" id="{909C6354-C0CC-2307-1D00-77020B683868}"/>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Phase Definition</a:t>
            </a:r>
          </a:p>
        </p:txBody>
      </p:sp>
      <p:sp>
        <p:nvSpPr>
          <p:cNvPr id="11" name="TextBox 10">
            <a:extLst>
              <a:ext uri="{FF2B5EF4-FFF2-40B4-BE49-F238E27FC236}">
                <a16:creationId xmlns:a16="http://schemas.microsoft.com/office/drawing/2014/main" id="{9A805123-A228-43F4-AB6B-EB6EFB2E32EE}"/>
              </a:ext>
            </a:extLst>
          </p:cNvPr>
          <p:cNvSpPr txBox="1"/>
          <p:nvPr/>
        </p:nvSpPr>
        <p:spPr>
          <a:xfrm>
            <a:off x="328352" y="1059841"/>
            <a:ext cx="11652475" cy="2585323"/>
          </a:xfrm>
          <a:prstGeom prst="rect">
            <a:avLst/>
          </a:prstGeom>
          <a:noFill/>
        </p:spPr>
        <p:txBody>
          <a:bodyPr wrap="square">
            <a:spAutoFit/>
          </a:bodyPr>
          <a:lstStyle/>
          <a:p>
            <a:r>
              <a:rPr lang="vi-VN" dirty="0"/>
              <a:t>The production sequence is structured in phases! The individual phases, therefore, are synchronization points at which a system restart must be possible.</a:t>
            </a:r>
          </a:p>
          <a:p>
            <a:endParaRPr lang="vi-VN" dirty="0"/>
          </a:p>
          <a:p>
            <a:r>
              <a:rPr lang="vi-VN" dirty="0"/>
              <a:t>Typical phases, of a welding tool for example, are:</a:t>
            </a:r>
          </a:p>
          <a:p>
            <a:endParaRPr lang="vi-VN" dirty="0"/>
          </a:p>
          <a:p>
            <a:r>
              <a:rPr lang="en-US" dirty="0"/>
              <a:t>L</a:t>
            </a:r>
            <a:r>
              <a:rPr lang="vi-VN" dirty="0"/>
              <a:t>oading </a:t>
            </a:r>
          </a:p>
          <a:p>
            <a:r>
              <a:rPr lang="en-US" dirty="0"/>
              <a:t>W</a:t>
            </a:r>
            <a:r>
              <a:rPr lang="vi-VN" dirty="0"/>
              <a:t>elding </a:t>
            </a:r>
          </a:p>
          <a:p>
            <a:r>
              <a:rPr lang="en-US" dirty="0"/>
              <a:t>U</a:t>
            </a:r>
            <a:r>
              <a:rPr lang="vi-VN" dirty="0"/>
              <a:t>nloading </a:t>
            </a:r>
            <a:endParaRPr lang="en-US" dirty="0"/>
          </a:p>
          <a:p>
            <a:r>
              <a:rPr lang="en-US" dirty="0"/>
              <a:t>….</a:t>
            </a:r>
            <a:endParaRPr lang="vi-VN" dirty="0"/>
          </a:p>
        </p:txBody>
      </p:sp>
      <p:graphicFrame>
        <p:nvGraphicFramePr>
          <p:cNvPr id="4" name="Table 3">
            <a:extLst>
              <a:ext uri="{FF2B5EF4-FFF2-40B4-BE49-F238E27FC236}">
                <a16:creationId xmlns:a16="http://schemas.microsoft.com/office/drawing/2014/main" id="{FA6DF007-DF33-465F-80DB-0E185A189E00}"/>
              </a:ext>
            </a:extLst>
          </p:cNvPr>
          <p:cNvGraphicFramePr>
            <a:graphicFrameLocks noGrp="1"/>
          </p:cNvGraphicFramePr>
          <p:nvPr>
            <p:extLst>
              <p:ext uri="{D42A27DB-BD31-4B8C-83A1-F6EECF244321}">
                <p14:modId xmlns:p14="http://schemas.microsoft.com/office/powerpoint/2010/main" val="1286401014"/>
              </p:ext>
            </p:extLst>
          </p:nvPr>
        </p:nvGraphicFramePr>
        <p:xfrm>
          <a:off x="577498" y="3662831"/>
          <a:ext cx="10515600" cy="1828800"/>
        </p:xfrm>
        <a:graphic>
          <a:graphicData uri="http://schemas.openxmlformats.org/drawingml/2006/table">
            <a:tbl>
              <a:tblPr/>
              <a:tblGrid>
                <a:gridCol w="3505200">
                  <a:extLst>
                    <a:ext uri="{9D8B030D-6E8A-4147-A177-3AD203B41FA5}">
                      <a16:colId xmlns:a16="http://schemas.microsoft.com/office/drawing/2014/main" val="204347319"/>
                    </a:ext>
                  </a:extLst>
                </a:gridCol>
                <a:gridCol w="3505200">
                  <a:extLst>
                    <a:ext uri="{9D8B030D-6E8A-4147-A177-3AD203B41FA5}">
                      <a16:colId xmlns:a16="http://schemas.microsoft.com/office/drawing/2014/main" val="112258668"/>
                    </a:ext>
                  </a:extLst>
                </a:gridCol>
                <a:gridCol w="3505200">
                  <a:extLst>
                    <a:ext uri="{9D8B030D-6E8A-4147-A177-3AD203B41FA5}">
                      <a16:colId xmlns:a16="http://schemas.microsoft.com/office/drawing/2014/main" val="4038927850"/>
                    </a:ext>
                  </a:extLst>
                </a:gridCol>
              </a:tblGrid>
              <a:tr h="0">
                <a:tc>
                  <a:txBody>
                    <a:bodyPr/>
                    <a:lstStyle/>
                    <a:p>
                      <a:r>
                        <a:rPr lang="vi-VN">
                          <a:effectLst/>
                        </a:rPr>
                        <a:t>Category</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r>
                        <a:rPr lang="vi-VN">
                          <a:effectLst/>
                        </a:rPr>
                        <a:t>Description</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r>
                        <a:rPr lang="vi-VN">
                          <a:effectLst/>
                        </a:rPr>
                        <a:t>Standard signals</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2013273"/>
                  </a:ext>
                </a:extLst>
              </a:tr>
              <a:tr h="0">
                <a:tc>
                  <a:txBody>
                    <a:bodyPr/>
                    <a:lstStyle/>
                    <a:p>
                      <a:r>
                        <a:rPr lang="vi-VN">
                          <a:effectLst/>
                        </a:rPr>
                        <a:t>PROCESS</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r>
                        <a:rPr lang="vi-VN">
                          <a:effectLst/>
                        </a:rPr>
                        <a:t>Process finished messages</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r>
                        <a:rPr lang="vi-VN">
                          <a:effectLst/>
                        </a:rPr>
                        <a:t>exclusively</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9194953"/>
                  </a:ext>
                </a:extLst>
              </a:tr>
              <a:tr h="0">
                <a:tc>
                  <a:txBody>
                    <a:bodyPr/>
                    <a:lstStyle/>
                    <a:p>
                      <a:r>
                        <a:rPr lang="vi-VN">
                          <a:effectLst/>
                        </a:rPr>
                        <a:t>TYPE</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r>
                        <a:rPr lang="vi-VN">
                          <a:effectLst/>
                        </a:rPr>
                        <a:t>Type data</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r>
                        <a:rPr lang="vi-VN">
                          <a:effectLst/>
                        </a:rPr>
                        <a:t>exclusively</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3435564"/>
                  </a:ext>
                </a:extLst>
              </a:tr>
              <a:tr h="0">
                <a:tc>
                  <a:txBody>
                    <a:bodyPr/>
                    <a:lstStyle/>
                    <a:p>
                      <a:r>
                        <a:rPr lang="vi-VN">
                          <a:effectLst/>
                        </a:rPr>
                        <a:t>PART_PRESENT</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r>
                        <a:rPr lang="vi-VN">
                          <a:effectLst/>
                        </a:rPr>
                        <a:t>Component checks</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r>
                        <a:rPr lang="vi-VN">
                          <a:effectLst/>
                        </a:rPr>
                        <a:t>exclusively</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45980394"/>
                  </a:ext>
                </a:extLst>
              </a:tr>
              <a:tr h="0">
                <a:tc>
                  <a:txBody>
                    <a:bodyPr/>
                    <a:lstStyle/>
                    <a:p>
                      <a:r>
                        <a:rPr lang="vi-VN">
                          <a:effectLst/>
                        </a:rPr>
                        <a:t>MISC</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r>
                        <a:rPr lang="vi-VN">
                          <a:effectLst/>
                        </a:rPr>
                        <a:t>Miscellaneous</a:t>
                      </a:r>
                    </a:p>
                  </a:txBody>
                  <a:tcPr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endParaRPr lang="vi-VN" dirty="0"/>
                    </a:p>
                  </a:txBody>
                  <a:tcPr>
                    <a:lnL w="7620" cap="flat" cmpd="sng" algn="ctr">
                      <a:solidFill>
                        <a:srgbClr val="000000"/>
                      </a:solidFill>
                      <a:prstDash val="solid"/>
                      <a:round/>
                      <a:headEnd type="none" w="med" len="med"/>
                      <a:tailEnd type="none" w="med" len="med"/>
                    </a:lnL>
                    <a:lnT w="762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3006829473"/>
                  </a:ext>
                </a:extLst>
              </a:tr>
            </a:tbl>
          </a:graphicData>
        </a:graphic>
      </p:graphicFrame>
    </p:spTree>
    <p:extLst>
      <p:ext uri="{BB962C8B-B14F-4D97-AF65-F5344CB8AC3E}">
        <p14:creationId xmlns:p14="http://schemas.microsoft.com/office/powerpoint/2010/main" val="91116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0205368" y="-55880"/>
            <a:ext cx="1775460" cy="821055"/>
            <a:chOff x="13535" y="1423"/>
            <a:chExt cx="2796" cy="1293"/>
          </a:xfrm>
        </p:grpSpPr>
        <p:sp>
          <p:nvSpPr>
            <p:cNvPr id="8" name="文本框 7"/>
            <p:cNvSpPr txBox="1"/>
            <p:nvPr/>
          </p:nvSpPr>
          <p:spPr>
            <a:xfrm>
              <a:off x="13535" y="1423"/>
              <a:ext cx="2796" cy="1210"/>
            </a:xfrm>
            <a:prstGeom prst="rect">
              <a:avLst/>
            </a:prstGeom>
            <a:noFill/>
            <a:ln w="9525">
              <a:noFill/>
            </a:ln>
          </p:spPr>
          <p:txBody>
            <a:bodyPr wrap="square">
              <a:spAutoFit/>
            </a:bodyPr>
            <a:lstStyle/>
            <a:p>
              <a:pPr indent="0"/>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L</a:t>
              </a:r>
              <a:r>
                <a:rPr lang="en-US" altLang="zh-CN" sz="44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NK</a:t>
              </a:r>
            </a:p>
          </p:txBody>
        </p:sp>
        <p:sp>
          <p:nvSpPr>
            <p:cNvPr id="9" name="文本框 8"/>
            <p:cNvSpPr txBox="1"/>
            <p:nvPr/>
          </p:nvSpPr>
          <p:spPr>
            <a:xfrm>
              <a:off x="15140" y="2354"/>
              <a:ext cx="1176" cy="362"/>
            </a:xfrm>
            <a:prstGeom prst="rect">
              <a:avLst/>
            </a:prstGeom>
            <a:noFill/>
            <a:ln w="9525">
              <a:noFill/>
            </a:ln>
          </p:spPr>
          <p:txBody>
            <a:bodyPr wrap="square">
              <a:spAutoFit/>
            </a:bodyPr>
            <a:lstStyle/>
            <a:p>
              <a:pPr indent="0"/>
              <a:r>
                <a:rPr lang="en-US" altLang="zh-CN" sz="900" b="1" i="1">
                  <a:solidFill>
                    <a:srgbClr val="016AC5"/>
                  </a:solidFill>
                  <a:latin typeface="微软雅黑" panose="020B0503020204020204" charset="-122"/>
                  <a:ea typeface="微软雅黑" panose="020B0503020204020204" charset="-122"/>
                  <a:cs typeface="微软雅黑" panose="020B0503020204020204" charset="-122"/>
                </a:rPr>
                <a:t>GROUP</a:t>
              </a:r>
            </a:p>
          </p:txBody>
        </p:sp>
      </p:grpSp>
      <p:sp>
        <p:nvSpPr>
          <p:cNvPr id="10" name="灯片编号占位符 9"/>
          <p:cNvSpPr>
            <a:spLocks noGrp="1"/>
          </p:cNvSpPr>
          <p:nvPr>
            <p:ph type="sldNum" sz="quarter" idx="12"/>
          </p:nvPr>
        </p:nvSpPr>
        <p:spPr/>
        <p:txBody>
          <a:bodyPr/>
          <a:lstStyle/>
          <a:p>
            <a:fld id="{D57F1E4F-1CFF-5643-939E-217C01CDF565}" type="slidenum">
              <a:rPr lang="en-US" dirty="0">
                <a:latin typeface="Arial Unicode MS" panose="020B0604020202020204" charset="-122"/>
                <a:ea typeface="Arial Unicode MS" panose="020B0604020202020204" charset="-122"/>
              </a:rPr>
              <a:t>3</a:t>
            </a:fld>
            <a:endParaRPr lang="en-US" dirty="0">
              <a:latin typeface="Arial Unicode MS" panose="020B0604020202020204" charset="-122"/>
              <a:ea typeface="Arial Unicode MS" panose="020B0604020202020204" charset="-122"/>
            </a:endParaRPr>
          </a:p>
        </p:txBody>
      </p:sp>
      <p:sp>
        <p:nvSpPr>
          <p:cNvPr id="5" name="TextBox 4">
            <a:extLst>
              <a:ext uri="{FF2B5EF4-FFF2-40B4-BE49-F238E27FC236}">
                <a16:creationId xmlns:a16="http://schemas.microsoft.com/office/drawing/2014/main" id="{909C6354-C0CC-2307-1D00-77020B683868}"/>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Phase Definition</a:t>
            </a:r>
          </a:p>
        </p:txBody>
      </p:sp>
      <p:pic>
        <p:nvPicPr>
          <p:cNvPr id="3" name="Picture 2">
            <a:extLst>
              <a:ext uri="{FF2B5EF4-FFF2-40B4-BE49-F238E27FC236}">
                <a16:creationId xmlns:a16="http://schemas.microsoft.com/office/drawing/2014/main" id="{FA44DA6A-2E34-400E-B993-AB68CE0AD648}"/>
              </a:ext>
            </a:extLst>
          </p:cNvPr>
          <p:cNvPicPr>
            <a:picLocks noChangeAspect="1"/>
          </p:cNvPicPr>
          <p:nvPr/>
        </p:nvPicPr>
        <p:blipFill>
          <a:blip r:embed="rId2"/>
          <a:stretch>
            <a:fillRect/>
          </a:stretch>
        </p:blipFill>
        <p:spPr>
          <a:xfrm>
            <a:off x="204841" y="966703"/>
            <a:ext cx="4201111" cy="5725324"/>
          </a:xfrm>
          <a:prstGeom prst="rect">
            <a:avLst/>
          </a:prstGeom>
        </p:spPr>
      </p:pic>
      <p:sp>
        <p:nvSpPr>
          <p:cNvPr id="12" name="TextBox 11">
            <a:extLst>
              <a:ext uri="{FF2B5EF4-FFF2-40B4-BE49-F238E27FC236}">
                <a16:creationId xmlns:a16="http://schemas.microsoft.com/office/drawing/2014/main" id="{70CA443C-57C9-4385-B386-678137C5891A}"/>
              </a:ext>
            </a:extLst>
          </p:cNvPr>
          <p:cNvSpPr txBox="1"/>
          <p:nvPr/>
        </p:nvSpPr>
        <p:spPr>
          <a:xfrm>
            <a:off x="4587807" y="1237520"/>
            <a:ext cx="7383496" cy="2031325"/>
          </a:xfrm>
          <a:prstGeom prst="rect">
            <a:avLst/>
          </a:prstGeom>
          <a:noFill/>
        </p:spPr>
        <p:txBody>
          <a:bodyPr wrap="square">
            <a:spAutoFit/>
          </a:bodyPr>
          <a:lstStyle/>
          <a:p>
            <a:r>
              <a:rPr lang="vi-VN" dirty="0"/>
              <a:t>When restarted, the machine should must which phase is both suitable and possible as a synchronization point. This is only possible if </a:t>
            </a:r>
          </a:p>
          <a:p>
            <a:r>
              <a:rPr lang="vi-VN" dirty="0"/>
              <a:t>:PROCESS, TYPE, PART_PRESENT and MISC are fulfilled!</a:t>
            </a:r>
          </a:p>
          <a:p>
            <a:endParaRPr lang="vi-VN" dirty="0"/>
          </a:p>
          <a:p>
            <a:r>
              <a:rPr lang="vi-VN" dirty="0">
                <a:solidFill>
                  <a:srgbClr val="FF0000"/>
                </a:solidFill>
              </a:rPr>
              <a:t>The phase definition must be unique.</a:t>
            </a:r>
          </a:p>
          <a:p>
            <a:r>
              <a:rPr lang="vi-VN" dirty="0">
                <a:solidFill>
                  <a:srgbClr val="FF0000"/>
                </a:solidFill>
              </a:rPr>
              <a:t>          ALL phase must differ with respect to the definition of PROCESS, TYPE, PART_PRESENT and MISC.</a:t>
            </a:r>
          </a:p>
        </p:txBody>
      </p:sp>
    </p:spTree>
    <p:extLst>
      <p:ext uri="{BB962C8B-B14F-4D97-AF65-F5344CB8AC3E}">
        <p14:creationId xmlns:p14="http://schemas.microsoft.com/office/powerpoint/2010/main" val="1789554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0205368" y="-55880"/>
            <a:ext cx="1775460" cy="821055"/>
            <a:chOff x="13535" y="1423"/>
            <a:chExt cx="2796" cy="1293"/>
          </a:xfrm>
        </p:grpSpPr>
        <p:sp>
          <p:nvSpPr>
            <p:cNvPr id="8" name="文本框 7"/>
            <p:cNvSpPr txBox="1"/>
            <p:nvPr/>
          </p:nvSpPr>
          <p:spPr>
            <a:xfrm>
              <a:off x="13535" y="1423"/>
              <a:ext cx="2796" cy="1210"/>
            </a:xfrm>
            <a:prstGeom prst="rect">
              <a:avLst/>
            </a:prstGeom>
            <a:noFill/>
            <a:ln w="9525">
              <a:noFill/>
            </a:ln>
          </p:spPr>
          <p:txBody>
            <a:bodyPr wrap="square">
              <a:spAutoFit/>
            </a:bodyPr>
            <a:lstStyle/>
            <a:p>
              <a:pPr indent="0"/>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L</a:t>
              </a:r>
              <a:r>
                <a:rPr lang="en-US" altLang="zh-CN" sz="44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NK</a:t>
              </a:r>
            </a:p>
          </p:txBody>
        </p:sp>
        <p:sp>
          <p:nvSpPr>
            <p:cNvPr id="9" name="文本框 8"/>
            <p:cNvSpPr txBox="1"/>
            <p:nvPr/>
          </p:nvSpPr>
          <p:spPr>
            <a:xfrm>
              <a:off x="15140" y="2354"/>
              <a:ext cx="1176" cy="362"/>
            </a:xfrm>
            <a:prstGeom prst="rect">
              <a:avLst/>
            </a:prstGeom>
            <a:noFill/>
            <a:ln w="9525">
              <a:noFill/>
            </a:ln>
          </p:spPr>
          <p:txBody>
            <a:bodyPr wrap="square">
              <a:spAutoFit/>
            </a:bodyPr>
            <a:lstStyle/>
            <a:p>
              <a:pPr indent="0"/>
              <a:r>
                <a:rPr lang="en-US" altLang="zh-CN" sz="900" b="1" i="1">
                  <a:solidFill>
                    <a:srgbClr val="016AC5"/>
                  </a:solidFill>
                  <a:latin typeface="微软雅黑" panose="020B0503020204020204" charset="-122"/>
                  <a:ea typeface="微软雅黑" panose="020B0503020204020204" charset="-122"/>
                  <a:cs typeface="微软雅黑" panose="020B0503020204020204" charset="-122"/>
                </a:rPr>
                <a:t>GROUP</a:t>
              </a:r>
            </a:p>
          </p:txBody>
        </p:sp>
      </p:grpSp>
      <p:sp>
        <p:nvSpPr>
          <p:cNvPr id="10" name="灯片编号占位符 9"/>
          <p:cNvSpPr>
            <a:spLocks noGrp="1"/>
          </p:cNvSpPr>
          <p:nvPr>
            <p:ph type="sldNum" sz="quarter" idx="12"/>
          </p:nvPr>
        </p:nvSpPr>
        <p:spPr/>
        <p:txBody>
          <a:bodyPr/>
          <a:lstStyle/>
          <a:p>
            <a:fld id="{D57F1E4F-1CFF-5643-939E-217C01CDF565}" type="slidenum">
              <a:rPr lang="en-US" dirty="0">
                <a:latin typeface="Arial Unicode MS" panose="020B0604020202020204" charset="-122"/>
                <a:ea typeface="Arial Unicode MS" panose="020B0604020202020204" charset="-122"/>
              </a:rPr>
              <a:t>4</a:t>
            </a:fld>
            <a:endParaRPr lang="en-US" dirty="0">
              <a:latin typeface="Arial Unicode MS" panose="020B0604020202020204" charset="-122"/>
              <a:ea typeface="Arial Unicode MS" panose="020B0604020202020204" charset="-122"/>
            </a:endParaRPr>
          </a:p>
        </p:txBody>
      </p:sp>
      <p:sp>
        <p:nvSpPr>
          <p:cNvPr id="5" name="TextBox 4">
            <a:extLst>
              <a:ext uri="{FF2B5EF4-FFF2-40B4-BE49-F238E27FC236}">
                <a16:creationId xmlns:a16="http://schemas.microsoft.com/office/drawing/2014/main" id="{909C6354-C0CC-2307-1D00-77020B683868}"/>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Phase Definition</a:t>
            </a:r>
          </a:p>
        </p:txBody>
      </p:sp>
      <p:sp>
        <p:nvSpPr>
          <p:cNvPr id="12" name="TextBox 11">
            <a:extLst>
              <a:ext uri="{FF2B5EF4-FFF2-40B4-BE49-F238E27FC236}">
                <a16:creationId xmlns:a16="http://schemas.microsoft.com/office/drawing/2014/main" id="{E69F48AA-01A1-4E22-9097-79B57907B618}"/>
              </a:ext>
            </a:extLst>
          </p:cNvPr>
          <p:cNvSpPr txBox="1"/>
          <p:nvPr/>
        </p:nvSpPr>
        <p:spPr>
          <a:xfrm>
            <a:off x="462277" y="887953"/>
            <a:ext cx="11834637" cy="1200329"/>
          </a:xfrm>
          <a:prstGeom prst="rect">
            <a:avLst/>
          </a:prstGeom>
          <a:noFill/>
        </p:spPr>
        <p:txBody>
          <a:bodyPr wrap="square">
            <a:spAutoFit/>
          </a:bodyPr>
          <a:lstStyle/>
          <a:p>
            <a:r>
              <a:rPr lang="vi-VN" dirty="0"/>
              <a:t> When performing resequencing, the first step is for the machine to decide which phase is currently the most useful, i.e. where resequencing is immediately possible. This decision is made exclusively based on the PROCESS, TYPE, PART_PRESENT and MISC information.</a:t>
            </a:r>
          </a:p>
          <a:p>
            <a:endParaRPr lang="vi-VN" dirty="0"/>
          </a:p>
        </p:txBody>
      </p:sp>
      <p:graphicFrame>
        <p:nvGraphicFramePr>
          <p:cNvPr id="3" name="Table 2">
            <a:extLst>
              <a:ext uri="{FF2B5EF4-FFF2-40B4-BE49-F238E27FC236}">
                <a16:creationId xmlns:a16="http://schemas.microsoft.com/office/drawing/2014/main" id="{A9FDFBCE-8AB9-47D1-97B4-B66741C6BD63}"/>
              </a:ext>
            </a:extLst>
          </p:cNvPr>
          <p:cNvGraphicFramePr>
            <a:graphicFrameLocks noGrp="1"/>
          </p:cNvGraphicFramePr>
          <p:nvPr>
            <p:extLst>
              <p:ext uri="{D42A27DB-BD31-4B8C-83A1-F6EECF244321}">
                <p14:modId xmlns:p14="http://schemas.microsoft.com/office/powerpoint/2010/main" val="2132950041"/>
              </p:ext>
            </p:extLst>
          </p:nvPr>
        </p:nvGraphicFramePr>
        <p:xfrm>
          <a:off x="1346253" y="2066593"/>
          <a:ext cx="9266738" cy="4387020"/>
        </p:xfrm>
        <a:graphic>
          <a:graphicData uri="http://schemas.openxmlformats.org/drawingml/2006/table">
            <a:tbl>
              <a:tblPr/>
              <a:tblGrid>
                <a:gridCol w="4633369">
                  <a:extLst>
                    <a:ext uri="{9D8B030D-6E8A-4147-A177-3AD203B41FA5}">
                      <a16:colId xmlns:a16="http://schemas.microsoft.com/office/drawing/2014/main" val="1593589677"/>
                    </a:ext>
                  </a:extLst>
                </a:gridCol>
                <a:gridCol w="4633369">
                  <a:extLst>
                    <a:ext uri="{9D8B030D-6E8A-4147-A177-3AD203B41FA5}">
                      <a16:colId xmlns:a16="http://schemas.microsoft.com/office/drawing/2014/main" val="3621612948"/>
                    </a:ext>
                  </a:extLst>
                </a:gridCol>
              </a:tblGrid>
              <a:tr h="322321">
                <a:tc>
                  <a:txBody>
                    <a:bodyPr/>
                    <a:lstStyle/>
                    <a:p>
                      <a:r>
                        <a:rPr lang="vi-VN" sz="1600">
                          <a:effectLst/>
                        </a:rPr>
                        <a:t>System state</a:t>
                      </a:r>
                    </a:p>
                  </a:txBody>
                  <a:tcPr marL="80580" marR="80580" marT="40290" marB="4029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r>
                        <a:rPr lang="vi-VN" sz="1600">
                          <a:effectLst/>
                        </a:rPr>
                        <a:t>Action</a:t>
                      </a:r>
                    </a:p>
                  </a:txBody>
                  <a:tcPr marL="80580" marR="80580" marT="40290" marB="4029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2938510"/>
                  </a:ext>
                </a:extLst>
              </a:tr>
              <a:tr h="1289285">
                <a:tc>
                  <a:txBody>
                    <a:bodyPr/>
                    <a:lstStyle/>
                    <a:p>
                      <a:r>
                        <a:rPr lang="vi-VN" sz="1600">
                          <a:effectLst/>
                          <a:latin typeface="Arial" panose="020B0604020202020204" pitchFamily="34" charset="0"/>
                        </a:rPr>
                        <a:t>Consistent system state</a:t>
                      </a:r>
                      <a:endParaRPr lang="vi-VN" sz="1600">
                        <a:effectLst/>
                      </a:endParaRPr>
                    </a:p>
                  </a:txBody>
                  <a:tcPr marL="80580" marR="80580" marT="40290" marB="4029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r>
                        <a:rPr lang="en-US" sz="1600">
                          <a:effectLst/>
                          <a:latin typeface="Arial" panose="020B0604020202020204" pitchFamily="34" charset="0"/>
                        </a:rPr>
                        <a:t> If there is a consistent system state – i.e. if all conditions for a phase are fulfilled – then this phase is automatically selected and the actuators will proceed as defined. A restart is possible immediately!</a:t>
                      </a:r>
                      <a:endParaRPr lang="en-US" sz="1600">
                        <a:effectLst/>
                      </a:endParaRPr>
                    </a:p>
                  </a:txBody>
                  <a:tcPr marL="80580" marR="80580" marT="40290" marB="4029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6094071"/>
                  </a:ext>
                </a:extLst>
              </a:tr>
              <a:tr h="2739731">
                <a:tc>
                  <a:txBody>
                    <a:bodyPr/>
                    <a:lstStyle/>
                    <a:p>
                      <a:r>
                        <a:rPr lang="vi-VN" sz="1600">
                          <a:effectLst/>
                          <a:latin typeface="Arial" panose="020B0604020202020204" pitchFamily="34" charset="0"/>
                        </a:rPr>
                        <a:t>Inconsistent system state</a:t>
                      </a:r>
                      <a:endParaRPr lang="vi-VN" sz="1600">
                        <a:effectLst/>
                      </a:endParaRPr>
                    </a:p>
                  </a:txBody>
                  <a:tcPr marL="80580" marR="80580" marT="40290" marB="4029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pPr>
                        <a:buFont typeface="+mj-lt"/>
                        <a:buAutoNum type="arabicPeriod"/>
                      </a:pPr>
                      <a:r>
                        <a:rPr lang="en-US" sz="1600" dirty="0">
                          <a:effectLst/>
                          <a:latin typeface="Arial" panose="020B0604020202020204" pitchFamily="34" charset="0"/>
                        </a:rPr>
                        <a:t>In this case, HMI dialogs should:</a:t>
                      </a:r>
                      <a:r>
                        <a:rPr lang="en-US" sz="1600" dirty="0">
                          <a:effectLst/>
                        </a:rPr>
                        <a:t> </a:t>
                      </a:r>
                      <a:r>
                        <a:rPr lang="en-US" sz="1600" dirty="0">
                          <a:effectLst/>
                          <a:latin typeface="Arial" panose="020B0604020202020204" pitchFamily="34" charset="0"/>
                        </a:rPr>
                        <a:t>indicate that user intervention is required</a:t>
                      </a:r>
                      <a:r>
                        <a:rPr lang="en-US" sz="1600" dirty="0">
                          <a:effectLst/>
                        </a:rPr>
                        <a:t> </a:t>
                      </a:r>
                    </a:p>
                    <a:p>
                      <a:pPr>
                        <a:buFont typeface="+mj-lt"/>
                        <a:buAutoNum type="arabicPeriod"/>
                      </a:pPr>
                      <a:r>
                        <a:rPr lang="en-US" sz="1600" dirty="0">
                          <a:effectLst/>
                          <a:latin typeface="Arial" panose="020B0604020202020204" pitchFamily="34" charset="0"/>
                        </a:rPr>
                        <a:t>display all relevant phases with the underlying definitions</a:t>
                      </a:r>
                      <a:r>
                        <a:rPr lang="en-US" sz="1600" dirty="0">
                          <a:effectLst/>
                        </a:rPr>
                        <a:t> </a:t>
                      </a:r>
                    </a:p>
                    <a:p>
                      <a:pPr>
                        <a:buFont typeface="+mj-lt"/>
                        <a:buAutoNum type="arabicPeriod"/>
                      </a:pPr>
                      <a:r>
                        <a:rPr lang="en-US" sz="1600" dirty="0">
                          <a:effectLst/>
                          <a:latin typeface="Arial" panose="020B0604020202020204" pitchFamily="34" charset="0"/>
                        </a:rPr>
                        <a:t>after selecting a phase, use dialogs to provide guidance on how to reach the phase</a:t>
                      </a:r>
                      <a:r>
                        <a:rPr lang="en-US" sz="1600" dirty="0">
                          <a:effectLst/>
                        </a:rPr>
                        <a:t> </a:t>
                      </a:r>
                    </a:p>
                    <a:p>
                      <a:pPr>
                        <a:buFont typeface="+mj-lt"/>
                        <a:buAutoNum type="arabicPeriod"/>
                      </a:pPr>
                      <a:r>
                        <a:rPr lang="en-US" sz="1600" dirty="0">
                          <a:effectLst/>
                          <a:latin typeface="Arial" panose="020B0604020202020204" pitchFamily="34" charset="0"/>
                        </a:rPr>
                        <a:t>not display possible phases</a:t>
                      </a:r>
                      <a:r>
                        <a:rPr lang="en-US" sz="1600" dirty="0">
                          <a:effectLst/>
                        </a:rPr>
                        <a:t> </a:t>
                      </a:r>
                    </a:p>
                    <a:p>
                      <a:pPr>
                        <a:buFont typeface="+mj-lt"/>
                        <a:buAutoNum type="arabicPeriod"/>
                      </a:pPr>
                      <a:r>
                        <a:rPr lang="en-US" sz="1600" dirty="0">
                          <a:effectLst/>
                          <a:latin typeface="Arial" panose="020B0604020202020204" pitchFamily="34" charset="0"/>
                        </a:rPr>
                        <a:t>inform the loader/operator that higher authorization levels are required to perform actions or that actions may only be performed by maintenance (more highly qualified personnel)!</a:t>
                      </a:r>
                      <a:endParaRPr lang="en-US" sz="1600" dirty="0">
                        <a:effectLst/>
                      </a:endParaRPr>
                    </a:p>
                  </a:txBody>
                  <a:tcPr marL="80580" marR="80580" marT="40290" marB="4029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5144356"/>
                  </a:ext>
                </a:extLst>
              </a:tr>
            </a:tbl>
          </a:graphicData>
        </a:graphic>
      </p:graphicFrame>
    </p:spTree>
    <p:extLst>
      <p:ext uri="{BB962C8B-B14F-4D97-AF65-F5344CB8AC3E}">
        <p14:creationId xmlns:p14="http://schemas.microsoft.com/office/powerpoint/2010/main" val="1738136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0205368" y="-55880"/>
            <a:ext cx="1775460" cy="821055"/>
            <a:chOff x="13535" y="1423"/>
            <a:chExt cx="2796" cy="1293"/>
          </a:xfrm>
        </p:grpSpPr>
        <p:sp>
          <p:nvSpPr>
            <p:cNvPr id="8" name="文本框 7"/>
            <p:cNvSpPr txBox="1"/>
            <p:nvPr/>
          </p:nvSpPr>
          <p:spPr>
            <a:xfrm>
              <a:off x="13535" y="1423"/>
              <a:ext cx="2796" cy="1210"/>
            </a:xfrm>
            <a:prstGeom prst="rect">
              <a:avLst/>
            </a:prstGeom>
            <a:noFill/>
            <a:ln w="9525">
              <a:noFill/>
            </a:ln>
          </p:spPr>
          <p:txBody>
            <a:bodyPr wrap="square">
              <a:spAutoFit/>
            </a:bodyPr>
            <a:lstStyle/>
            <a:p>
              <a:pPr indent="0"/>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L</a:t>
              </a:r>
              <a:r>
                <a:rPr lang="en-US" altLang="zh-CN" sz="44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NK</a:t>
              </a:r>
            </a:p>
          </p:txBody>
        </p:sp>
        <p:sp>
          <p:nvSpPr>
            <p:cNvPr id="9" name="文本框 8"/>
            <p:cNvSpPr txBox="1"/>
            <p:nvPr/>
          </p:nvSpPr>
          <p:spPr>
            <a:xfrm>
              <a:off x="15140" y="2354"/>
              <a:ext cx="1176" cy="362"/>
            </a:xfrm>
            <a:prstGeom prst="rect">
              <a:avLst/>
            </a:prstGeom>
            <a:noFill/>
            <a:ln w="9525">
              <a:noFill/>
            </a:ln>
          </p:spPr>
          <p:txBody>
            <a:bodyPr wrap="square">
              <a:spAutoFit/>
            </a:bodyPr>
            <a:lstStyle/>
            <a:p>
              <a:pPr indent="0"/>
              <a:r>
                <a:rPr lang="en-US" altLang="zh-CN" sz="900" b="1" i="1">
                  <a:solidFill>
                    <a:srgbClr val="016AC5"/>
                  </a:solidFill>
                  <a:latin typeface="微软雅黑" panose="020B0503020204020204" charset="-122"/>
                  <a:ea typeface="微软雅黑" panose="020B0503020204020204" charset="-122"/>
                  <a:cs typeface="微软雅黑" panose="020B0503020204020204" charset="-122"/>
                </a:rPr>
                <a:t>GROUP</a:t>
              </a:r>
            </a:p>
          </p:txBody>
        </p:sp>
      </p:grpSp>
      <p:sp>
        <p:nvSpPr>
          <p:cNvPr id="10" name="灯片编号占位符 9"/>
          <p:cNvSpPr>
            <a:spLocks noGrp="1"/>
          </p:cNvSpPr>
          <p:nvPr>
            <p:ph type="sldNum" sz="quarter" idx="12"/>
          </p:nvPr>
        </p:nvSpPr>
        <p:spPr/>
        <p:txBody>
          <a:bodyPr/>
          <a:lstStyle/>
          <a:p>
            <a:fld id="{D57F1E4F-1CFF-5643-939E-217C01CDF565}" type="slidenum">
              <a:rPr lang="en-US" dirty="0">
                <a:latin typeface="Arial Unicode MS" panose="020B0604020202020204" charset="-122"/>
                <a:ea typeface="Arial Unicode MS" panose="020B0604020202020204" charset="-122"/>
              </a:rPr>
              <a:t>5</a:t>
            </a:fld>
            <a:endParaRPr lang="en-US" dirty="0">
              <a:latin typeface="Arial Unicode MS" panose="020B0604020202020204" charset="-122"/>
              <a:ea typeface="Arial Unicode MS" panose="020B0604020202020204" charset="-122"/>
            </a:endParaRPr>
          </a:p>
        </p:txBody>
      </p:sp>
      <p:sp>
        <p:nvSpPr>
          <p:cNvPr id="5" name="TextBox 4">
            <a:extLst>
              <a:ext uri="{FF2B5EF4-FFF2-40B4-BE49-F238E27FC236}">
                <a16:creationId xmlns:a16="http://schemas.microsoft.com/office/drawing/2014/main" id="{909C6354-C0CC-2307-1D00-77020B683868}"/>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HMI - Support</a:t>
            </a:r>
          </a:p>
        </p:txBody>
      </p:sp>
      <p:pic>
        <p:nvPicPr>
          <p:cNvPr id="3" name="Picture 2">
            <a:extLst>
              <a:ext uri="{FF2B5EF4-FFF2-40B4-BE49-F238E27FC236}">
                <a16:creationId xmlns:a16="http://schemas.microsoft.com/office/drawing/2014/main" id="{11DE27CE-DD83-4C27-BEB1-BBB30445C534}"/>
              </a:ext>
            </a:extLst>
          </p:cNvPr>
          <p:cNvPicPr>
            <a:picLocks noChangeAspect="1"/>
          </p:cNvPicPr>
          <p:nvPr/>
        </p:nvPicPr>
        <p:blipFill>
          <a:blip r:embed="rId2"/>
          <a:stretch>
            <a:fillRect/>
          </a:stretch>
        </p:blipFill>
        <p:spPr>
          <a:xfrm>
            <a:off x="1510591" y="1815278"/>
            <a:ext cx="8220560" cy="2772482"/>
          </a:xfrm>
          <a:prstGeom prst="rect">
            <a:avLst/>
          </a:prstGeom>
        </p:spPr>
      </p:pic>
      <p:sp>
        <p:nvSpPr>
          <p:cNvPr id="11" name="TextBox 10">
            <a:extLst>
              <a:ext uri="{FF2B5EF4-FFF2-40B4-BE49-F238E27FC236}">
                <a16:creationId xmlns:a16="http://schemas.microsoft.com/office/drawing/2014/main" id="{80F38553-4FC9-4142-9FE7-8FE607271AEF}"/>
              </a:ext>
            </a:extLst>
          </p:cNvPr>
          <p:cNvSpPr txBox="1"/>
          <p:nvPr/>
        </p:nvSpPr>
        <p:spPr>
          <a:xfrm>
            <a:off x="602984" y="4937701"/>
            <a:ext cx="11377844" cy="1754326"/>
          </a:xfrm>
          <a:prstGeom prst="rect">
            <a:avLst/>
          </a:prstGeom>
          <a:noFill/>
        </p:spPr>
        <p:txBody>
          <a:bodyPr wrap="square">
            <a:spAutoFit/>
          </a:bodyPr>
          <a:lstStyle/>
          <a:p>
            <a:r>
              <a:rPr lang="vi-VN" dirty="0"/>
              <a:t>The station is in the welding phase (active phase: green border).</a:t>
            </a:r>
          </a:p>
          <a:p>
            <a:r>
              <a:rPr lang="vi-VN" dirty="0"/>
              <a:t>If resequencing is now selected, the loading phase is recognized as a consistent phase and resequencing can be started.</a:t>
            </a:r>
          </a:p>
          <a:p>
            <a:r>
              <a:rPr lang="vi-VN" dirty="0">
                <a:solidFill>
                  <a:srgbClr val="FF0000"/>
                </a:solidFill>
              </a:rPr>
              <a:t>Another phase can be selected manually at any time.</a:t>
            </a:r>
          </a:p>
          <a:p>
            <a:r>
              <a:rPr lang="vi-VN" dirty="0">
                <a:solidFill>
                  <a:srgbClr val="FF0000"/>
                </a:solidFill>
              </a:rPr>
              <a:t>Automatic resequencing is then no longer possible -&gt; inconsistent system state</a:t>
            </a:r>
          </a:p>
          <a:p>
            <a:endParaRPr lang="vi-VN" dirty="0"/>
          </a:p>
        </p:txBody>
      </p:sp>
      <p:sp>
        <p:nvSpPr>
          <p:cNvPr id="12" name="TextBox 11">
            <a:extLst>
              <a:ext uri="{FF2B5EF4-FFF2-40B4-BE49-F238E27FC236}">
                <a16:creationId xmlns:a16="http://schemas.microsoft.com/office/drawing/2014/main" id="{2DFF9D2B-7793-4FCE-8629-393BB23C4BB2}"/>
              </a:ext>
            </a:extLst>
          </p:cNvPr>
          <p:cNvSpPr txBox="1"/>
          <p:nvPr/>
        </p:nvSpPr>
        <p:spPr>
          <a:xfrm>
            <a:off x="1143000" y="1168947"/>
            <a:ext cx="6109854" cy="646331"/>
          </a:xfrm>
          <a:prstGeom prst="rect">
            <a:avLst/>
          </a:prstGeom>
          <a:noFill/>
        </p:spPr>
        <p:txBody>
          <a:bodyPr wrap="square">
            <a:spAutoFit/>
          </a:bodyPr>
          <a:lstStyle/>
          <a:p>
            <a:r>
              <a:rPr lang="vi-VN" b="1" dirty="0"/>
              <a:t>Consistent system state</a:t>
            </a:r>
            <a:br>
              <a:rPr lang="vi-VN" b="1" dirty="0"/>
            </a:br>
            <a:endParaRPr lang="vi-VN" dirty="0"/>
          </a:p>
        </p:txBody>
      </p:sp>
    </p:spTree>
    <p:extLst>
      <p:ext uri="{BB962C8B-B14F-4D97-AF65-F5344CB8AC3E}">
        <p14:creationId xmlns:p14="http://schemas.microsoft.com/office/powerpoint/2010/main" val="234396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0205368" y="-55880"/>
            <a:ext cx="1775460" cy="821055"/>
            <a:chOff x="13535" y="1423"/>
            <a:chExt cx="2796" cy="1293"/>
          </a:xfrm>
        </p:grpSpPr>
        <p:sp>
          <p:nvSpPr>
            <p:cNvPr id="8" name="文本框 7"/>
            <p:cNvSpPr txBox="1"/>
            <p:nvPr/>
          </p:nvSpPr>
          <p:spPr>
            <a:xfrm>
              <a:off x="13535" y="1423"/>
              <a:ext cx="2796" cy="1210"/>
            </a:xfrm>
            <a:prstGeom prst="rect">
              <a:avLst/>
            </a:prstGeom>
            <a:noFill/>
            <a:ln w="9525">
              <a:noFill/>
            </a:ln>
          </p:spPr>
          <p:txBody>
            <a:bodyPr wrap="square">
              <a:spAutoFit/>
            </a:bodyPr>
            <a:lstStyle/>
            <a:p>
              <a:pPr indent="0"/>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L</a:t>
              </a:r>
              <a:r>
                <a:rPr lang="en-US" altLang="zh-CN" sz="44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NK</a:t>
              </a:r>
            </a:p>
          </p:txBody>
        </p:sp>
        <p:sp>
          <p:nvSpPr>
            <p:cNvPr id="9" name="文本框 8"/>
            <p:cNvSpPr txBox="1"/>
            <p:nvPr/>
          </p:nvSpPr>
          <p:spPr>
            <a:xfrm>
              <a:off x="15140" y="2354"/>
              <a:ext cx="1176" cy="362"/>
            </a:xfrm>
            <a:prstGeom prst="rect">
              <a:avLst/>
            </a:prstGeom>
            <a:noFill/>
            <a:ln w="9525">
              <a:noFill/>
            </a:ln>
          </p:spPr>
          <p:txBody>
            <a:bodyPr wrap="square">
              <a:spAutoFit/>
            </a:bodyPr>
            <a:lstStyle/>
            <a:p>
              <a:pPr indent="0"/>
              <a:r>
                <a:rPr lang="en-US" altLang="zh-CN" sz="900" b="1" i="1">
                  <a:solidFill>
                    <a:srgbClr val="016AC5"/>
                  </a:solidFill>
                  <a:latin typeface="微软雅黑" panose="020B0503020204020204" charset="-122"/>
                  <a:ea typeface="微软雅黑" panose="020B0503020204020204" charset="-122"/>
                  <a:cs typeface="微软雅黑" panose="020B0503020204020204" charset="-122"/>
                </a:rPr>
                <a:t>GROUP</a:t>
              </a:r>
            </a:p>
          </p:txBody>
        </p:sp>
      </p:grpSp>
      <p:sp>
        <p:nvSpPr>
          <p:cNvPr id="10" name="灯片编号占位符 9"/>
          <p:cNvSpPr>
            <a:spLocks noGrp="1"/>
          </p:cNvSpPr>
          <p:nvPr>
            <p:ph type="sldNum" sz="quarter" idx="12"/>
          </p:nvPr>
        </p:nvSpPr>
        <p:spPr/>
        <p:txBody>
          <a:bodyPr/>
          <a:lstStyle/>
          <a:p>
            <a:fld id="{D57F1E4F-1CFF-5643-939E-217C01CDF565}" type="slidenum">
              <a:rPr lang="en-US" dirty="0">
                <a:latin typeface="Arial Unicode MS" panose="020B0604020202020204" charset="-122"/>
                <a:ea typeface="Arial Unicode MS" panose="020B0604020202020204" charset="-122"/>
              </a:rPr>
              <a:t>6</a:t>
            </a:fld>
            <a:endParaRPr lang="en-US" dirty="0">
              <a:latin typeface="Arial Unicode MS" panose="020B0604020202020204" charset="-122"/>
              <a:ea typeface="Arial Unicode MS" panose="020B0604020202020204" charset="-122"/>
            </a:endParaRPr>
          </a:p>
        </p:txBody>
      </p:sp>
      <p:sp>
        <p:nvSpPr>
          <p:cNvPr id="5" name="TextBox 4">
            <a:extLst>
              <a:ext uri="{FF2B5EF4-FFF2-40B4-BE49-F238E27FC236}">
                <a16:creationId xmlns:a16="http://schemas.microsoft.com/office/drawing/2014/main" id="{909C6354-C0CC-2307-1D00-77020B683868}"/>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Phase Definition</a:t>
            </a:r>
          </a:p>
        </p:txBody>
      </p:sp>
      <p:pic>
        <p:nvPicPr>
          <p:cNvPr id="3" name="Picture 2">
            <a:extLst>
              <a:ext uri="{FF2B5EF4-FFF2-40B4-BE49-F238E27FC236}">
                <a16:creationId xmlns:a16="http://schemas.microsoft.com/office/drawing/2014/main" id="{49AE000D-CB94-4E1B-AFDB-D46E873A0102}"/>
              </a:ext>
            </a:extLst>
          </p:cNvPr>
          <p:cNvPicPr>
            <a:picLocks noChangeAspect="1"/>
          </p:cNvPicPr>
          <p:nvPr/>
        </p:nvPicPr>
        <p:blipFill>
          <a:blip r:embed="rId2"/>
          <a:stretch>
            <a:fillRect/>
          </a:stretch>
        </p:blipFill>
        <p:spPr>
          <a:xfrm>
            <a:off x="0" y="1159654"/>
            <a:ext cx="6024853" cy="2572109"/>
          </a:xfrm>
          <a:prstGeom prst="rect">
            <a:avLst/>
          </a:prstGeom>
        </p:spPr>
      </p:pic>
      <p:sp>
        <p:nvSpPr>
          <p:cNvPr id="11" name="TextBox 10">
            <a:extLst>
              <a:ext uri="{FF2B5EF4-FFF2-40B4-BE49-F238E27FC236}">
                <a16:creationId xmlns:a16="http://schemas.microsoft.com/office/drawing/2014/main" id="{EA0B1E96-97D8-4188-BC6D-88971E514460}"/>
              </a:ext>
            </a:extLst>
          </p:cNvPr>
          <p:cNvSpPr txBox="1"/>
          <p:nvPr/>
        </p:nvSpPr>
        <p:spPr>
          <a:xfrm>
            <a:off x="57295" y="4383702"/>
            <a:ext cx="5967558" cy="2585323"/>
          </a:xfrm>
          <a:prstGeom prst="rect">
            <a:avLst/>
          </a:prstGeom>
          <a:noFill/>
        </p:spPr>
        <p:txBody>
          <a:bodyPr wrap="square">
            <a:spAutoFit/>
          </a:bodyPr>
          <a:lstStyle/>
          <a:p>
            <a:r>
              <a:rPr lang="vi-VN" dirty="0"/>
              <a:t>The machine indicates the inconsistencies in succession.</a:t>
            </a:r>
          </a:p>
          <a:p>
            <a:r>
              <a:rPr lang="vi-VN" dirty="0"/>
              <a:t>In this case, there is no valid type in the type manager.</a:t>
            </a:r>
          </a:p>
          <a:p>
            <a:r>
              <a:rPr lang="vi-VN" dirty="0"/>
              <a:t>The resequencing concept offers the following options:</a:t>
            </a:r>
          </a:p>
          <a:p>
            <a:endParaRPr lang="vi-VN" dirty="0"/>
          </a:p>
          <a:p>
            <a:pPr marL="285750" indent="-285750">
              <a:buFont typeface="Arial" panose="020B0604020202020204" pitchFamily="34" charset="0"/>
              <a:buChar char="•"/>
            </a:pPr>
            <a:r>
              <a:rPr lang="vi-VN" dirty="0"/>
              <a:t>delete / generate types</a:t>
            </a:r>
          </a:p>
          <a:p>
            <a:pPr marL="285750" indent="-285750">
              <a:buFont typeface="Arial" panose="020B0604020202020204" pitchFamily="34" charset="0"/>
              <a:buChar char="•"/>
            </a:pPr>
            <a:endParaRPr lang="vi-VN" dirty="0"/>
          </a:p>
          <a:p>
            <a:pPr marL="285750" indent="-285750">
              <a:buFont typeface="Arial" panose="020B0604020202020204" pitchFamily="34" charset="0"/>
              <a:buChar char="•"/>
            </a:pPr>
            <a:r>
              <a:rPr lang="vi-VN" dirty="0"/>
              <a:t>delete / generate finished messages.</a:t>
            </a:r>
          </a:p>
          <a:p>
            <a:endParaRPr lang="vi-VN" dirty="0"/>
          </a:p>
          <a:p>
            <a:endParaRPr lang="vi-VN" dirty="0"/>
          </a:p>
        </p:txBody>
      </p:sp>
      <p:sp>
        <p:nvSpPr>
          <p:cNvPr id="12" name="TextBox 11">
            <a:extLst>
              <a:ext uri="{FF2B5EF4-FFF2-40B4-BE49-F238E27FC236}">
                <a16:creationId xmlns:a16="http://schemas.microsoft.com/office/drawing/2014/main" id="{DFDC1D73-F3CF-478E-930D-1242788AE738}"/>
              </a:ext>
            </a:extLst>
          </p:cNvPr>
          <p:cNvSpPr txBox="1"/>
          <p:nvPr/>
        </p:nvSpPr>
        <p:spPr>
          <a:xfrm>
            <a:off x="6167149" y="4245202"/>
            <a:ext cx="6109854" cy="2862322"/>
          </a:xfrm>
          <a:prstGeom prst="rect">
            <a:avLst/>
          </a:prstGeom>
          <a:noFill/>
        </p:spPr>
        <p:txBody>
          <a:bodyPr wrap="square">
            <a:spAutoFit/>
          </a:bodyPr>
          <a:lstStyle/>
          <a:p>
            <a:r>
              <a:rPr lang="vi-VN" dirty="0"/>
              <a:t>The corresponding programming must be carried out at PLC level and is described briefly below.</a:t>
            </a:r>
          </a:p>
          <a:p>
            <a:endParaRPr lang="vi-VN" dirty="0"/>
          </a:p>
          <a:p>
            <a:r>
              <a:rPr lang="vi-VN" dirty="0">
                <a:solidFill>
                  <a:srgbClr val="FF0000"/>
                </a:solidFill>
              </a:rPr>
              <a:t>However, it is necessary to define on a project-by-project basis:</a:t>
            </a:r>
          </a:p>
          <a:p>
            <a:endParaRPr lang="vi-VN" dirty="0">
              <a:solidFill>
                <a:srgbClr val="FF0000"/>
              </a:solidFill>
            </a:endParaRPr>
          </a:p>
          <a:p>
            <a:pPr marL="285750" indent="-285750">
              <a:buFont typeface="Arial" panose="020B0604020202020204" pitchFamily="34" charset="0"/>
              <a:buChar char="•"/>
            </a:pPr>
            <a:r>
              <a:rPr lang="vi-VN" dirty="0">
                <a:solidFill>
                  <a:srgbClr val="FF0000"/>
                </a:solidFill>
              </a:rPr>
              <a:t>whether this methodology has been released</a:t>
            </a:r>
          </a:p>
          <a:p>
            <a:pPr marL="285750" indent="-285750">
              <a:buFont typeface="Arial" panose="020B0604020202020204" pitchFamily="34" charset="0"/>
              <a:buChar char="•"/>
            </a:pPr>
            <a:r>
              <a:rPr lang="vi-VN" dirty="0">
                <a:solidFill>
                  <a:srgbClr val="FF0000"/>
                </a:solidFill>
              </a:rPr>
              <a:t>if so, under which premises was it released.</a:t>
            </a:r>
          </a:p>
          <a:p>
            <a:endParaRPr lang="vi-VN" dirty="0">
              <a:solidFill>
                <a:srgbClr val="FF0000"/>
              </a:solidFill>
            </a:endParaRPr>
          </a:p>
          <a:p>
            <a:endParaRPr lang="vi-VN" dirty="0"/>
          </a:p>
        </p:txBody>
      </p:sp>
      <p:pic>
        <p:nvPicPr>
          <p:cNvPr id="14" name="Picture 13">
            <a:extLst>
              <a:ext uri="{FF2B5EF4-FFF2-40B4-BE49-F238E27FC236}">
                <a16:creationId xmlns:a16="http://schemas.microsoft.com/office/drawing/2014/main" id="{13F90CA2-02F2-4B88-830F-1F8B3C686175}"/>
              </a:ext>
            </a:extLst>
          </p:cNvPr>
          <p:cNvPicPr>
            <a:picLocks noChangeAspect="1"/>
          </p:cNvPicPr>
          <p:nvPr/>
        </p:nvPicPr>
        <p:blipFill>
          <a:blip r:embed="rId3"/>
          <a:stretch>
            <a:fillRect/>
          </a:stretch>
        </p:blipFill>
        <p:spPr>
          <a:xfrm>
            <a:off x="6275041" y="1164793"/>
            <a:ext cx="5705787" cy="2566970"/>
          </a:xfrm>
          <a:prstGeom prst="rect">
            <a:avLst/>
          </a:prstGeom>
        </p:spPr>
      </p:pic>
    </p:spTree>
    <p:extLst>
      <p:ext uri="{BB962C8B-B14F-4D97-AF65-F5344CB8AC3E}">
        <p14:creationId xmlns:p14="http://schemas.microsoft.com/office/powerpoint/2010/main" val="3066328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0205368" y="-55880"/>
            <a:ext cx="1775460" cy="821055"/>
            <a:chOff x="13535" y="1423"/>
            <a:chExt cx="2796" cy="1293"/>
          </a:xfrm>
        </p:grpSpPr>
        <p:sp>
          <p:nvSpPr>
            <p:cNvPr id="8" name="文本框 7"/>
            <p:cNvSpPr txBox="1"/>
            <p:nvPr/>
          </p:nvSpPr>
          <p:spPr>
            <a:xfrm>
              <a:off x="13535" y="1423"/>
              <a:ext cx="2796" cy="1210"/>
            </a:xfrm>
            <a:prstGeom prst="rect">
              <a:avLst/>
            </a:prstGeom>
            <a:noFill/>
            <a:ln w="9525">
              <a:noFill/>
            </a:ln>
          </p:spPr>
          <p:txBody>
            <a:bodyPr wrap="square">
              <a:spAutoFit/>
            </a:bodyPr>
            <a:lstStyle/>
            <a:p>
              <a:pPr indent="0"/>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L</a:t>
              </a:r>
              <a:r>
                <a:rPr lang="en-US" altLang="zh-CN" sz="44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NK</a:t>
              </a:r>
            </a:p>
          </p:txBody>
        </p:sp>
        <p:sp>
          <p:nvSpPr>
            <p:cNvPr id="9" name="文本框 8"/>
            <p:cNvSpPr txBox="1"/>
            <p:nvPr/>
          </p:nvSpPr>
          <p:spPr>
            <a:xfrm>
              <a:off x="15140" y="2354"/>
              <a:ext cx="1176" cy="362"/>
            </a:xfrm>
            <a:prstGeom prst="rect">
              <a:avLst/>
            </a:prstGeom>
            <a:noFill/>
            <a:ln w="9525">
              <a:noFill/>
            </a:ln>
          </p:spPr>
          <p:txBody>
            <a:bodyPr wrap="square">
              <a:spAutoFit/>
            </a:bodyPr>
            <a:lstStyle/>
            <a:p>
              <a:pPr indent="0"/>
              <a:r>
                <a:rPr lang="en-US" altLang="zh-CN" sz="900" b="1" i="1">
                  <a:solidFill>
                    <a:srgbClr val="016AC5"/>
                  </a:solidFill>
                  <a:latin typeface="微软雅黑" panose="020B0503020204020204" charset="-122"/>
                  <a:ea typeface="微软雅黑" panose="020B0503020204020204" charset="-122"/>
                  <a:cs typeface="微软雅黑" panose="020B0503020204020204" charset="-122"/>
                </a:rPr>
                <a:t>GROUP</a:t>
              </a:r>
            </a:p>
          </p:txBody>
        </p:sp>
      </p:grpSp>
      <p:sp>
        <p:nvSpPr>
          <p:cNvPr id="10" name="灯片编号占位符 9"/>
          <p:cNvSpPr>
            <a:spLocks noGrp="1"/>
          </p:cNvSpPr>
          <p:nvPr>
            <p:ph type="sldNum" sz="quarter" idx="12"/>
          </p:nvPr>
        </p:nvSpPr>
        <p:spPr/>
        <p:txBody>
          <a:bodyPr/>
          <a:lstStyle/>
          <a:p>
            <a:fld id="{D57F1E4F-1CFF-5643-939E-217C01CDF565}" type="slidenum">
              <a:rPr lang="en-US" dirty="0">
                <a:latin typeface="Arial Unicode MS" panose="020B0604020202020204" charset="-122"/>
                <a:ea typeface="Arial Unicode MS" panose="020B0604020202020204" charset="-122"/>
              </a:rPr>
              <a:t>7</a:t>
            </a:fld>
            <a:endParaRPr lang="en-US" dirty="0">
              <a:latin typeface="Arial Unicode MS" panose="020B0604020202020204" charset="-122"/>
              <a:ea typeface="Arial Unicode MS" panose="020B0604020202020204" charset="-122"/>
            </a:endParaRPr>
          </a:p>
        </p:txBody>
      </p:sp>
      <p:sp>
        <p:nvSpPr>
          <p:cNvPr id="5" name="TextBox 4">
            <a:extLst>
              <a:ext uri="{FF2B5EF4-FFF2-40B4-BE49-F238E27FC236}">
                <a16:creationId xmlns:a16="http://schemas.microsoft.com/office/drawing/2014/main" id="{909C6354-C0CC-2307-1D00-77020B683868}"/>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Phase Definition</a:t>
            </a:r>
          </a:p>
        </p:txBody>
      </p:sp>
      <p:pic>
        <p:nvPicPr>
          <p:cNvPr id="3" name="Picture 2">
            <a:extLst>
              <a:ext uri="{FF2B5EF4-FFF2-40B4-BE49-F238E27FC236}">
                <a16:creationId xmlns:a16="http://schemas.microsoft.com/office/drawing/2014/main" id="{1C2FE8CC-63CD-4783-AC09-413731CFB015}"/>
              </a:ext>
            </a:extLst>
          </p:cNvPr>
          <p:cNvPicPr>
            <a:picLocks noChangeAspect="1"/>
          </p:cNvPicPr>
          <p:nvPr/>
        </p:nvPicPr>
        <p:blipFill>
          <a:blip r:embed="rId2"/>
          <a:stretch>
            <a:fillRect/>
          </a:stretch>
        </p:blipFill>
        <p:spPr>
          <a:xfrm>
            <a:off x="462277" y="1179909"/>
            <a:ext cx="5633723" cy="4225293"/>
          </a:xfrm>
          <a:prstGeom prst="rect">
            <a:avLst/>
          </a:prstGeom>
        </p:spPr>
      </p:pic>
      <p:sp>
        <p:nvSpPr>
          <p:cNvPr id="11" name="TextBox 10">
            <a:extLst>
              <a:ext uri="{FF2B5EF4-FFF2-40B4-BE49-F238E27FC236}">
                <a16:creationId xmlns:a16="http://schemas.microsoft.com/office/drawing/2014/main" id="{E4DEB554-8B76-48A7-9C25-597AD6A444B6}"/>
              </a:ext>
            </a:extLst>
          </p:cNvPr>
          <p:cNvSpPr txBox="1"/>
          <p:nvPr/>
        </p:nvSpPr>
        <p:spPr>
          <a:xfrm>
            <a:off x="6357361" y="1449774"/>
            <a:ext cx="6178232" cy="1477328"/>
          </a:xfrm>
          <a:prstGeom prst="rect">
            <a:avLst/>
          </a:prstGeom>
          <a:noFill/>
        </p:spPr>
        <p:txBody>
          <a:bodyPr wrap="square">
            <a:spAutoFit/>
          </a:bodyPr>
          <a:lstStyle/>
          <a:p>
            <a:r>
              <a:rPr lang="vi-VN" dirty="0"/>
              <a:t>This definition is relevant to:</a:t>
            </a:r>
          </a:p>
          <a:p>
            <a:endParaRPr lang="vi-VN" dirty="0"/>
          </a:p>
          <a:p>
            <a:pPr marL="285750" indent="-285750">
              <a:buFont typeface="Arial" panose="020B0604020202020204" pitchFamily="34" charset="0"/>
              <a:buChar char="•"/>
            </a:pPr>
            <a:r>
              <a:rPr lang="vi-VN" dirty="0"/>
              <a:t>generating the overall home position phases.</a:t>
            </a:r>
          </a:p>
          <a:p>
            <a:pPr marL="285750" indent="-285750">
              <a:buFont typeface="Arial" panose="020B0604020202020204" pitchFamily="34" charset="0"/>
              <a:buChar char="•"/>
            </a:pPr>
            <a:r>
              <a:rPr lang="vi-VN" dirty="0"/>
              <a:t>animating the target state of the actuator position in manually guided resequencing.</a:t>
            </a:r>
          </a:p>
        </p:txBody>
      </p:sp>
    </p:spTree>
    <p:extLst>
      <p:ext uri="{BB962C8B-B14F-4D97-AF65-F5344CB8AC3E}">
        <p14:creationId xmlns:p14="http://schemas.microsoft.com/office/powerpoint/2010/main" val="2361570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0205368" y="-55880"/>
            <a:ext cx="1775460" cy="821055"/>
            <a:chOff x="13535" y="1423"/>
            <a:chExt cx="2796" cy="1293"/>
          </a:xfrm>
        </p:grpSpPr>
        <p:sp>
          <p:nvSpPr>
            <p:cNvPr id="8" name="文本框 7"/>
            <p:cNvSpPr txBox="1"/>
            <p:nvPr/>
          </p:nvSpPr>
          <p:spPr>
            <a:xfrm>
              <a:off x="13535" y="1423"/>
              <a:ext cx="2796" cy="1210"/>
            </a:xfrm>
            <a:prstGeom prst="rect">
              <a:avLst/>
            </a:prstGeom>
            <a:noFill/>
            <a:ln w="9525">
              <a:noFill/>
            </a:ln>
          </p:spPr>
          <p:txBody>
            <a:bodyPr wrap="square">
              <a:spAutoFit/>
            </a:bodyPr>
            <a:lstStyle/>
            <a:p>
              <a:pPr indent="0"/>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L</a:t>
              </a:r>
              <a:r>
                <a:rPr lang="en-US" altLang="zh-CN" sz="44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NK</a:t>
              </a:r>
            </a:p>
          </p:txBody>
        </p:sp>
        <p:sp>
          <p:nvSpPr>
            <p:cNvPr id="9" name="文本框 8"/>
            <p:cNvSpPr txBox="1"/>
            <p:nvPr/>
          </p:nvSpPr>
          <p:spPr>
            <a:xfrm>
              <a:off x="15140" y="2354"/>
              <a:ext cx="1176" cy="362"/>
            </a:xfrm>
            <a:prstGeom prst="rect">
              <a:avLst/>
            </a:prstGeom>
            <a:noFill/>
            <a:ln w="9525">
              <a:noFill/>
            </a:ln>
          </p:spPr>
          <p:txBody>
            <a:bodyPr wrap="square">
              <a:spAutoFit/>
            </a:bodyPr>
            <a:lstStyle/>
            <a:p>
              <a:pPr indent="0"/>
              <a:r>
                <a:rPr lang="en-US" altLang="zh-CN" sz="900" b="1" i="1">
                  <a:solidFill>
                    <a:srgbClr val="016AC5"/>
                  </a:solidFill>
                  <a:latin typeface="微软雅黑" panose="020B0503020204020204" charset="-122"/>
                  <a:ea typeface="微软雅黑" panose="020B0503020204020204" charset="-122"/>
                  <a:cs typeface="微软雅黑" panose="020B0503020204020204" charset="-122"/>
                </a:rPr>
                <a:t>GROUP</a:t>
              </a:r>
            </a:p>
          </p:txBody>
        </p:sp>
      </p:grpSp>
      <p:sp>
        <p:nvSpPr>
          <p:cNvPr id="10" name="灯片编号占位符 9"/>
          <p:cNvSpPr>
            <a:spLocks noGrp="1"/>
          </p:cNvSpPr>
          <p:nvPr>
            <p:ph type="sldNum" sz="quarter" idx="12"/>
          </p:nvPr>
        </p:nvSpPr>
        <p:spPr/>
        <p:txBody>
          <a:bodyPr/>
          <a:lstStyle/>
          <a:p>
            <a:fld id="{D57F1E4F-1CFF-5643-939E-217C01CDF565}" type="slidenum">
              <a:rPr lang="en-US" dirty="0">
                <a:latin typeface="Arial Unicode MS" panose="020B0604020202020204" charset="-122"/>
                <a:ea typeface="Arial Unicode MS" panose="020B0604020202020204" charset="-122"/>
              </a:rPr>
              <a:t>8</a:t>
            </a:fld>
            <a:endParaRPr lang="en-US" dirty="0">
              <a:latin typeface="Arial Unicode MS" panose="020B0604020202020204" charset="-122"/>
              <a:ea typeface="Arial Unicode MS" panose="020B0604020202020204" charset="-122"/>
            </a:endParaRPr>
          </a:p>
        </p:txBody>
      </p:sp>
      <p:sp>
        <p:nvSpPr>
          <p:cNvPr id="5" name="TextBox 4">
            <a:extLst>
              <a:ext uri="{FF2B5EF4-FFF2-40B4-BE49-F238E27FC236}">
                <a16:creationId xmlns:a16="http://schemas.microsoft.com/office/drawing/2014/main" id="{909C6354-C0CC-2307-1D00-77020B683868}"/>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RESEQ chain structure</a:t>
            </a:r>
          </a:p>
        </p:txBody>
      </p:sp>
      <p:pic>
        <p:nvPicPr>
          <p:cNvPr id="3" name="Picture 2">
            <a:extLst>
              <a:ext uri="{FF2B5EF4-FFF2-40B4-BE49-F238E27FC236}">
                <a16:creationId xmlns:a16="http://schemas.microsoft.com/office/drawing/2014/main" id="{5A17AA5A-FAEB-4E5C-A53B-12606EBB257B}"/>
              </a:ext>
            </a:extLst>
          </p:cNvPr>
          <p:cNvPicPr>
            <a:picLocks noChangeAspect="1"/>
          </p:cNvPicPr>
          <p:nvPr/>
        </p:nvPicPr>
        <p:blipFill>
          <a:blip r:embed="rId2"/>
          <a:stretch>
            <a:fillRect/>
          </a:stretch>
        </p:blipFill>
        <p:spPr>
          <a:xfrm>
            <a:off x="332497" y="925653"/>
            <a:ext cx="7614470" cy="3400900"/>
          </a:xfrm>
          <a:prstGeom prst="rect">
            <a:avLst/>
          </a:prstGeom>
        </p:spPr>
      </p:pic>
      <p:sp>
        <p:nvSpPr>
          <p:cNvPr id="11" name="TextBox 10">
            <a:extLst>
              <a:ext uri="{FF2B5EF4-FFF2-40B4-BE49-F238E27FC236}">
                <a16:creationId xmlns:a16="http://schemas.microsoft.com/office/drawing/2014/main" id="{EA0460F2-C35C-4898-8926-743A0015D897}"/>
              </a:ext>
            </a:extLst>
          </p:cNvPr>
          <p:cNvSpPr txBox="1"/>
          <p:nvPr/>
        </p:nvSpPr>
        <p:spPr>
          <a:xfrm>
            <a:off x="349123" y="4231897"/>
            <a:ext cx="7963604" cy="2308324"/>
          </a:xfrm>
          <a:prstGeom prst="rect">
            <a:avLst/>
          </a:prstGeom>
          <a:noFill/>
        </p:spPr>
        <p:txBody>
          <a:bodyPr wrap="square">
            <a:spAutoFit/>
          </a:bodyPr>
          <a:lstStyle/>
          <a:p>
            <a:endParaRPr lang="vi-VN" dirty="0"/>
          </a:p>
          <a:p>
            <a:r>
              <a:rPr lang="vi-VN" dirty="0"/>
              <a:t>When switching to RESEQ mode, the normal sequence chain stops at the last step or the last active steps, but output control is prevented via ZERO_OP.Only after the RESEQ process has been successfully executed and a phase (incl. actuators) has been reached is the RESEQ chain exited again as a conclusion; the normal sequence chain is initialized and the operating mode is changed to MAN.</a:t>
            </a:r>
          </a:p>
          <a:p>
            <a:endParaRPr lang="vi-VN" dirty="0"/>
          </a:p>
        </p:txBody>
      </p:sp>
      <p:sp>
        <p:nvSpPr>
          <p:cNvPr id="12" name="TextBox 11">
            <a:extLst>
              <a:ext uri="{FF2B5EF4-FFF2-40B4-BE49-F238E27FC236}">
                <a16:creationId xmlns:a16="http://schemas.microsoft.com/office/drawing/2014/main" id="{55A90432-95CB-45EC-BC8F-A36C38F65E8A}"/>
              </a:ext>
            </a:extLst>
          </p:cNvPr>
          <p:cNvSpPr txBox="1"/>
          <p:nvPr/>
        </p:nvSpPr>
        <p:spPr>
          <a:xfrm>
            <a:off x="7946967" y="1792783"/>
            <a:ext cx="4187739" cy="1477328"/>
          </a:xfrm>
          <a:prstGeom prst="rect">
            <a:avLst/>
          </a:prstGeom>
          <a:noFill/>
        </p:spPr>
        <p:txBody>
          <a:bodyPr wrap="square">
            <a:spAutoFit/>
          </a:bodyPr>
          <a:lstStyle/>
          <a:p>
            <a:r>
              <a:rPr lang="vi-VN" dirty="0"/>
              <a:t>The resequencing step sequence is always a separate step sequence. The name is more or less identical to the normal sequence chain, just the extension RESEQ instead of SEQ.</a:t>
            </a:r>
          </a:p>
        </p:txBody>
      </p:sp>
    </p:spTree>
    <p:extLst>
      <p:ext uri="{BB962C8B-B14F-4D97-AF65-F5344CB8AC3E}">
        <p14:creationId xmlns:p14="http://schemas.microsoft.com/office/powerpoint/2010/main" val="3692921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0205368" y="-55880"/>
            <a:ext cx="1775460" cy="821055"/>
            <a:chOff x="13535" y="1423"/>
            <a:chExt cx="2796" cy="1293"/>
          </a:xfrm>
        </p:grpSpPr>
        <p:sp>
          <p:nvSpPr>
            <p:cNvPr id="8" name="文本框 7"/>
            <p:cNvSpPr txBox="1"/>
            <p:nvPr/>
          </p:nvSpPr>
          <p:spPr>
            <a:xfrm>
              <a:off x="13535" y="1423"/>
              <a:ext cx="2796" cy="1210"/>
            </a:xfrm>
            <a:prstGeom prst="rect">
              <a:avLst/>
            </a:prstGeom>
            <a:noFill/>
            <a:ln w="9525">
              <a:noFill/>
            </a:ln>
          </p:spPr>
          <p:txBody>
            <a:bodyPr wrap="square">
              <a:spAutoFit/>
            </a:bodyPr>
            <a:lstStyle/>
            <a:p>
              <a:pPr indent="0"/>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L</a:t>
              </a:r>
              <a:r>
                <a:rPr lang="en-US" altLang="zh-CN" sz="44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NK</a:t>
              </a:r>
            </a:p>
          </p:txBody>
        </p:sp>
        <p:sp>
          <p:nvSpPr>
            <p:cNvPr id="9" name="文本框 8"/>
            <p:cNvSpPr txBox="1"/>
            <p:nvPr/>
          </p:nvSpPr>
          <p:spPr>
            <a:xfrm>
              <a:off x="15140" y="2354"/>
              <a:ext cx="1176" cy="362"/>
            </a:xfrm>
            <a:prstGeom prst="rect">
              <a:avLst/>
            </a:prstGeom>
            <a:noFill/>
            <a:ln w="9525">
              <a:noFill/>
            </a:ln>
          </p:spPr>
          <p:txBody>
            <a:bodyPr wrap="square">
              <a:spAutoFit/>
            </a:bodyPr>
            <a:lstStyle/>
            <a:p>
              <a:pPr indent="0"/>
              <a:r>
                <a:rPr lang="en-US" altLang="zh-CN" sz="900" b="1" i="1">
                  <a:solidFill>
                    <a:srgbClr val="016AC5"/>
                  </a:solidFill>
                  <a:latin typeface="微软雅黑" panose="020B0503020204020204" charset="-122"/>
                  <a:ea typeface="微软雅黑" panose="020B0503020204020204" charset="-122"/>
                  <a:cs typeface="微软雅黑" panose="020B0503020204020204" charset="-122"/>
                </a:rPr>
                <a:t>GROUP</a:t>
              </a:r>
            </a:p>
          </p:txBody>
        </p:sp>
      </p:grpSp>
      <p:sp>
        <p:nvSpPr>
          <p:cNvPr id="10" name="灯片编号占位符 9"/>
          <p:cNvSpPr>
            <a:spLocks noGrp="1"/>
          </p:cNvSpPr>
          <p:nvPr>
            <p:ph type="sldNum" sz="quarter" idx="12"/>
          </p:nvPr>
        </p:nvSpPr>
        <p:spPr/>
        <p:txBody>
          <a:bodyPr/>
          <a:lstStyle/>
          <a:p>
            <a:fld id="{D57F1E4F-1CFF-5643-939E-217C01CDF565}" type="slidenum">
              <a:rPr lang="en-US" dirty="0">
                <a:latin typeface="Arial Unicode MS" panose="020B0604020202020204" charset="-122"/>
                <a:ea typeface="Arial Unicode MS" panose="020B0604020202020204" charset="-122"/>
              </a:rPr>
              <a:t>9</a:t>
            </a:fld>
            <a:endParaRPr lang="en-US" dirty="0">
              <a:latin typeface="Arial Unicode MS" panose="020B0604020202020204" charset="-122"/>
              <a:ea typeface="Arial Unicode MS" panose="020B0604020202020204" charset="-122"/>
            </a:endParaRPr>
          </a:p>
        </p:txBody>
      </p:sp>
      <p:sp>
        <p:nvSpPr>
          <p:cNvPr id="5" name="TextBox 4">
            <a:extLst>
              <a:ext uri="{FF2B5EF4-FFF2-40B4-BE49-F238E27FC236}">
                <a16:creationId xmlns:a16="http://schemas.microsoft.com/office/drawing/2014/main" id="{909C6354-C0CC-2307-1D00-77020B683868}"/>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Further RESEQ elements</a:t>
            </a:r>
          </a:p>
        </p:txBody>
      </p:sp>
      <p:sp>
        <p:nvSpPr>
          <p:cNvPr id="11" name="TextBox 10">
            <a:extLst>
              <a:ext uri="{FF2B5EF4-FFF2-40B4-BE49-F238E27FC236}">
                <a16:creationId xmlns:a16="http://schemas.microsoft.com/office/drawing/2014/main" id="{528FF909-1822-445F-9E8B-2CBC5EE76B62}"/>
              </a:ext>
            </a:extLst>
          </p:cNvPr>
          <p:cNvSpPr txBox="1"/>
          <p:nvPr/>
        </p:nvSpPr>
        <p:spPr>
          <a:xfrm>
            <a:off x="261851" y="1020680"/>
            <a:ext cx="6109854" cy="369332"/>
          </a:xfrm>
          <a:prstGeom prst="rect">
            <a:avLst/>
          </a:prstGeom>
          <a:noFill/>
        </p:spPr>
        <p:txBody>
          <a:bodyPr wrap="square">
            <a:spAutoFit/>
          </a:bodyPr>
          <a:lstStyle/>
          <a:p>
            <a:r>
              <a:rPr lang="vi-VN" b="1" dirty="0"/>
              <a:t>Delete/generate type</a:t>
            </a:r>
            <a:endParaRPr lang="vi-VN" dirty="0"/>
          </a:p>
        </p:txBody>
      </p:sp>
      <p:pic>
        <p:nvPicPr>
          <p:cNvPr id="4" name="Picture 3">
            <a:extLst>
              <a:ext uri="{FF2B5EF4-FFF2-40B4-BE49-F238E27FC236}">
                <a16:creationId xmlns:a16="http://schemas.microsoft.com/office/drawing/2014/main" id="{1C7EBEDC-D3EF-4DA6-B396-FD922C955B52}"/>
              </a:ext>
            </a:extLst>
          </p:cNvPr>
          <p:cNvPicPr>
            <a:picLocks noChangeAspect="1"/>
          </p:cNvPicPr>
          <p:nvPr/>
        </p:nvPicPr>
        <p:blipFill>
          <a:blip r:embed="rId2"/>
          <a:stretch>
            <a:fillRect/>
          </a:stretch>
        </p:blipFill>
        <p:spPr>
          <a:xfrm>
            <a:off x="462277" y="1536890"/>
            <a:ext cx="4709644" cy="4945519"/>
          </a:xfrm>
          <a:prstGeom prst="rect">
            <a:avLst/>
          </a:prstGeom>
        </p:spPr>
      </p:pic>
      <p:sp>
        <p:nvSpPr>
          <p:cNvPr id="13" name="TextBox 12">
            <a:extLst>
              <a:ext uri="{FF2B5EF4-FFF2-40B4-BE49-F238E27FC236}">
                <a16:creationId xmlns:a16="http://schemas.microsoft.com/office/drawing/2014/main" id="{FF21F385-CA19-4490-84B6-F23FF0FAEA45}"/>
              </a:ext>
            </a:extLst>
          </p:cNvPr>
          <p:cNvSpPr txBox="1"/>
          <p:nvPr/>
        </p:nvSpPr>
        <p:spPr>
          <a:xfrm>
            <a:off x="5376478" y="1105512"/>
            <a:ext cx="6758228" cy="5909310"/>
          </a:xfrm>
          <a:prstGeom prst="rect">
            <a:avLst/>
          </a:prstGeom>
          <a:noFill/>
        </p:spPr>
        <p:txBody>
          <a:bodyPr wrap="square">
            <a:spAutoFit/>
          </a:bodyPr>
          <a:lstStyle/>
          <a:p>
            <a:r>
              <a:rPr lang="vi-VN" dirty="0"/>
              <a:t>The type information is part of each phase definition.</a:t>
            </a:r>
          </a:p>
          <a:p>
            <a:r>
              <a:rPr lang="vi-VN" dirty="0"/>
              <a:t>If a phase is selected for resequencing for which the type status is incorrect, there are button functions</a:t>
            </a:r>
          </a:p>
          <a:p>
            <a:r>
              <a:rPr lang="vi-VN" dirty="0"/>
              <a:t>for establishing the required type status:   Generate type or delete type.</a:t>
            </a:r>
          </a:p>
          <a:p>
            <a:endParaRPr lang="vi-VN" dirty="0"/>
          </a:p>
          <a:p>
            <a:endParaRPr lang="vi-VN" dirty="0"/>
          </a:p>
          <a:p>
            <a:r>
              <a:rPr lang="vi-VN" dirty="0"/>
              <a:t>The programming required for type generation is shown below:</a:t>
            </a:r>
          </a:p>
          <a:p>
            <a:endParaRPr lang="vi-VN" dirty="0"/>
          </a:p>
          <a:p>
            <a:r>
              <a:rPr lang="vi-VN" dirty="0"/>
              <a:t>The logic consists exclusively of signals from standard blocks:</a:t>
            </a:r>
          </a:p>
          <a:p>
            <a:endParaRPr lang="vi-VN" dirty="0"/>
          </a:p>
          <a:p>
            <a:pPr marL="285750" indent="-285750">
              <a:buFont typeface="Arial" panose="020B0604020202020204" pitchFamily="34" charset="0"/>
              <a:buChar char="•"/>
            </a:pPr>
            <a:r>
              <a:rPr lang="vi-VN" dirty="0"/>
              <a:t>SENS blocks</a:t>
            </a:r>
          </a:p>
          <a:p>
            <a:pPr marL="285750" indent="-285750">
              <a:buFont typeface="Arial" panose="020B0604020202020204" pitchFamily="34" charset="0"/>
              <a:buChar char="•"/>
            </a:pPr>
            <a:r>
              <a:rPr lang="vi-VN" dirty="0"/>
              <a:t>TYPE_DATA_PLACE_FB</a:t>
            </a:r>
          </a:p>
          <a:p>
            <a:r>
              <a:rPr lang="vi-VN" dirty="0"/>
              <a:t>Premises:</a:t>
            </a:r>
          </a:p>
          <a:p>
            <a:endParaRPr lang="vi-VN" dirty="0"/>
          </a:p>
          <a:p>
            <a:pPr marL="285750" indent="-285750">
              <a:buFont typeface="Arial" panose="020B0604020202020204" pitchFamily="34" charset="0"/>
              <a:buChar char="•"/>
            </a:pPr>
            <a:r>
              <a:rPr lang="vi-VN" dirty="0"/>
              <a:t>Generate type:   component present, a valid type can be determined via the BTK assignment</a:t>
            </a:r>
          </a:p>
          <a:p>
            <a:endParaRPr lang="vi-VN" dirty="0"/>
          </a:p>
          <a:p>
            <a:r>
              <a:rPr lang="vi-VN" dirty="0"/>
              <a:t>Delete type:  no component present, BTK assignment does not correspond to an empty tool</a:t>
            </a:r>
          </a:p>
          <a:p>
            <a:endParaRPr lang="vi-VN" dirty="0"/>
          </a:p>
        </p:txBody>
      </p:sp>
    </p:spTree>
    <p:extLst>
      <p:ext uri="{BB962C8B-B14F-4D97-AF65-F5344CB8AC3E}">
        <p14:creationId xmlns:p14="http://schemas.microsoft.com/office/powerpoint/2010/main" val="2152401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0205368" y="-55880"/>
            <a:ext cx="1775460" cy="821055"/>
            <a:chOff x="13535" y="1423"/>
            <a:chExt cx="2796" cy="1293"/>
          </a:xfrm>
        </p:grpSpPr>
        <p:sp>
          <p:nvSpPr>
            <p:cNvPr id="8" name="文本框 7"/>
            <p:cNvSpPr txBox="1"/>
            <p:nvPr/>
          </p:nvSpPr>
          <p:spPr>
            <a:xfrm>
              <a:off x="13535" y="1423"/>
              <a:ext cx="2796" cy="1210"/>
            </a:xfrm>
            <a:prstGeom prst="rect">
              <a:avLst/>
            </a:prstGeom>
            <a:noFill/>
            <a:ln w="9525">
              <a:noFill/>
            </a:ln>
          </p:spPr>
          <p:txBody>
            <a:bodyPr wrap="square">
              <a:spAutoFit/>
            </a:bodyPr>
            <a:lstStyle/>
            <a:p>
              <a:pPr indent="0"/>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L</a:t>
              </a:r>
              <a:r>
                <a:rPr lang="en-US" altLang="zh-CN" sz="44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NK</a:t>
              </a:r>
            </a:p>
          </p:txBody>
        </p:sp>
        <p:sp>
          <p:nvSpPr>
            <p:cNvPr id="9" name="文本框 8"/>
            <p:cNvSpPr txBox="1"/>
            <p:nvPr/>
          </p:nvSpPr>
          <p:spPr>
            <a:xfrm>
              <a:off x="15140" y="2354"/>
              <a:ext cx="1176" cy="362"/>
            </a:xfrm>
            <a:prstGeom prst="rect">
              <a:avLst/>
            </a:prstGeom>
            <a:noFill/>
            <a:ln w="9525">
              <a:noFill/>
            </a:ln>
          </p:spPr>
          <p:txBody>
            <a:bodyPr wrap="square">
              <a:spAutoFit/>
            </a:bodyPr>
            <a:lstStyle/>
            <a:p>
              <a:pPr indent="0"/>
              <a:r>
                <a:rPr lang="en-US" altLang="zh-CN" sz="900" b="1" i="1">
                  <a:solidFill>
                    <a:srgbClr val="016AC5"/>
                  </a:solidFill>
                  <a:latin typeface="微软雅黑" panose="020B0503020204020204" charset="-122"/>
                  <a:ea typeface="微软雅黑" panose="020B0503020204020204" charset="-122"/>
                  <a:cs typeface="微软雅黑" panose="020B0503020204020204" charset="-122"/>
                </a:rPr>
                <a:t>GROUP</a:t>
              </a:r>
            </a:p>
          </p:txBody>
        </p:sp>
      </p:grpSp>
      <p:sp>
        <p:nvSpPr>
          <p:cNvPr id="10" name="灯片编号占位符 9"/>
          <p:cNvSpPr>
            <a:spLocks noGrp="1"/>
          </p:cNvSpPr>
          <p:nvPr>
            <p:ph type="sldNum" sz="quarter" idx="12"/>
          </p:nvPr>
        </p:nvSpPr>
        <p:spPr/>
        <p:txBody>
          <a:bodyPr/>
          <a:lstStyle/>
          <a:p>
            <a:fld id="{D57F1E4F-1CFF-5643-939E-217C01CDF565}" type="slidenum">
              <a:rPr lang="en-US" dirty="0">
                <a:latin typeface="Arial Unicode MS" panose="020B0604020202020204" charset="-122"/>
                <a:ea typeface="Arial Unicode MS" panose="020B0604020202020204" charset="-122"/>
              </a:rPr>
              <a:t>10</a:t>
            </a:fld>
            <a:endParaRPr lang="en-US" dirty="0">
              <a:latin typeface="Arial Unicode MS" panose="020B0604020202020204" charset="-122"/>
              <a:ea typeface="Arial Unicode MS" panose="020B0604020202020204" charset="-122"/>
            </a:endParaRPr>
          </a:p>
        </p:txBody>
      </p:sp>
      <p:sp>
        <p:nvSpPr>
          <p:cNvPr id="5" name="TextBox 4">
            <a:extLst>
              <a:ext uri="{FF2B5EF4-FFF2-40B4-BE49-F238E27FC236}">
                <a16:creationId xmlns:a16="http://schemas.microsoft.com/office/drawing/2014/main" id="{909C6354-C0CC-2307-1D00-77020B683868}"/>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Further RESEQ elements</a:t>
            </a:r>
          </a:p>
        </p:txBody>
      </p:sp>
      <p:sp>
        <p:nvSpPr>
          <p:cNvPr id="11" name="TextBox 10">
            <a:extLst>
              <a:ext uri="{FF2B5EF4-FFF2-40B4-BE49-F238E27FC236}">
                <a16:creationId xmlns:a16="http://schemas.microsoft.com/office/drawing/2014/main" id="{B28ECCBF-9A84-4A77-ACCF-1F08F601F206}"/>
              </a:ext>
            </a:extLst>
          </p:cNvPr>
          <p:cNvSpPr txBox="1"/>
          <p:nvPr/>
        </p:nvSpPr>
        <p:spPr>
          <a:xfrm>
            <a:off x="344978" y="1087181"/>
            <a:ext cx="6109854" cy="369332"/>
          </a:xfrm>
          <a:prstGeom prst="rect">
            <a:avLst/>
          </a:prstGeom>
          <a:noFill/>
        </p:spPr>
        <p:txBody>
          <a:bodyPr wrap="square">
            <a:spAutoFit/>
          </a:bodyPr>
          <a:lstStyle/>
          <a:p>
            <a:r>
              <a:rPr lang="vi-VN" b="1" dirty="0"/>
              <a:t>Delete/generate finished messages</a:t>
            </a:r>
            <a:endParaRPr lang="vi-VN" dirty="0"/>
          </a:p>
        </p:txBody>
      </p:sp>
      <p:sp>
        <p:nvSpPr>
          <p:cNvPr id="12" name="TextBox 11">
            <a:extLst>
              <a:ext uri="{FF2B5EF4-FFF2-40B4-BE49-F238E27FC236}">
                <a16:creationId xmlns:a16="http://schemas.microsoft.com/office/drawing/2014/main" id="{4E5B547B-2740-4377-ACC9-D5341AB28C97}"/>
              </a:ext>
            </a:extLst>
          </p:cNvPr>
          <p:cNvSpPr txBox="1"/>
          <p:nvPr/>
        </p:nvSpPr>
        <p:spPr>
          <a:xfrm>
            <a:off x="310843" y="1736126"/>
            <a:ext cx="6109854" cy="3693319"/>
          </a:xfrm>
          <a:prstGeom prst="rect">
            <a:avLst/>
          </a:prstGeom>
          <a:noFill/>
        </p:spPr>
        <p:txBody>
          <a:bodyPr wrap="square">
            <a:spAutoFit/>
          </a:bodyPr>
          <a:lstStyle/>
          <a:p>
            <a:r>
              <a:rPr lang="vi-VN" dirty="0"/>
              <a:t> The process status is part of each phase definition.</a:t>
            </a:r>
          </a:p>
          <a:p>
            <a:r>
              <a:rPr lang="vi-VN" dirty="0"/>
              <a:t>If a phase is selected for resequencing for which the process status is incorrect, there are button functions</a:t>
            </a:r>
          </a:p>
          <a:p>
            <a:r>
              <a:rPr lang="vi-VN" dirty="0"/>
              <a:t>for establishing the required process status:   Generate or delete process finished message.</a:t>
            </a:r>
          </a:p>
          <a:p>
            <a:endParaRPr lang="vi-VN" dirty="0"/>
          </a:p>
          <a:p>
            <a:r>
              <a:rPr lang="vi-VN" dirty="0"/>
              <a:t>The logic consists exclusively of signals from standard blocks:</a:t>
            </a:r>
          </a:p>
          <a:p>
            <a:endParaRPr lang="vi-VN" dirty="0"/>
          </a:p>
          <a:p>
            <a:pPr marL="285750" indent="-285750">
              <a:buFont typeface="Arial" panose="020B0604020202020204" pitchFamily="34" charset="0"/>
              <a:buChar char="•"/>
            </a:pPr>
            <a:r>
              <a:rPr lang="vi-VN" dirty="0"/>
              <a:t>SENS blocks</a:t>
            </a:r>
          </a:p>
          <a:p>
            <a:pPr marL="285750" indent="-285750">
              <a:buFont typeface="Arial" panose="020B0604020202020204" pitchFamily="34" charset="0"/>
              <a:buChar char="•"/>
            </a:pPr>
            <a:r>
              <a:rPr lang="vi-VN" dirty="0"/>
              <a:t>TYPE_DATA_PLACE_FB</a:t>
            </a:r>
          </a:p>
          <a:p>
            <a:r>
              <a:rPr lang="vi-VN" dirty="0"/>
              <a:t>The explicit setting/resetting is programmed at the sequence interface of the TYP_FM_PROZESS_FB:</a:t>
            </a:r>
          </a:p>
        </p:txBody>
      </p:sp>
      <p:pic>
        <p:nvPicPr>
          <p:cNvPr id="6" name="Picture 5">
            <a:extLst>
              <a:ext uri="{FF2B5EF4-FFF2-40B4-BE49-F238E27FC236}">
                <a16:creationId xmlns:a16="http://schemas.microsoft.com/office/drawing/2014/main" id="{4A7C4AAB-9808-43D5-9ACA-A7E0747190A7}"/>
              </a:ext>
            </a:extLst>
          </p:cNvPr>
          <p:cNvPicPr>
            <a:picLocks noChangeAspect="1"/>
          </p:cNvPicPr>
          <p:nvPr/>
        </p:nvPicPr>
        <p:blipFill>
          <a:blip r:embed="rId2"/>
          <a:stretch>
            <a:fillRect/>
          </a:stretch>
        </p:blipFill>
        <p:spPr>
          <a:xfrm>
            <a:off x="6976985" y="971508"/>
            <a:ext cx="3591426" cy="1733792"/>
          </a:xfrm>
          <a:prstGeom prst="rect">
            <a:avLst/>
          </a:prstGeom>
        </p:spPr>
      </p:pic>
      <p:pic>
        <p:nvPicPr>
          <p:cNvPr id="14" name="Picture 13">
            <a:extLst>
              <a:ext uri="{FF2B5EF4-FFF2-40B4-BE49-F238E27FC236}">
                <a16:creationId xmlns:a16="http://schemas.microsoft.com/office/drawing/2014/main" id="{C142459F-C7C0-46C3-91D2-ABF2A8800287}"/>
              </a:ext>
            </a:extLst>
          </p:cNvPr>
          <p:cNvPicPr>
            <a:picLocks noChangeAspect="1"/>
          </p:cNvPicPr>
          <p:nvPr/>
        </p:nvPicPr>
        <p:blipFill>
          <a:blip r:embed="rId3"/>
          <a:stretch>
            <a:fillRect/>
          </a:stretch>
        </p:blipFill>
        <p:spPr>
          <a:xfrm>
            <a:off x="6976985" y="2964338"/>
            <a:ext cx="3781953" cy="3648584"/>
          </a:xfrm>
          <a:prstGeom prst="rect">
            <a:avLst/>
          </a:prstGeom>
        </p:spPr>
      </p:pic>
    </p:spTree>
    <p:extLst>
      <p:ext uri="{BB962C8B-B14F-4D97-AF65-F5344CB8AC3E}">
        <p14:creationId xmlns:p14="http://schemas.microsoft.com/office/powerpoint/2010/main" val="498215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0205368" y="-55880"/>
            <a:ext cx="1775460" cy="821055"/>
            <a:chOff x="13535" y="1423"/>
            <a:chExt cx="2796" cy="1293"/>
          </a:xfrm>
        </p:grpSpPr>
        <p:sp>
          <p:nvSpPr>
            <p:cNvPr id="8" name="文本框 7"/>
            <p:cNvSpPr txBox="1"/>
            <p:nvPr/>
          </p:nvSpPr>
          <p:spPr>
            <a:xfrm>
              <a:off x="13535" y="1423"/>
              <a:ext cx="2796" cy="1210"/>
            </a:xfrm>
            <a:prstGeom prst="rect">
              <a:avLst/>
            </a:prstGeom>
            <a:noFill/>
            <a:ln w="9525">
              <a:noFill/>
            </a:ln>
          </p:spPr>
          <p:txBody>
            <a:bodyPr wrap="square">
              <a:spAutoFit/>
            </a:bodyPr>
            <a:lstStyle/>
            <a:p>
              <a:pPr indent="0"/>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L</a:t>
              </a:r>
              <a:r>
                <a:rPr lang="en-US" altLang="zh-CN" sz="44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NK</a:t>
              </a:r>
            </a:p>
          </p:txBody>
        </p:sp>
        <p:sp>
          <p:nvSpPr>
            <p:cNvPr id="9" name="文本框 8"/>
            <p:cNvSpPr txBox="1"/>
            <p:nvPr/>
          </p:nvSpPr>
          <p:spPr>
            <a:xfrm>
              <a:off x="15140" y="2354"/>
              <a:ext cx="1176" cy="362"/>
            </a:xfrm>
            <a:prstGeom prst="rect">
              <a:avLst/>
            </a:prstGeom>
            <a:noFill/>
            <a:ln w="9525">
              <a:noFill/>
            </a:ln>
          </p:spPr>
          <p:txBody>
            <a:bodyPr wrap="square">
              <a:spAutoFit/>
            </a:bodyPr>
            <a:lstStyle/>
            <a:p>
              <a:pPr indent="0"/>
              <a:r>
                <a:rPr lang="en-US" altLang="zh-CN" sz="900" b="1" i="1">
                  <a:solidFill>
                    <a:srgbClr val="016AC5"/>
                  </a:solidFill>
                  <a:latin typeface="微软雅黑" panose="020B0503020204020204" charset="-122"/>
                  <a:ea typeface="微软雅黑" panose="020B0503020204020204" charset="-122"/>
                  <a:cs typeface="微软雅黑" panose="020B0503020204020204" charset="-122"/>
                </a:rPr>
                <a:t>GROUP</a:t>
              </a:r>
            </a:p>
          </p:txBody>
        </p:sp>
      </p:grpSp>
      <p:sp>
        <p:nvSpPr>
          <p:cNvPr id="10" name="灯片编号占位符 9"/>
          <p:cNvSpPr>
            <a:spLocks noGrp="1"/>
          </p:cNvSpPr>
          <p:nvPr>
            <p:ph type="sldNum" sz="quarter" idx="12"/>
          </p:nvPr>
        </p:nvSpPr>
        <p:spPr/>
        <p:txBody>
          <a:bodyPr/>
          <a:lstStyle/>
          <a:p>
            <a:fld id="{D57F1E4F-1CFF-5643-939E-217C01CDF565}" type="slidenum">
              <a:rPr lang="en-US" dirty="0">
                <a:latin typeface="Arial Unicode MS" panose="020B0604020202020204" charset="-122"/>
                <a:ea typeface="Arial Unicode MS" panose="020B0604020202020204" charset="-122"/>
              </a:rPr>
              <a:t>11</a:t>
            </a:fld>
            <a:endParaRPr lang="en-US" dirty="0">
              <a:latin typeface="Arial Unicode MS" panose="020B0604020202020204" charset="-122"/>
              <a:ea typeface="Arial Unicode MS" panose="020B0604020202020204" charset="-122"/>
            </a:endParaRPr>
          </a:p>
        </p:txBody>
      </p:sp>
      <p:sp>
        <p:nvSpPr>
          <p:cNvPr id="5" name="TextBox 4">
            <a:extLst>
              <a:ext uri="{FF2B5EF4-FFF2-40B4-BE49-F238E27FC236}">
                <a16:creationId xmlns:a16="http://schemas.microsoft.com/office/drawing/2014/main" id="{909C6354-C0CC-2307-1D00-77020B683868}"/>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Programming details</a:t>
            </a:r>
          </a:p>
        </p:txBody>
      </p:sp>
      <p:sp>
        <p:nvSpPr>
          <p:cNvPr id="11" name="TextBox 10">
            <a:extLst>
              <a:ext uri="{FF2B5EF4-FFF2-40B4-BE49-F238E27FC236}">
                <a16:creationId xmlns:a16="http://schemas.microsoft.com/office/drawing/2014/main" id="{7F65B34B-FE64-473F-A6B9-3E4AB04DAF29}"/>
              </a:ext>
            </a:extLst>
          </p:cNvPr>
          <p:cNvSpPr txBox="1"/>
          <p:nvPr/>
        </p:nvSpPr>
        <p:spPr>
          <a:xfrm>
            <a:off x="150159" y="1105851"/>
            <a:ext cx="6109446" cy="2862322"/>
          </a:xfrm>
          <a:prstGeom prst="rect">
            <a:avLst/>
          </a:prstGeom>
          <a:noFill/>
        </p:spPr>
        <p:txBody>
          <a:bodyPr wrap="square">
            <a:spAutoFit/>
          </a:bodyPr>
          <a:lstStyle/>
          <a:p>
            <a:r>
              <a:rPr lang="vi-VN" dirty="0"/>
              <a:t>As stated in the Phases section,the production sequence is structured in phases! </a:t>
            </a:r>
          </a:p>
          <a:p>
            <a:r>
              <a:rPr lang="vi-VN" dirty="0"/>
              <a:t>The individual phases, therefore, are synchronization points at which a system restart must be possible.</a:t>
            </a:r>
          </a:p>
          <a:p>
            <a:endParaRPr lang="vi-VN" dirty="0"/>
          </a:p>
          <a:p>
            <a:endParaRPr lang="vi-VN" dirty="0"/>
          </a:p>
          <a:p>
            <a:endParaRPr lang="vi-VN" dirty="0"/>
          </a:p>
          <a:p>
            <a:r>
              <a:rPr lang="vi-VN" dirty="0"/>
              <a:t>Fulfilled phases, then, are step sequence basic positions and act directly affect the overall basic position of a FG!</a:t>
            </a:r>
          </a:p>
          <a:p>
            <a:endParaRPr lang="vi-VN" dirty="0"/>
          </a:p>
        </p:txBody>
      </p:sp>
      <p:pic>
        <p:nvPicPr>
          <p:cNvPr id="4" name="Picture 3">
            <a:extLst>
              <a:ext uri="{FF2B5EF4-FFF2-40B4-BE49-F238E27FC236}">
                <a16:creationId xmlns:a16="http://schemas.microsoft.com/office/drawing/2014/main" id="{9C0CAE5C-39DA-4C6E-A5DF-17CA59B792F0}"/>
              </a:ext>
            </a:extLst>
          </p:cNvPr>
          <p:cNvPicPr>
            <a:picLocks noChangeAspect="1"/>
          </p:cNvPicPr>
          <p:nvPr/>
        </p:nvPicPr>
        <p:blipFill>
          <a:blip r:embed="rId2"/>
          <a:stretch>
            <a:fillRect/>
          </a:stretch>
        </p:blipFill>
        <p:spPr>
          <a:xfrm>
            <a:off x="6554245" y="955501"/>
            <a:ext cx="4166348" cy="5476422"/>
          </a:xfrm>
          <a:prstGeom prst="rect">
            <a:avLst/>
          </a:prstGeom>
        </p:spPr>
      </p:pic>
    </p:spTree>
    <p:extLst>
      <p:ext uri="{BB962C8B-B14F-4D97-AF65-F5344CB8AC3E}">
        <p14:creationId xmlns:p14="http://schemas.microsoft.com/office/powerpoint/2010/main" val="2238399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0205368" y="-55880"/>
            <a:ext cx="1775460" cy="821055"/>
            <a:chOff x="13535" y="1423"/>
            <a:chExt cx="2796" cy="1293"/>
          </a:xfrm>
        </p:grpSpPr>
        <p:sp>
          <p:nvSpPr>
            <p:cNvPr id="8" name="文本框 7"/>
            <p:cNvSpPr txBox="1"/>
            <p:nvPr/>
          </p:nvSpPr>
          <p:spPr>
            <a:xfrm>
              <a:off x="13535" y="1423"/>
              <a:ext cx="2796" cy="1210"/>
            </a:xfrm>
            <a:prstGeom prst="rect">
              <a:avLst/>
            </a:prstGeom>
            <a:noFill/>
            <a:ln w="9525">
              <a:noFill/>
            </a:ln>
          </p:spPr>
          <p:txBody>
            <a:bodyPr wrap="square">
              <a:spAutoFit/>
            </a:bodyPr>
            <a:lstStyle/>
            <a:p>
              <a:pPr indent="0"/>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L</a:t>
              </a:r>
              <a:r>
                <a:rPr lang="en-US" altLang="zh-CN" sz="44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NK</a:t>
              </a:r>
            </a:p>
          </p:txBody>
        </p:sp>
        <p:sp>
          <p:nvSpPr>
            <p:cNvPr id="9" name="文本框 8"/>
            <p:cNvSpPr txBox="1"/>
            <p:nvPr/>
          </p:nvSpPr>
          <p:spPr>
            <a:xfrm>
              <a:off x="15140" y="2354"/>
              <a:ext cx="1176" cy="362"/>
            </a:xfrm>
            <a:prstGeom prst="rect">
              <a:avLst/>
            </a:prstGeom>
            <a:noFill/>
            <a:ln w="9525">
              <a:noFill/>
            </a:ln>
          </p:spPr>
          <p:txBody>
            <a:bodyPr wrap="square">
              <a:spAutoFit/>
            </a:bodyPr>
            <a:lstStyle/>
            <a:p>
              <a:pPr indent="0"/>
              <a:r>
                <a:rPr lang="en-US" altLang="zh-CN" sz="900" b="1" i="1">
                  <a:solidFill>
                    <a:srgbClr val="016AC5"/>
                  </a:solidFill>
                  <a:latin typeface="微软雅黑" panose="020B0503020204020204" charset="-122"/>
                  <a:ea typeface="微软雅黑" panose="020B0503020204020204" charset="-122"/>
                  <a:cs typeface="微软雅黑" panose="020B0503020204020204" charset="-122"/>
                </a:rPr>
                <a:t>GROUP</a:t>
              </a:r>
            </a:p>
          </p:txBody>
        </p:sp>
      </p:grpSp>
      <p:sp>
        <p:nvSpPr>
          <p:cNvPr id="10" name="灯片编号占位符 9"/>
          <p:cNvSpPr>
            <a:spLocks noGrp="1"/>
          </p:cNvSpPr>
          <p:nvPr>
            <p:ph type="sldNum" sz="quarter" idx="12"/>
          </p:nvPr>
        </p:nvSpPr>
        <p:spPr/>
        <p:txBody>
          <a:bodyPr/>
          <a:lstStyle/>
          <a:p>
            <a:fld id="{D57F1E4F-1CFF-5643-939E-217C01CDF565}" type="slidenum">
              <a:rPr lang="en-US" dirty="0">
                <a:latin typeface="Arial Unicode MS" panose="020B0604020202020204" charset="-122"/>
                <a:ea typeface="Arial Unicode MS" panose="020B0604020202020204" charset="-122"/>
              </a:rPr>
              <a:t>12</a:t>
            </a:fld>
            <a:endParaRPr lang="en-US" dirty="0">
              <a:latin typeface="Arial Unicode MS" panose="020B0604020202020204" charset="-122"/>
              <a:ea typeface="Arial Unicode MS" panose="020B0604020202020204" charset="-122"/>
            </a:endParaRPr>
          </a:p>
        </p:txBody>
      </p:sp>
      <p:sp>
        <p:nvSpPr>
          <p:cNvPr id="5" name="TextBox 4">
            <a:extLst>
              <a:ext uri="{FF2B5EF4-FFF2-40B4-BE49-F238E27FC236}">
                <a16:creationId xmlns:a16="http://schemas.microsoft.com/office/drawing/2014/main" id="{909C6354-C0CC-2307-1D00-77020B683868}"/>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Software Structure</a:t>
            </a:r>
          </a:p>
        </p:txBody>
      </p:sp>
      <p:sp>
        <p:nvSpPr>
          <p:cNvPr id="11" name="TextBox 10">
            <a:extLst>
              <a:ext uri="{FF2B5EF4-FFF2-40B4-BE49-F238E27FC236}">
                <a16:creationId xmlns:a16="http://schemas.microsoft.com/office/drawing/2014/main" id="{82A6E5A2-3674-409F-89F4-262F29E9ACC8}"/>
              </a:ext>
            </a:extLst>
          </p:cNvPr>
          <p:cNvSpPr txBox="1"/>
          <p:nvPr/>
        </p:nvSpPr>
        <p:spPr>
          <a:xfrm>
            <a:off x="332740" y="1076611"/>
            <a:ext cx="11801966" cy="1200329"/>
          </a:xfrm>
          <a:prstGeom prst="rect">
            <a:avLst/>
          </a:prstGeom>
          <a:noFill/>
        </p:spPr>
        <p:txBody>
          <a:bodyPr wrap="square">
            <a:spAutoFit/>
          </a:bodyPr>
          <a:lstStyle/>
          <a:p>
            <a:r>
              <a:rPr lang="vi-VN" dirty="0"/>
              <a:t> The basic idea of the program structure of the GSC standard is to map the system structure </a:t>
            </a:r>
          </a:p>
          <a:p>
            <a:r>
              <a:rPr lang="vi-VN" dirty="0"/>
              <a:t>using the identification system.</a:t>
            </a:r>
            <a:endParaRPr lang="en-US" dirty="0"/>
          </a:p>
          <a:p>
            <a:endParaRPr lang="vi-VN" dirty="0"/>
          </a:p>
          <a:p>
            <a:r>
              <a:rPr lang="vi-VN" dirty="0"/>
              <a:t> </a:t>
            </a:r>
          </a:p>
        </p:txBody>
      </p:sp>
      <p:pic>
        <p:nvPicPr>
          <p:cNvPr id="4" name="Picture 3">
            <a:extLst>
              <a:ext uri="{FF2B5EF4-FFF2-40B4-BE49-F238E27FC236}">
                <a16:creationId xmlns:a16="http://schemas.microsoft.com/office/drawing/2014/main" id="{51DB33D7-D87F-49A5-AEBC-C421F4FCE888}"/>
              </a:ext>
            </a:extLst>
          </p:cNvPr>
          <p:cNvPicPr>
            <a:picLocks noChangeAspect="1"/>
          </p:cNvPicPr>
          <p:nvPr/>
        </p:nvPicPr>
        <p:blipFill>
          <a:blip r:embed="rId2"/>
          <a:stretch>
            <a:fillRect/>
          </a:stretch>
        </p:blipFill>
        <p:spPr>
          <a:xfrm>
            <a:off x="7109210" y="1676775"/>
            <a:ext cx="3581900" cy="5048955"/>
          </a:xfrm>
          <a:prstGeom prst="rect">
            <a:avLst/>
          </a:prstGeom>
        </p:spPr>
      </p:pic>
      <p:sp>
        <p:nvSpPr>
          <p:cNvPr id="12" name="TextBox 11">
            <a:extLst>
              <a:ext uri="{FF2B5EF4-FFF2-40B4-BE49-F238E27FC236}">
                <a16:creationId xmlns:a16="http://schemas.microsoft.com/office/drawing/2014/main" id="{8580779B-0ACE-460E-9F93-E7AC95CB2126}"/>
              </a:ext>
            </a:extLst>
          </p:cNvPr>
          <p:cNvSpPr txBox="1"/>
          <p:nvPr/>
        </p:nvSpPr>
        <p:spPr>
          <a:xfrm>
            <a:off x="122482" y="1946761"/>
            <a:ext cx="6430717" cy="3970318"/>
          </a:xfrm>
          <a:prstGeom prst="rect">
            <a:avLst/>
          </a:prstGeom>
          <a:noFill/>
        </p:spPr>
        <p:txBody>
          <a:bodyPr wrap="square">
            <a:spAutoFit/>
          </a:bodyPr>
          <a:lstStyle/>
          <a:p>
            <a:r>
              <a:rPr lang="vi-VN" dirty="0"/>
              <a:t>Areas with a common operating mode are formed based on the levels in the identification system, which are also made dependent on faults in the corresponding level in</a:t>
            </a:r>
            <a:r>
              <a:rPr lang="en-US" dirty="0"/>
              <a:t> </a:t>
            </a:r>
            <a:r>
              <a:rPr lang="vi-VN" dirty="0"/>
              <a:t>the call structure of the TIA project.</a:t>
            </a:r>
            <a:endParaRPr lang="en-US" dirty="0"/>
          </a:p>
          <a:p>
            <a:endParaRPr lang="vi-VN" dirty="0"/>
          </a:p>
          <a:p>
            <a:r>
              <a:rPr lang="vi-VN" dirty="0"/>
              <a:t> So there is the superimposed station ++ST000. Disturbances at this level affect the overall operating mode of the PLC.</a:t>
            </a:r>
            <a:endParaRPr lang="en-US" dirty="0"/>
          </a:p>
          <a:p>
            <a:endParaRPr lang="en-US" dirty="0"/>
          </a:p>
          <a:p>
            <a:r>
              <a:rPr lang="vi-VN" dirty="0"/>
              <a:t> Faults in lower levels, such as in the ++ST010, only affect the operating mode area of the ++ST010.</a:t>
            </a:r>
            <a:endParaRPr lang="en-US" dirty="0"/>
          </a:p>
          <a:p>
            <a:endParaRPr lang="vi-VN" dirty="0"/>
          </a:p>
          <a:p>
            <a:r>
              <a:rPr lang="vi-VN" dirty="0"/>
              <a:t> The concept of fault inheritance is also reflected for the selection of the areas on the HMI for manual operation.</a:t>
            </a:r>
          </a:p>
          <a:p>
            <a:r>
              <a:rPr lang="vi-VN" dirty="0"/>
              <a:t> </a:t>
            </a:r>
          </a:p>
        </p:txBody>
      </p:sp>
    </p:spTree>
    <p:extLst>
      <p:ext uri="{BB962C8B-B14F-4D97-AF65-F5344CB8AC3E}">
        <p14:creationId xmlns:p14="http://schemas.microsoft.com/office/powerpoint/2010/main" val="4265264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82624" y="1099185"/>
            <a:ext cx="2986405" cy="810260"/>
          </a:xfrm>
          <a:prstGeom prst="rect">
            <a:avLst/>
          </a:prstGeom>
          <a:noFill/>
        </p:spPr>
        <p:txBody>
          <a:bodyPr wrap="square" rtlCol="0">
            <a:spAutoFit/>
          </a:bodyPr>
          <a:lstStyle/>
          <a:p>
            <a:pPr algn="ctr">
              <a:lnSpc>
                <a:spcPct val="130000"/>
              </a:lnSpc>
            </a:pPr>
            <a:r>
              <a:rPr lang="en-US" altLang="zh-CN" b="1" dirty="0">
                <a:solidFill>
                  <a:srgbClr val="0070C0"/>
                </a:solidFill>
                <a:latin typeface="Arial MT Std" panose="020B0802020202020204" charset="0"/>
                <a:ea typeface="Arial Unicode MS" panose="020B0604020202020204" charset="-122"/>
              </a:rPr>
              <a:t>L</a:t>
            </a:r>
            <a:r>
              <a:rPr lang="en-US" altLang="zh-CN" b="1" dirty="0">
                <a:solidFill>
                  <a:srgbClr val="FF0000"/>
                </a:solidFill>
                <a:latin typeface="Arial MT Std" panose="020B0802020202020204" charset="0"/>
                <a:ea typeface="Arial Unicode MS" panose="020B0604020202020204" charset="-122"/>
              </a:rPr>
              <a:t>I</a:t>
            </a:r>
            <a:r>
              <a:rPr lang="en-US" altLang="zh-CN" b="1" dirty="0">
                <a:solidFill>
                  <a:srgbClr val="0070C0"/>
                </a:solidFill>
                <a:latin typeface="Arial MT Std" panose="020B0802020202020204" charset="0"/>
                <a:ea typeface="Arial Unicode MS" panose="020B0604020202020204" charset="-122"/>
              </a:rPr>
              <a:t>NK</a:t>
            </a:r>
            <a:r>
              <a:rPr lang="en-US" altLang="zh-CN" b="1" dirty="0">
                <a:latin typeface="Arial MT Std" panose="020B0802020202020204" charset="0"/>
                <a:ea typeface="Arial Unicode MS" panose="020B0604020202020204" charset="-122"/>
              </a:rPr>
              <a:t> </a:t>
            </a:r>
            <a:r>
              <a:rPr lang="en-US" altLang="zh-CN" b="1" dirty="0">
                <a:solidFill>
                  <a:srgbClr val="0070C0"/>
                </a:solidFill>
                <a:latin typeface="Arial MT Std" panose="020B0802020202020204" charset="0"/>
                <a:ea typeface="Arial Unicode MS" panose="020B0604020202020204" charset="-122"/>
              </a:rPr>
              <a:t>Group Headquarter</a:t>
            </a:r>
          </a:p>
          <a:p>
            <a:pPr algn="ctr">
              <a:lnSpc>
                <a:spcPct val="130000"/>
              </a:lnSpc>
            </a:pPr>
            <a:r>
              <a:rPr lang="en-US" altLang="zh-CN" b="1" dirty="0">
                <a:solidFill>
                  <a:srgbClr val="0070C0"/>
                </a:solidFill>
                <a:latin typeface="Arial MT Std" panose="020B0802020202020204" charset="0"/>
                <a:ea typeface="Arial Unicode MS" panose="020B0604020202020204" charset="-122"/>
              </a:rPr>
              <a:t>Shanghai, China </a:t>
            </a:r>
            <a:endParaRPr lang="en-US" altLang="zh-CN" dirty="0">
              <a:solidFill>
                <a:srgbClr val="0070C0"/>
              </a:solidFill>
              <a:latin typeface="Arial" panose="020B0604020202020204" pitchFamily="34" charset="0"/>
              <a:ea typeface="Arial Unicode MS" panose="020B0604020202020204" charset="-122"/>
            </a:endParaRPr>
          </a:p>
        </p:txBody>
      </p:sp>
      <p:pic>
        <p:nvPicPr>
          <p:cNvPr id="71" name="图片 70" descr="LINK封面1改1111"/>
          <p:cNvPicPr>
            <a:picLocks noChangeAspect="1"/>
          </p:cNvPicPr>
          <p:nvPr/>
        </p:nvPicPr>
        <p:blipFill>
          <a:blip r:embed="rId2"/>
          <a:srcRect l="70401" t="12295" r="11041" b="71499"/>
          <a:stretch>
            <a:fillRect/>
          </a:stretch>
        </p:blipFill>
        <p:spPr>
          <a:xfrm>
            <a:off x="10258425" y="73025"/>
            <a:ext cx="1493520" cy="734060"/>
          </a:xfrm>
          <a:prstGeom prst="rect">
            <a:avLst/>
          </a:prstGeom>
        </p:spPr>
      </p:pic>
      <p:sp>
        <p:nvSpPr>
          <p:cNvPr id="2" name="文本框 1"/>
          <p:cNvSpPr txBox="1"/>
          <p:nvPr/>
        </p:nvSpPr>
        <p:spPr>
          <a:xfrm>
            <a:off x="587058" y="238760"/>
            <a:ext cx="1791970" cy="460375"/>
          </a:xfrm>
          <a:prstGeom prst="rect">
            <a:avLst/>
          </a:prstGeom>
          <a:noFill/>
        </p:spPr>
        <p:txBody>
          <a:bodyPr wrap="none" rtlCol="0">
            <a:spAutoFit/>
          </a:bodyPr>
          <a:lstStyle/>
          <a:p>
            <a:pPr algn="l"/>
            <a:r>
              <a:rPr lang="en-US" altLang="zh-CN" sz="2400" b="1" dirty="0">
                <a:solidFill>
                  <a:schemeClr val="bg1"/>
                </a:solidFill>
                <a:uFillTx/>
                <a:latin typeface="Arial MT Std" panose="020B0802020202020204" charset="0"/>
                <a:ea typeface="Arial Unicode MS" panose="020B0604020202020204" charset="-122"/>
                <a:sym typeface="+mn-ea"/>
              </a:rPr>
              <a:t>C</a:t>
            </a:r>
            <a:r>
              <a:rPr lang="en-US" altLang="zh-CN" sz="2400" b="1" dirty="0">
                <a:solidFill>
                  <a:schemeClr val="bg1"/>
                </a:solidFill>
                <a:latin typeface="Arial MT Std" panose="020B0802020202020204" charset="0"/>
                <a:ea typeface="Arial Unicode MS" panose="020B0604020202020204" charset="-122"/>
                <a:sym typeface="+mn-ea"/>
              </a:rPr>
              <a:t>ontact Us</a:t>
            </a:r>
          </a:p>
        </p:txBody>
      </p:sp>
      <p:grpSp>
        <p:nvGrpSpPr>
          <p:cNvPr id="50" name="组合 49"/>
          <p:cNvGrpSpPr/>
          <p:nvPr/>
        </p:nvGrpSpPr>
        <p:grpSpPr>
          <a:xfrm>
            <a:off x="852805" y="2623185"/>
            <a:ext cx="2970530" cy="3374390"/>
            <a:chOff x="913" y="4001"/>
            <a:chExt cx="4678" cy="5314"/>
          </a:xfrm>
        </p:grpSpPr>
        <p:sp>
          <p:nvSpPr>
            <p:cNvPr id="9" name="任意多边形 8"/>
            <p:cNvSpPr/>
            <p:nvPr/>
          </p:nvSpPr>
          <p:spPr>
            <a:xfrm>
              <a:off x="913" y="4001"/>
              <a:ext cx="4577" cy="5314"/>
            </a:xfrm>
            <a:custGeom>
              <a:avLst/>
              <a:gdLst>
                <a:gd name="connsiteX0" fmla="*/ 0 w 4577"/>
                <a:gd name="connsiteY0" fmla="*/ 268 h 4985"/>
                <a:gd name="connsiteX1" fmla="*/ 179 w 4577"/>
                <a:gd name="connsiteY1" fmla="*/ 0 h 4985"/>
                <a:gd name="connsiteX2" fmla="*/ 4398 w 4577"/>
                <a:gd name="connsiteY2" fmla="*/ 0 h 4985"/>
                <a:gd name="connsiteX3" fmla="*/ 4577 w 4577"/>
                <a:gd name="connsiteY3" fmla="*/ 268 h 4985"/>
                <a:gd name="connsiteX4" fmla="*/ 4565 w 4577"/>
                <a:gd name="connsiteY4" fmla="*/ 4734 h 4985"/>
                <a:gd name="connsiteX5" fmla="*/ 4429 w 4577"/>
                <a:gd name="connsiteY5" fmla="*/ 4985 h 4985"/>
                <a:gd name="connsiteX6" fmla="*/ 177 w 4577"/>
                <a:gd name="connsiteY6" fmla="*/ 4982 h 4985"/>
                <a:gd name="connsiteX7" fmla="*/ 10 w 4577"/>
                <a:gd name="connsiteY7" fmla="*/ 4771 h 4985"/>
                <a:gd name="connsiteX8" fmla="*/ 0 w 4577"/>
                <a:gd name="connsiteY8" fmla="*/ 268 h 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7" h="4985">
                  <a:moveTo>
                    <a:pt x="0" y="268"/>
                  </a:moveTo>
                  <a:cubicBezTo>
                    <a:pt x="0" y="120"/>
                    <a:pt x="80" y="0"/>
                    <a:pt x="179" y="0"/>
                  </a:cubicBezTo>
                  <a:lnTo>
                    <a:pt x="4398" y="0"/>
                  </a:lnTo>
                  <a:cubicBezTo>
                    <a:pt x="4497" y="0"/>
                    <a:pt x="4577" y="120"/>
                    <a:pt x="4577" y="268"/>
                  </a:cubicBezTo>
                  <a:lnTo>
                    <a:pt x="4565" y="4734"/>
                  </a:lnTo>
                  <a:cubicBezTo>
                    <a:pt x="4565" y="4882"/>
                    <a:pt x="4528" y="4985"/>
                    <a:pt x="4429" y="4985"/>
                  </a:cubicBezTo>
                  <a:lnTo>
                    <a:pt x="177" y="4982"/>
                  </a:lnTo>
                  <a:cubicBezTo>
                    <a:pt x="78" y="4982"/>
                    <a:pt x="10" y="4919"/>
                    <a:pt x="10" y="4771"/>
                  </a:cubicBezTo>
                  <a:lnTo>
                    <a:pt x="0" y="268"/>
                  </a:lnTo>
                  <a:close/>
                </a:path>
              </a:pathLst>
            </a:custGeom>
            <a:noFill/>
            <a:ln>
              <a:solidFill>
                <a:srgbClr val="016AC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5653f3e7356a7-02"/>
            <p:cNvPicPr>
              <a:picLocks noChangeAspect="1"/>
            </p:cNvPicPr>
            <p:nvPr/>
          </p:nvPicPr>
          <p:blipFill>
            <a:blip r:embed="rId3"/>
            <a:stretch>
              <a:fillRect/>
            </a:stretch>
          </p:blipFill>
          <p:spPr>
            <a:xfrm>
              <a:off x="1004" y="5273"/>
              <a:ext cx="717" cy="632"/>
            </a:xfrm>
            <a:prstGeom prst="rect">
              <a:avLst/>
            </a:prstGeom>
          </p:spPr>
        </p:pic>
        <p:pic>
          <p:nvPicPr>
            <p:cNvPr id="8" name="图片 7" descr="5653f3e7356a7-03"/>
            <p:cNvPicPr>
              <a:picLocks noChangeAspect="1"/>
            </p:cNvPicPr>
            <p:nvPr/>
          </p:nvPicPr>
          <p:blipFill>
            <a:blip r:embed="rId4"/>
            <a:stretch>
              <a:fillRect/>
            </a:stretch>
          </p:blipFill>
          <p:spPr>
            <a:xfrm>
              <a:off x="1004" y="4609"/>
              <a:ext cx="712" cy="627"/>
            </a:xfrm>
            <a:prstGeom prst="rect">
              <a:avLst/>
            </a:prstGeom>
          </p:spPr>
        </p:pic>
        <p:sp>
          <p:nvSpPr>
            <p:cNvPr id="12" name="文本框 11"/>
            <p:cNvSpPr txBox="1"/>
            <p:nvPr/>
          </p:nvSpPr>
          <p:spPr>
            <a:xfrm>
              <a:off x="1026" y="4178"/>
              <a:ext cx="1464" cy="483"/>
            </a:xfrm>
            <a:prstGeom prst="rect">
              <a:avLst/>
            </a:prstGeom>
            <a:noFill/>
          </p:spPr>
          <p:txBody>
            <a:bodyPr wrap="square" rtlCol="0">
              <a:spAutoFit/>
            </a:bodyPr>
            <a:lstStyle/>
            <a:p>
              <a:r>
                <a:rPr lang="en-US" altLang="zh-CN" sz="1400" b="1" dirty="0">
                  <a:solidFill>
                    <a:srgbClr val="0070C0"/>
                  </a:solidFill>
                  <a:latin typeface="Arial" panose="020B0604020202020204" pitchFamily="34" charset="0"/>
                  <a:ea typeface="Arial Unicode MS" panose="020B0604020202020204" charset="-122"/>
                  <a:sym typeface="+mn-ea"/>
                </a:rPr>
                <a:t>Enquiry </a:t>
              </a:r>
            </a:p>
          </p:txBody>
        </p:sp>
        <p:sp>
          <p:nvSpPr>
            <p:cNvPr id="15" name="文本框 14"/>
            <p:cNvSpPr txBox="1"/>
            <p:nvPr/>
          </p:nvSpPr>
          <p:spPr>
            <a:xfrm>
              <a:off x="1603" y="4729"/>
              <a:ext cx="3388"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ying.liu@LKautomation.com</a:t>
              </a:r>
            </a:p>
          </p:txBody>
        </p:sp>
        <p:sp>
          <p:nvSpPr>
            <p:cNvPr id="16" name="文本框 15"/>
            <p:cNvSpPr txBox="1"/>
            <p:nvPr/>
          </p:nvSpPr>
          <p:spPr>
            <a:xfrm>
              <a:off x="1603" y="5454"/>
              <a:ext cx="2787"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+86 021  6918 0161</a:t>
              </a:r>
            </a:p>
          </p:txBody>
        </p:sp>
        <p:sp>
          <p:nvSpPr>
            <p:cNvPr id="17" name="文本框 16"/>
            <p:cNvSpPr txBox="1"/>
            <p:nvPr/>
          </p:nvSpPr>
          <p:spPr>
            <a:xfrm>
              <a:off x="1026" y="5905"/>
              <a:ext cx="1111" cy="483"/>
            </a:xfrm>
            <a:prstGeom prst="rect">
              <a:avLst/>
            </a:prstGeom>
            <a:noFill/>
          </p:spPr>
          <p:txBody>
            <a:bodyPr wrap="square" rtlCol="0">
              <a:spAutoFit/>
            </a:bodyPr>
            <a:lstStyle/>
            <a:p>
              <a:r>
                <a:rPr lang="en-US" altLang="zh-CN" sz="1400" b="1" dirty="0">
                  <a:solidFill>
                    <a:srgbClr val="0070C0"/>
                  </a:solidFill>
                  <a:latin typeface="Arial" panose="020B0604020202020204" pitchFamily="34" charset="0"/>
                  <a:ea typeface="Arial Unicode MS" panose="020B0604020202020204" charset="-122"/>
                  <a:sym typeface="+mn-ea"/>
                </a:rPr>
                <a:t>Sales</a:t>
              </a:r>
            </a:p>
          </p:txBody>
        </p:sp>
        <p:sp>
          <p:nvSpPr>
            <p:cNvPr id="19" name="文本框 18"/>
            <p:cNvSpPr txBox="1"/>
            <p:nvPr/>
          </p:nvSpPr>
          <p:spPr>
            <a:xfrm>
              <a:off x="1603" y="6496"/>
              <a:ext cx="3988"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gene.zhang@LKautomation.com</a:t>
              </a:r>
            </a:p>
          </p:txBody>
        </p:sp>
        <p:sp>
          <p:nvSpPr>
            <p:cNvPr id="20" name="文本框 19"/>
            <p:cNvSpPr txBox="1"/>
            <p:nvPr/>
          </p:nvSpPr>
          <p:spPr>
            <a:xfrm>
              <a:off x="1603" y="7127"/>
              <a:ext cx="2787" cy="459"/>
            </a:xfrm>
            <a:prstGeom prst="rect">
              <a:avLst/>
            </a:prstGeom>
            <a:noFill/>
          </p:spPr>
          <p:txBody>
            <a:bodyPr wrap="square" rtlCol="0">
              <a:spAutoFit/>
            </a:bodyPr>
            <a:lstStyle/>
            <a:p>
              <a:pPr>
                <a:lnSpc>
                  <a:spcPct val="130000"/>
                </a:lnSpc>
              </a:pPr>
              <a:r>
                <a:rPr lang="en-US" altLang="zh-CN" sz="1000" dirty="0">
                  <a:solidFill>
                    <a:srgbClr val="016AC5"/>
                  </a:solidFill>
                  <a:latin typeface="Arial" panose="020B0604020202020204" pitchFamily="34" charset="0"/>
                  <a:ea typeface="Arial Unicode MS" panose="020B0604020202020204" charset="-122"/>
                  <a:sym typeface="+mn-ea"/>
                </a:rPr>
                <a:t>+86 136 2179 1621</a:t>
              </a:r>
            </a:p>
          </p:txBody>
        </p:sp>
        <p:sp>
          <p:nvSpPr>
            <p:cNvPr id="25" name="文本框 24"/>
            <p:cNvSpPr txBox="1"/>
            <p:nvPr/>
          </p:nvSpPr>
          <p:spPr>
            <a:xfrm>
              <a:off x="1004" y="7670"/>
              <a:ext cx="4486" cy="1567"/>
            </a:xfrm>
            <a:prstGeom prst="rect">
              <a:avLst/>
            </a:prstGeom>
            <a:noFill/>
          </p:spPr>
          <p:txBody>
            <a:bodyPr wrap="square" rtlCol="0">
              <a:spAutoFit/>
            </a:bodyPr>
            <a:lstStyle/>
            <a:p>
              <a:pPr>
                <a:lnSpc>
                  <a:spcPct val="130000"/>
                </a:lnSpc>
              </a:pPr>
              <a:r>
                <a:rPr lang="en-US" altLang="zh-CN" sz="1400" b="1" dirty="0">
                  <a:solidFill>
                    <a:srgbClr val="0070C0"/>
                  </a:solidFill>
                  <a:latin typeface="Arial" panose="020B0604020202020204" pitchFamily="34" charset="0"/>
                  <a:ea typeface="Arial Unicode MS" panose="020B0604020202020204" charset="-122"/>
                  <a:sym typeface="+mn-ea"/>
                </a:rPr>
                <a:t>Address</a:t>
              </a:r>
            </a:p>
            <a:p>
              <a:pPr>
                <a:lnSpc>
                  <a:spcPct val="130000"/>
                </a:lnSpc>
              </a:pPr>
              <a:r>
                <a:rPr lang="en-US" altLang="zh-CN" sz="1000" dirty="0">
                  <a:solidFill>
                    <a:srgbClr val="016AC5"/>
                  </a:solidFill>
                  <a:latin typeface="Arial" panose="020B0604020202020204" pitchFamily="34" charset="0"/>
                  <a:ea typeface="Arial Unicode MS" panose="020B0604020202020204" charset="-122"/>
                  <a:sym typeface="+mn-ea"/>
                </a:rPr>
                <a:t>BLDG #D,North </a:t>
              </a:r>
              <a:r>
                <a:rPr lang="en-US" altLang="zh-CN" sz="1000" dirty="0" err="1">
                  <a:solidFill>
                    <a:srgbClr val="016AC5"/>
                  </a:solidFill>
                  <a:latin typeface="Arial" panose="020B0604020202020204" pitchFamily="34" charset="0"/>
                  <a:ea typeface="Arial Unicode MS" panose="020B0604020202020204" charset="-122"/>
                  <a:sym typeface="+mn-ea"/>
                </a:rPr>
                <a:t>Jiasong</a:t>
              </a:r>
              <a:r>
                <a:rPr lang="en-US" altLang="zh-CN" sz="1000" dirty="0">
                  <a:solidFill>
                    <a:srgbClr val="016AC5"/>
                  </a:solidFill>
                  <a:latin typeface="Arial" panose="020B0604020202020204" pitchFamily="34" charset="0"/>
                  <a:ea typeface="Arial Unicode MS" panose="020B0604020202020204" charset="-122"/>
                  <a:sym typeface="+mn-ea"/>
                </a:rPr>
                <a:t> Road No.3570 Jiading District,Shanghai,</a:t>
              </a:r>
              <a:r>
                <a:rPr lang="en-US" altLang="zh-CN" sz="1000" dirty="0" err="1">
                  <a:solidFill>
                    <a:srgbClr val="016AC5"/>
                  </a:solidFill>
                  <a:latin typeface="Arial" panose="020B0604020202020204" pitchFamily="34" charset="0"/>
                  <a:ea typeface="Arial Unicode MS" panose="020B0604020202020204" charset="-122"/>
                  <a:sym typeface="+mn-ea"/>
                </a:rPr>
                <a:t>P.R.China</a:t>
              </a:r>
              <a:r>
                <a:rPr lang="en-US" altLang="zh-CN" sz="1200" dirty="0">
                  <a:solidFill>
                    <a:srgbClr val="016AC5"/>
                  </a:solidFill>
                  <a:latin typeface="Arial" panose="020B0604020202020204" pitchFamily="34" charset="0"/>
                  <a:ea typeface="Arial Unicode MS" panose="020B0604020202020204" charset="-122"/>
                  <a:sym typeface="+mn-ea"/>
                </a:rPr>
                <a:t> </a:t>
              </a:r>
            </a:p>
            <a:p>
              <a:endParaRPr lang="en-US" altLang="zh-CN" sz="1200" dirty="0">
                <a:solidFill>
                  <a:srgbClr val="016AC5"/>
                </a:solidFill>
                <a:latin typeface="Arial" panose="020B0604020202020204" pitchFamily="34" charset="0"/>
                <a:ea typeface="Arial Unicode MS" panose="020B0604020202020204" charset="-122"/>
                <a:sym typeface="+mn-ea"/>
              </a:endParaRPr>
            </a:p>
          </p:txBody>
        </p:sp>
        <p:pic>
          <p:nvPicPr>
            <p:cNvPr id="11" name="图片 10" descr="5653f3e7356a7-02"/>
            <p:cNvPicPr>
              <a:picLocks noChangeAspect="1"/>
            </p:cNvPicPr>
            <p:nvPr/>
          </p:nvPicPr>
          <p:blipFill>
            <a:blip r:embed="rId3"/>
            <a:stretch>
              <a:fillRect/>
            </a:stretch>
          </p:blipFill>
          <p:spPr>
            <a:xfrm>
              <a:off x="1004" y="7040"/>
              <a:ext cx="717" cy="632"/>
            </a:xfrm>
            <a:prstGeom prst="rect">
              <a:avLst/>
            </a:prstGeom>
          </p:spPr>
        </p:pic>
        <p:pic>
          <p:nvPicPr>
            <p:cNvPr id="13" name="图片 12" descr="5653f3e7356a7-03"/>
            <p:cNvPicPr>
              <a:picLocks noChangeAspect="1"/>
            </p:cNvPicPr>
            <p:nvPr/>
          </p:nvPicPr>
          <p:blipFill>
            <a:blip r:embed="rId4"/>
            <a:stretch>
              <a:fillRect/>
            </a:stretch>
          </p:blipFill>
          <p:spPr>
            <a:xfrm>
              <a:off x="1004" y="6376"/>
              <a:ext cx="712" cy="627"/>
            </a:xfrm>
            <a:prstGeom prst="rect">
              <a:avLst/>
            </a:prstGeom>
          </p:spPr>
        </p:pic>
      </p:grpSp>
      <p:sp>
        <p:nvSpPr>
          <p:cNvPr id="22" name="文本框 21"/>
          <p:cNvSpPr txBox="1"/>
          <p:nvPr/>
        </p:nvSpPr>
        <p:spPr>
          <a:xfrm>
            <a:off x="3904932" y="1099185"/>
            <a:ext cx="4370070" cy="810260"/>
          </a:xfrm>
          <a:prstGeom prst="rect">
            <a:avLst/>
          </a:prstGeom>
          <a:noFill/>
        </p:spPr>
        <p:txBody>
          <a:bodyPr wrap="square" rtlCol="0">
            <a:spAutoFit/>
          </a:bodyPr>
          <a:lstStyle/>
          <a:p>
            <a:pPr algn="ctr">
              <a:lnSpc>
                <a:spcPct val="130000"/>
              </a:lnSpc>
            </a:pPr>
            <a:r>
              <a:rPr lang="en-US" altLang="zh-CN" b="1" kern="600" dirty="0">
                <a:solidFill>
                  <a:srgbClr val="0070C0"/>
                </a:solidFill>
                <a:latin typeface="Arial MT Std" panose="020B0802020202020204" charset="0"/>
                <a:ea typeface="Arial Unicode MS" panose="020B0604020202020204" charset="-122"/>
                <a:sym typeface="+mn-ea"/>
              </a:rPr>
              <a:t>L</a:t>
            </a:r>
            <a:r>
              <a:rPr lang="en-US" altLang="zh-CN" b="1" kern="600" dirty="0">
                <a:solidFill>
                  <a:srgbClr val="FF0000"/>
                </a:solidFill>
                <a:latin typeface="Arial MT Std" panose="020B0802020202020204" charset="0"/>
                <a:ea typeface="Arial Unicode MS" panose="020B0604020202020204" charset="-122"/>
                <a:sym typeface="+mn-ea"/>
              </a:rPr>
              <a:t>I</a:t>
            </a:r>
            <a:r>
              <a:rPr lang="en-US" altLang="zh-CN" b="1" kern="600" dirty="0">
                <a:solidFill>
                  <a:srgbClr val="0070C0"/>
                </a:solidFill>
                <a:latin typeface="Arial MT Std" panose="020B0802020202020204" charset="0"/>
                <a:ea typeface="Arial Unicode MS" panose="020B0604020202020204" charset="-122"/>
                <a:sym typeface="+mn-ea"/>
              </a:rPr>
              <a:t>NK</a:t>
            </a:r>
            <a:r>
              <a:rPr lang="en-US" altLang="zh-CN" b="1" kern="600" dirty="0">
                <a:latin typeface="Arial MT Std" panose="020B0802020202020204" charset="0"/>
                <a:ea typeface="Arial Unicode MS" panose="020B0604020202020204" charset="-122"/>
                <a:sym typeface="+mn-ea"/>
              </a:rPr>
              <a:t> </a:t>
            </a:r>
            <a:r>
              <a:rPr lang="en-US" altLang="zh-CN" b="1" kern="600" dirty="0">
                <a:solidFill>
                  <a:srgbClr val="0070C0"/>
                </a:solidFill>
                <a:latin typeface="Arial MT Std" panose="020B0802020202020204" charset="0"/>
                <a:ea typeface="Arial Unicode MS" panose="020B0604020202020204" charset="-122"/>
                <a:sym typeface="+mn-ea"/>
              </a:rPr>
              <a:t>Group North China</a:t>
            </a:r>
          </a:p>
          <a:p>
            <a:pPr algn="ctr">
              <a:lnSpc>
                <a:spcPct val="130000"/>
              </a:lnSpc>
            </a:pPr>
            <a:r>
              <a:rPr lang="en-US" altLang="zh-CN" b="1" kern="600" dirty="0">
                <a:solidFill>
                  <a:srgbClr val="0070C0"/>
                </a:solidFill>
                <a:latin typeface="Arial MT Std" panose="020B0802020202020204" charset="0"/>
                <a:ea typeface="Arial Unicode MS" panose="020B0604020202020204" charset="-122"/>
                <a:sym typeface="+mn-ea"/>
              </a:rPr>
              <a:t>Shenyang, China</a:t>
            </a:r>
            <a:endParaRPr lang="en-US" altLang="zh-CN" kern="600" dirty="0">
              <a:solidFill>
                <a:srgbClr val="0070C0"/>
              </a:solidFill>
              <a:latin typeface="Arial" panose="020B0604020202020204" pitchFamily="34" charset="0"/>
              <a:ea typeface="Arial Unicode MS" panose="020B0604020202020204" charset="-122"/>
            </a:endParaRPr>
          </a:p>
        </p:txBody>
      </p:sp>
      <p:sp>
        <p:nvSpPr>
          <p:cNvPr id="74" name="文本框 73"/>
          <p:cNvSpPr txBox="1"/>
          <p:nvPr/>
        </p:nvSpPr>
        <p:spPr>
          <a:xfrm>
            <a:off x="7885112" y="1113479"/>
            <a:ext cx="4092575" cy="1172629"/>
          </a:xfrm>
          <a:prstGeom prst="rect">
            <a:avLst/>
          </a:prstGeom>
          <a:noFill/>
        </p:spPr>
        <p:txBody>
          <a:bodyPr wrap="square" rtlCol="0">
            <a:spAutoFit/>
          </a:bodyPr>
          <a:lstStyle/>
          <a:p>
            <a:pPr algn="ctr">
              <a:lnSpc>
                <a:spcPct val="130000"/>
              </a:lnSpc>
            </a:pPr>
            <a:r>
              <a:rPr lang="en-US" altLang="zh-CN" b="1" kern="600" dirty="0">
                <a:solidFill>
                  <a:srgbClr val="0070C0"/>
                </a:solidFill>
                <a:latin typeface="Arial MT Std" panose="020B0802020202020204" charset="0"/>
                <a:ea typeface="Arial Unicode MS" panose="020B0604020202020204" charset="-122"/>
                <a:sym typeface="+mn-ea"/>
              </a:rPr>
              <a:t>L</a:t>
            </a:r>
            <a:r>
              <a:rPr lang="en-US" altLang="zh-CN" b="1" kern="600" dirty="0">
                <a:solidFill>
                  <a:srgbClr val="FF0000"/>
                </a:solidFill>
                <a:latin typeface="Arial MT Std" panose="020B0802020202020204" charset="0"/>
                <a:ea typeface="Arial Unicode MS" panose="020B0604020202020204" charset="-122"/>
                <a:sym typeface="+mn-ea"/>
              </a:rPr>
              <a:t>I</a:t>
            </a:r>
            <a:r>
              <a:rPr lang="en-US" altLang="zh-CN" b="1" kern="600" dirty="0">
                <a:solidFill>
                  <a:srgbClr val="0070C0"/>
                </a:solidFill>
                <a:latin typeface="Arial MT Std" panose="020B0802020202020204" charset="0"/>
                <a:ea typeface="Arial Unicode MS" panose="020B0604020202020204" charset="-122"/>
                <a:sym typeface="+mn-ea"/>
              </a:rPr>
              <a:t>N</a:t>
            </a:r>
            <a:r>
              <a:rPr lang="en-US" altLang="zh-CN" b="1" dirty="0">
                <a:solidFill>
                  <a:srgbClr val="0070C0"/>
                </a:solidFill>
                <a:latin typeface="Arial MT Std" panose="020B0802020202020204" charset="0"/>
                <a:ea typeface="Arial Unicode MS" panose="020B0604020202020204" charset="-122"/>
                <a:sym typeface="+mn-ea"/>
              </a:rPr>
              <a:t>K Group Europe</a:t>
            </a:r>
            <a:br>
              <a:rPr lang="en-US" altLang="zh-CN" b="1" dirty="0">
                <a:solidFill>
                  <a:srgbClr val="0070C0"/>
                </a:solidFill>
                <a:latin typeface="Arial MT Std" panose="020B0802020202020204" charset="0"/>
                <a:ea typeface="Arial Unicode MS" panose="020B0604020202020204" charset="-122"/>
                <a:sym typeface="+mn-ea"/>
              </a:rPr>
            </a:br>
            <a:r>
              <a:rPr lang="en-US" altLang="zh-CN" b="1" dirty="0">
                <a:solidFill>
                  <a:srgbClr val="0070C0"/>
                </a:solidFill>
                <a:latin typeface="Arial MT Std" panose="020B0802020202020204" charset="0"/>
                <a:ea typeface="Arial Unicode MS" panose="020B0604020202020204" charset="-122"/>
                <a:sym typeface="+mn-ea"/>
              </a:rPr>
              <a:t>(LKGG GmbH)</a:t>
            </a:r>
          </a:p>
          <a:p>
            <a:pPr algn="ctr">
              <a:lnSpc>
                <a:spcPct val="130000"/>
              </a:lnSpc>
            </a:pPr>
            <a:r>
              <a:rPr lang="en-US" altLang="zh-CN" b="1" dirty="0">
                <a:solidFill>
                  <a:srgbClr val="0070C0"/>
                </a:solidFill>
                <a:latin typeface="Arial MT Std" panose="020B0802020202020204" charset="0"/>
                <a:ea typeface="Arial Unicode MS" panose="020B0604020202020204" charset="-122"/>
                <a:sym typeface="+mn-ea"/>
              </a:rPr>
              <a:t>Bad Reichenhall, Germany</a:t>
            </a:r>
            <a:endParaRPr lang="en-US" altLang="zh-CN" kern="600" dirty="0">
              <a:solidFill>
                <a:srgbClr val="0070C0"/>
              </a:solidFill>
              <a:latin typeface="Arial" panose="020B0604020202020204" pitchFamily="34" charset="0"/>
              <a:ea typeface="Arial Unicode MS" panose="020B0604020202020204" charset="-122"/>
            </a:endParaRPr>
          </a:p>
        </p:txBody>
      </p:sp>
      <p:sp>
        <p:nvSpPr>
          <p:cNvPr id="5" name="灯片编号占位符 4"/>
          <p:cNvSpPr>
            <a:spLocks noGrp="1"/>
          </p:cNvSpPr>
          <p:nvPr>
            <p:ph type="sldNum" sz="quarter" idx="12"/>
          </p:nvPr>
        </p:nvSpPr>
        <p:spPr>
          <a:xfrm>
            <a:off x="11652583" y="6489708"/>
            <a:ext cx="551247" cy="365125"/>
          </a:xfrm>
        </p:spPr>
        <p:txBody>
          <a:bodyPr/>
          <a:lstStyle/>
          <a:p>
            <a:fld id="{D57F1E4F-1CFF-5643-939E-217C01CDF565}" type="slidenum">
              <a:rPr lang="en-US" dirty="0">
                <a:latin typeface="Arial Unicode MS" panose="020B0604020202020204" charset="-122"/>
                <a:ea typeface="Arial Unicode MS" panose="020B0604020202020204" charset="-122"/>
              </a:rPr>
              <a:t>13</a:t>
            </a:fld>
            <a:endParaRPr lang="en-US" dirty="0">
              <a:latin typeface="Arial Unicode MS" panose="020B0604020202020204" charset="-122"/>
              <a:ea typeface="Arial Unicode MS" panose="020B0604020202020204" charset="-122"/>
            </a:endParaRPr>
          </a:p>
        </p:txBody>
      </p:sp>
      <p:grpSp>
        <p:nvGrpSpPr>
          <p:cNvPr id="24" name="组合 23"/>
          <p:cNvGrpSpPr/>
          <p:nvPr/>
        </p:nvGrpSpPr>
        <p:grpSpPr>
          <a:xfrm>
            <a:off x="4636770" y="2623185"/>
            <a:ext cx="2970530" cy="3374390"/>
            <a:chOff x="6872" y="4001"/>
            <a:chExt cx="4678" cy="5314"/>
          </a:xfrm>
        </p:grpSpPr>
        <p:sp>
          <p:nvSpPr>
            <p:cNvPr id="18" name="任意多边形 17"/>
            <p:cNvSpPr/>
            <p:nvPr/>
          </p:nvSpPr>
          <p:spPr>
            <a:xfrm>
              <a:off x="6872" y="4001"/>
              <a:ext cx="4577" cy="5314"/>
            </a:xfrm>
            <a:custGeom>
              <a:avLst/>
              <a:gdLst>
                <a:gd name="connsiteX0" fmla="*/ 0 w 4577"/>
                <a:gd name="connsiteY0" fmla="*/ 268 h 4985"/>
                <a:gd name="connsiteX1" fmla="*/ 179 w 4577"/>
                <a:gd name="connsiteY1" fmla="*/ 0 h 4985"/>
                <a:gd name="connsiteX2" fmla="*/ 4398 w 4577"/>
                <a:gd name="connsiteY2" fmla="*/ 0 h 4985"/>
                <a:gd name="connsiteX3" fmla="*/ 4577 w 4577"/>
                <a:gd name="connsiteY3" fmla="*/ 268 h 4985"/>
                <a:gd name="connsiteX4" fmla="*/ 4565 w 4577"/>
                <a:gd name="connsiteY4" fmla="*/ 4734 h 4985"/>
                <a:gd name="connsiteX5" fmla="*/ 4429 w 4577"/>
                <a:gd name="connsiteY5" fmla="*/ 4985 h 4985"/>
                <a:gd name="connsiteX6" fmla="*/ 177 w 4577"/>
                <a:gd name="connsiteY6" fmla="*/ 4982 h 4985"/>
                <a:gd name="connsiteX7" fmla="*/ 10 w 4577"/>
                <a:gd name="connsiteY7" fmla="*/ 4771 h 4985"/>
                <a:gd name="connsiteX8" fmla="*/ 0 w 4577"/>
                <a:gd name="connsiteY8" fmla="*/ 268 h 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7" h="4985">
                  <a:moveTo>
                    <a:pt x="0" y="268"/>
                  </a:moveTo>
                  <a:cubicBezTo>
                    <a:pt x="0" y="120"/>
                    <a:pt x="80" y="0"/>
                    <a:pt x="179" y="0"/>
                  </a:cubicBezTo>
                  <a:lnTo>
                    <a:pt x="4398" y="0"/>
                  </a:lnTo>
                  <a:cubicBezTo>
                    <a:pt x="4497" y="0"/>
                    <a:pt x="4577" y="120"/>
                    <a:pt x="4577" y="268"/>
                  </a:cubicBezTo>
                  <a:lnTo>
                    <a:pt x="4565" y="4734"/>
                  </a:lnTo>
                  <a:cubicBezTo>
                    <a:pt x="4565" y="4882"/>
                    <a:pt x="4528" y="4985"/>
                    <a:pt x="4429" y="4985"/>
                  </a:cubicBezTo>
                  <a:lnTo>
                    <a:pt x="177" y="4982"/>
                  </a:lnTo>
                  <a:cubicBezTo>
                    <a:pt x="78" y="4982"/>
                    <a:pt x="10" y="4919"/>
                    <a:pt x="10" y="4771"/>
                  </a:cubicBezTo>
                  <a:lnTo>
                    <a:pt x="0" y="268"/>
                  </a:lnTo>
                  <a:close/>
                </a:path>
              </a:pathLst>
            </a:custGeom>
            <a:noFill/>
            <a:ln>
              <a:solidFill>
                <a:srgbClr val="016AC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descr="5653f3e7356a7-02"/>
            <p:cNvPicPr>
              <a:picLocks noChangeAspect="1"/>
            </p:cNvPicPr>
            <p:nvPr/>
          </p:nvPicPr>
          <p:blipFill>
            <a:blip r:embed="rId3"/>
            <a:stretch>
              <a:fillRect/>
            </a:stretch>
          </p:blipFill>
          <p:spPr>
            <a:xfrm>
              <a:off x="6963" y="5273"/>
              <a:ext cx="717" cy="632"/>
            </a:xfrm>
            <a:prstGeom prst="rect">
              <a:avLst/>
            </a:prstGeom>
          </p:spPr>
        </p:pic>
        <p:pic>
          <p:nvPicPr>
            <p:cNvPr id="26" name="图片 25" descr="5653f3e7356a7-03"/>
            <p:cNvPicPr>
              <a:picLocks noChangeAspect="1"/>
            </p:cNvPicPr>
            <p:nvPr/>
          </p:nvPicPr>
          <p:blipFill>
            <a:blip r:embed="rId4"/>
            <a:stretch>
              <a:fillRect/>
            </a:stretch>
          </p:blipFill>
          <p:spPr>
            <a:xfrm>
              <a:off x="6963" y="4609"/>
              <a:ext cx="712" cy="627"/>
            </a:xfrm>
            <a:prstGeom prst="rect">
              <a:avLst/>
            </a:prstGeom>
          </p:spPr>
        </p:pic>
        <p:sp>
          <p:nvSpPr>
            <p:cNvPr id="27" name="文本框 26"/>
            <p:cNvSpPr txBox="1"/>
            <p:nvPr/>
          </p:nvSpPr>
          <p:spPr>
            <a:xfrm>
              <a:off x="6985" y="4178"/>
              <a:ext cx="1464" cy="483"/>
            </a:xfrm>
            <a:prstGeom prst="rect">
              <a:avLst/>
            </a:prstGeom>
            <a:noFill/>
          </p:spPr>
          <p:txBody>
            <a:bodyPr wrap="square" rtlCol="0">
              <a:spAutoFit/>
            </a:bodyPr>
            <a:lstStyle/>
            <a:p>
              <a:r>
                <a:rPr lang="en-US" altLang="zh-CN" sz="1400" b="1" dirty="0">
                  <a:solidFill>
                    <a:srgbClr val="0070C0"/>
                  </a:solidFill>
                  <a:latin typeface="Arial" panose="020B0604020202020204" pitchFamily="34" charset="0"/>
                  <a:ea typeface="Arial Unicode MS" panose="020B0604020202020204" charset="-122"/>
                  <a:sym typeface="+mn-ea"/>
                </a:rPr>
                <a:t>Enquiry </a:t>
              </a:r>
            </a:p>
          </p:txBody>
        </p:sp>
        <p:sp>
          <p:nvSpPr>
            <p:cNvPr id="28" name="文本框 27"/>
            <p:cNvSpPr txBox="1"/>
            <p:nvPr/>
          </p:nvSpPr>
          <p:spPr>
            <a:xfrm>
              <a:off x="7562" y="4729"/>
              <a:ext cx="3388"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kimi.wang@LKautomation.com</a:t>
              </a:r>
            </a:p>
          </p:txBody>
        </p:sp>
        <p:sp>
          <p:nvSpPr>
            <p:cNvPr id="29" name="文本框 28"/>
            <p:cNvSpPr txBox="1"/>
            <p:nvPr/>
          </p:nvSpPr>
          <p:spPr>
            <a:xfrm>
              <a:off x="7562" y="5454"/>
              <a:ext cx="2787"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+86 021  6918 0161</a:t>
              </a:r>
            </a:p>
          </p:txBody>
        </p:sp>
        <p:sp>
          <p:nvSpPr>
            <p:cNvPr id="30" name="文本框 29"/>
            <p:cNvSpPr txBox="1"/>
            <p:nvPr/>
          </p:nvSpPr>
          <p:spPr>
            <a:xfrm>
              <a:off x="6985" y="5905"/>
              <a:ext cx="1111" cy="483"/>
            </a:xfrm>
            <a:prstGeom prst="rect">
              <a:avLst/>
            </a:prstGeom>
            <a:noFill/>
          </p:spPr>
          <p:txBody>
            <a:bodyPr wrap="square" rtlCol="0">
              <a:spAutoFit/>
            </a:bodyPr>
            <a:lstStyle/>
            <a:p>
              <a:r>
                <a:rPr lang="en-US" altLang="zh-CN" sz="1400" b="1" dirty="0">
                  <a:solidFill>
                    <a:srgbClr val="0070C0"/>
                  </a:solidFill>
                  <a:latin typeface="Arial" panose="020B0604020202020204" pitchFamily="34" charset="0"/>
                  <a:ea typeface="Arial Unicode MS" panose="020B0604020202020204" charset="-122"/>
                  <a:sym typeface="+mn-ea"/>
                </a:rPr>
                <a:t>Sales</a:t>
              </a:r>
            </a:p>
          </p:txBody>
        </p:sp>
        <p:sp>
          <p:nvSpPr>
            <p:cNvPr id="31" name="文本框 30"/>
            <p:cNvSpPr txBox="1"/>
            <p:nvPr/>
          </p:nvSpPr>
          <p:spPr>
            <a:xfrm>
              <a:off x="7562" y="6496"/>
              <a:ext cx="3988"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gene.zhang@LKautomation.com</a:t>
              </a:r>
            </a:p>
          </p:txBody>
        </p:sp>
        <p:sp>
          <p:nvSpPr>
            <p:cNvPr id="32" name="文本框 31"/>
            <p:cNvSpPr txBox="1"/>
            <p:nvPr/>
          </p:nvSpPr>
          <p:spPr>
            <a:xfrm>
              <a:off x="7562" y="7127"/>
              <a:ext cx="2787" cy="459"/>
            </a:xfrm>
            <a:prstGeom prst="rect">
              <a:avLst/>
            </a:prstGeom>
            <a:noFill/>
          </p:spPr>
          <p:txBody>
            <a:bodyPr wrap="square" rtlCol="0">
              <a:spAutoFit/>
            </a:bodyPr>
            <a:lstStyle/>
            <a:p>
              <a:pPr>
                <a:lnSpc>
                  <a:spcPct val="130000"/>
                </a:lnSpc>
              </a:pPr>
              <a:r>
                <a:rPr lang="en-US" altLang="zh-CN" sz="1000" dirty="0">
                  <a:solidFill>
                    <a:srgbClr val="016AC5"/>
                  </a:solidFill>
                  <a:latin typeface="Arial" panose="020B0604020202020204" pitchFamily="34" charset="0"/>
                  <a:ea typeface="Arial Unicode MS" panose="020B0604020202020204" charset="-122"/>
                  <a:sym typeface="+mn-ea"/>
                </a:rPr>
                <a:t>+86 136 2179 1621</a:t>
              </a:r>
            </a:p>
          </p:txBody>
        </p:sp>
        <p:sp>
          <p:nvSpPr>
            <p:cNvPr id="33" name="文本框 32"/>
            <p:cNvSpPr txBox="1"/>
            <p:nvPr/>
          </p:nvSpPr>
          <p:spPr>
            <a:xfrm>
              <a:off x="6963" y="7670"/>
              <a:ext cx="4233" cy="1529"/>
            </a:xfrm>
            <a:prstGeom prst="rect">
              <a:avLst/>
            </a:prstGeom>
            <a:noFill/>
          </p:spPr>
          <p:txBody>
            <a:bodyPr wrap="square" rtlCol="0">
              <a:spAutoFit/>
            </a:bodyPr>
            <a:lstStyle/>
            <a:p>
              <a:pPr>
                <a:lnSpc>
                  <a:spcPct val="130000"/>
                </a:lnSpc>
              </a:pPr>
              <a:r>
                <a:rPr lang="en-US" altLang="zh-CN" sz="1400" b="1" dirty="0">
                  <a:solidFill>
                    <a:srgbClr val="0070C0"/>
                  </a:solidFill>
                  <a:latin typeface="Arial" panose="020B0604020202020204" pitchFamily="34" charset="0"/>
                  <a:ea typeface="Arial Unicode MS" panose="020B0604020202020204" charset="-122"/>
                  <a:sym typeface="+mn-ea"/>
                </a:rPr>
                <a:t>Address</a:t>
              </a:r>
            </a:p>
            <a:p>
              <a:pPr>
                <a:lnSpc>
                  <a:spcPct val="130000"/>
                </a:lnSpc>
              </a:pPr>
              <a:r>
                <a:rPr lang="en-US" altLang="zh-CN" sz="1000" dirty="0">
                  <a:solidFill>
                    <a:srgbClr val="016AC5"/>
                  </a:solidFill>
                  <a:latin typeface="Arial" panose="020B0604020202020204" pitchFamily="34" charset="0"/>
                  <a:ea typeface="Arial Unicode MS" panose="020B0604020202020204" charset="-122"/>
                  <a:sym typeface="+mn-ea"/>
                </a:rPr>
                <a:t>NO. 14 22nd Floor,NO.168-3 Harbin Road, </a:t>
              </a:r>
            </a:p>
            <a:p>
              <a:pPr>
                <a:lnSpc>
                  <a:spcPct val="130000"/>
                </a:lnSpc>
              </a:pPr>
              <a:r>
                <a:rPr lang="en-US" altLang="zh-CN" sz="1000" dirty="0" err="1">
                  <a:solidFill>
                    <a:srgbClr val="016AC5"/>
                  </a:solidFill>
                  <a:latin typeface="Arial" panose="020B0604020202020204" pitchFamily="34" charset="0"/>
                  <a:ea typeface="Arial Unicode MS" panose="020B0604020202020204" charset="-122"/>
                  <a:sym typeface="+mn-ea"/>
                </a:rPr>
                <a:t>Shenhe</a:t>
              </a:r>
              <a:r>
                <a:rPr lang="en-US" altLang="zh-CN" sz="1000" dirty="0">
                  <a:solidFill>
                    <a:srgbClr val="016AC5"/>
                  </a:solidFill>
                  <a:latin typeface="Arial" panose="020B0604020202020204" pitchFamily="34" charset="0"/>
                  <a:ea typeface="Arial Unicode MS" panose="020B0604020202020204" charset="-122"/>
                  <a:sym typeface="+mn-ea"/>
                </a:rPr>
                <a:t> District,Shenyang,Liaoning </a:t>
              </a:r>
            </a:p>
            <a:p>
              <a:pPr>
                <a:lnSpc>
                  <a:spcPct val="130000"/>
                </a:lnSpc>
              </a:pPr>
              <a:r>
                <a:rPr lang="en-US" altLang="zh-CN" sz="1000" dirty="0">
                  <a:solidFill>
                    <a:srgbClr val="016AC5"/>
                  </a:solidFill>
                  <a:latin typeface="Arial" panose="020B0604020202020204" pitchFamily="34" charset="0"/>
                  <a:ea typeface="Arial Unicode MS" panose="020B0604020202020204" charset="-122"/>
                  <a:sym typeface="+mn-ea"/>
                </a:rPr>
                <a:t>Province,</a:t>
              </a:r>
              <a:r>
                <a:rPr lang="en-US" altLang="zh-CN" sz="1000" dirty="0" err="1">
                  <a:solidFill>
                    <a:srgbClr val="016AC5"/>
                  </a:solidFill>
                  <a:latin typeface="Arial" panose="020B0604020202020204" pitchFamily="34" charset="0"/>
                  <a:ea typeface="Arial Unicode MS" panose="020B0604020202020204" charset="-122"/>
                  <a:sym typeface="+mn-ea"/>
                </a:rPr>
                <a:t>P.R.China</a:t>
              </a:r>
              <a:endParaRPr lang="en-US" altLang="zh-CN" sz="1200" dirty="0">
                <a:solidFill>
                  <a:srgbClr val="016AC5"/>
                </a:solidFill>
                <a:latin typeface="Arial" panose="020B0604020202020204" pitchFamily="34" charset="0"/>
                <a:ea typeface="Arial Unicode MS" panose="020B0604020202020204" charset="-122"/>
                <a:sym typeface="+mn-ea"/>
              </a:endParaRPr>
            </a:p>
          </p:txBody>
        </p:sp>
        <p:pic>
          <p:nvPicPr>
            <p:cNvPr id="34" name="图片 33" descr="5653f3e7356a7-02"/>
            <p:cNvPicPr>
              <a:picLocks noChangeAspect="1"/>
            </p:cNvPicPr>
            <p:nvPr/>
          </p:nvPicPr>
          <p:blipFill>
            <a:blip r:embed="rId3"/>
            <a:stretch>
              <a:fillRect/>
            </a:stretch>
          </p:blipFill>
          <p:spPr>
            <a:xfrm>
              <a:off x="6963" y="7040"/>
              <a:ext cx="717" cy="632"/>
            </a:xfrm>
            <a:prstGeom prst="rect">
              <a:avLst/>
            </a:prstGeom>
          </p:spPr>
        </p:pic>
        <p:pic>
          <p:nvPicPr>
            <p:cNvPr id="35" name="图片 34" descr="5653f3e7356a7-03"/>
            <p:cNvPicPr>
              <a:picLocks noChangeAspect="1"/>
            </p:cNvPicPr>
            <p:nvPr/>
          </p:nvPicPr>
          <p:blipFill>
            <a:blip r:embed="rId4"/>
            <a:stretch>
              <a:fillRect/>
            </a:stretch>
          </p:blipFill>
          <p:spPr>
            <a:xfrm>
              <a:off x="6963" y="6376"/>
              <a:ext cx="712" cy="627"/>
            </a:xfrm>
            <a:prstGeom prst="rect">
              <a:avLst/>
            </a:prstGeom>
          </p:spPr>
        </p:pic>
      </p:grpSp>
      <p:grpSp>
        <p:nvGrpSpPr>
          <p:cNvPr id="3" name="组合 2"/>
          <p:cNvGrpSpPr/>
          <p:nvPr/>
        </p:nvGrpSpPr>
        <p:grpSpPr>
          <a:xfrm>
            <a:off x="8478203" y="2623185"/>
            <a:ext cx="3121660" cy="3374390"/>
            <a:chOff x="12853" y="4001"/>
            <a:chExt cx="4916" cy="5314"/>
          </a:xfrm>
        </p:grpSpPr>
        <p:sp>
          <p:nvSpPr>
            <p:cNvPr id="37" name="任意多边形 36"/>
            <p:cNvSpPr/>
            <p:nvPr/>
          </p:nvSpPr>
          <p:spPr>
            <a:xfrm>
              <a:off x="12853" y="4001"/>
              <a:ext cx="4577" cy="5314"/>
            </a:xfrm>
            <a:custGeom>
              <a:avLst/>
              <a:gdLst>
                <a:gd name="connsiteX0" fmla="*/ 0 w 4577"/>
                <a:gd name="connsiteY0" fmla="*/ 268 h 4985"/>
                <a:gd name="connsiteX1" fmla="*/ 179 w 4577"/>
                <a:gd name="connsiteY1" fmla="*/ 0 h 4985"/>
                <a:gd name="connsiteX2" fmla="*/ 4398 w 4577"/>
                <a:gd name="connsiteY2" fmla="*/ 0 h 4985"/>
                <a:gd name="connsiteX3" fmla="*/ 4577 w 4577"/>
                <a:gd name="connsiteY3" fmla="*/ 268 h 4985"/>
                <a:gd name="connsiteX4" fmla="*/ 4565 w 4577"/>
                <a:gd name="connsiteY4" fmla="*/ 4734 h 4985"/>
                <a:gd name="connsiteX5" fmla="*/ 4429 w 4577"/>
                <a:gd name="connsiteY5" fmla="*/ 4985 h 4985"/>
                <a:gd name="connsiteX6" fmla="*/ 177 w 4577"/>
                <a:gd name="connsiteY6" fmla="*/ 4982 h 4985"/>
                <a:gd name="connsiteX7" fmla="*/ 10 w 4577"/>
                <a:gd name="connsiteY7" fmla="*/ 4771 h 4985"/>
                <a:gd name="connsiteX8" fmla="*/ 0 w 4577"/>
                <a:gd name="connsiteY8" fmla="*/ 268 h 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7" h="4985">
                  <a:moveTo>
                    <a:pt x="0" y="268"/>
                  </a:moveTo>
                  <a:cubicBezTo>
                    <a:pt x="0" y="120"/>
                    <a:pt x="80" y="0"/>
                    <a:pt x="179" y="0"/>
                  </a:cubicBezTo>
                  <a:lnTo>
                    <a:pt x="4398" y="0"/>
                  </a:lnTo>
                  <a:cubicBezTo>
                    <a:pt x="4497" y="0"/>
                    <a:pt x="4577" y="120"/>
                    <a:pt x="4577" y="268"/>
                  </a:cubicBezTo>
                  <a:lnTo>
                    <a:pt x="4565" y="4734"/>
                  </a:lnTo>
                  <a:cubicBezTo>
                    <a:pt x="4565" y="4882"/>
                    <a:pt x="4528" y="4985"/>
                    <a:pt x="4429" y="4985"/>
                  </a:cubicBezTo>
                  <a:lnTo>
                    <a:pt x="177" y="4982"/>
                  </a:lnTo>
                  <a:cubicBezTo>
                    <a:pt x="78" y="4982"/>
                    <a:pt x="10" y="4919"/>
                    <a:pt x="10" y="4771"/>
                  </a:cubicBezTo>
                  <a:lnTo>
                    <a:pt x="0" y="268"/>
                  </a:lnTo>
                  <a:close/>
                </a:path>
              </a:pathLst>
            </a:custGeom>
            <a:noFill/>
            <a:ln>
              <a:solidFill>
                <a:srgbClr val="016AC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descr="5653f3e7356a7-02"/>
            <p:cNvPicPr>
              <a:picLocks noChangeAspect="1"/>
            </p:cNvPicPr>
            <p:nvPr/>
          </p:nvPicPr>
          <p:blipFill>
            <a:blip r:embed="rId3"/>
            <a:stretch>
              <a:fillRect/>
            </a:stretch>
          </p:blipFill>
          <p:spPr>
            <a:xfrm>
              <a:off x="12944" y="5273"/>
              <a:ext cx="717" cy="632"/>
            </a:xfrm>
            <a:prstGeom prst="rect">
              <a:avLst/>
            </a:prstGeom>
          </p:spPr>
        </p:pic>
        <p:pic>
          <p:nvPicPr>
            <p:cNvPr id="40" name="图片 39" descr="5653f3e7356a7-03"/>
            <p:cNvPicPr>
              <a:picLocks noChangeAspect="1"/>
            </p:cNvPicPr>
            <p:nvPr/>
          </p:nvPicPr>
          <p:blipFill>
            <a:blip r:embed="rId4"/>
            <a:stretch>
              <a:fillRect/>
            </a:stretch>
          </p:blipFill>
          <p:spPr>
            <a:xfrm>
              <a:off x="12944" y="4609"/>
              <a:ext cx="712" cy="627"/>
            </a:xfrm>
            <a:prstGeom prst="rect">
              <a:avLst/>
            </a:prstGeom>
          </p:spPr>
        </p:pic>
        <p:sp>
          <p:nvSpPr>
            <p:cNvPr id="41" name="文本框 40"/>
            <p:cNvSpPr txBox="1"/>
            <p:nvPr/>
          </p:nvSpPr>
          <p:spPr>
            <a:xfrm>
              <a:off x="12966" y="4178"/>
              <a:ext cx="1464" cy="483"/>
            </a:xfrm>
            <a:prstGeom prst="rect">
              <a:avLst/>
            </a:prstGeom>
            <a:noFill/>
          </p:spPr>
          <p:txBody>
            <a:bodyPr wrap="square" rtlCol="0">
              <a:spAutoFit/>
            </a:bodyPr>
            <a:lstStyle/>
            <a:p>
              <a:r>
                <a:rPr lang="en-US" altLang="zh-CN" sz="1400" b="1" dirty="0">
                  <a:solidFill>
                    <a:srgbClr val="0070C0"/>
                  </a:solidFill>
                  <a:latin typeface="Arial" panose="020B0604020202020204" pitchFamily="34" charset="0"/>
                  <a:ea typeface="Arial Unicode MS" panose="020B0604020202020204" charset="-122"/>
                  <a:sym typeface="+mn-ea"/>
                </a:rPr>
                <a:t>Enquiry </a:t>
              </a:r>
            </a:p>
          </p:txBody>
        </p:sp>
        <p:sp>
          <p:nvSpPr>
            <p:cNvPr id="42" name="文本框 41"/>
            <p:cNvSpPr txBox="1"/>
            <p:nvPr/>
          </p:nvSpPr>
          <p:spPr>
            <a:xfrm>
              <a:off x="13543" y="4729"/>
              <a:ext cx="3388"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jackey.yin@LKautomation.com</a:t>
              </a:r>
            </a:p>
          </p:txBody>
        </p:sp>
        <p:sp>
          <p:nvSpPr>
            <p:cNvPr id="43" name="文本框 42"/>
            <p:cNvSpPr txBox="1"/>
            <p:nvPr/>
          </p:nvSpPr>
          <p:spPr>
            <a:xfrm>
              <a:off x="13543" y="5454"/>
              <a:ext cx="2787"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+86 186 2171 9367 </a:t>
              </a:r>
            </a:p>
          </p:txBody>
        </p:sp>
        <p:sp>
          <p:nvSpPr>
            <p:cNvPr id="44" name="文本框 43"/>
            <p:cNvSpPr txBox="1"/>
            <p:nvPr/>
          </p:nvSpPr>
          <p:spPr>
            <a:xfrm>
              <a:off x="12966" y="5905"/>
              <a:ext cx="1111" cy="483"/>
            </a:xfrm>
            <a:prstGeom prst="rect">
              <a:avLst/>
            </a:prstGeom>
            <a:noFill/>
          </p:spPr>
          <p:txBody>
            <a:bodyPr wrap="square" rtlCol="0">
              <a:spAutoFit/>
            </a:bodyPr>
            <a:lstStyle/>
            <a:p>
              <a:r>
                <a:rPr lang="en-US" altLang="zh-CN" sz="1400" b="1" dirty="0">
                  <a:solidFill>
                    <a:srgbClr val="0070C0"/>
                  </a:solidFill>
                  <a:latin typeface="Arial" panose="020B0604020202020204" pitchFamily="34" charset="0"/>
                  <a:ea typeface="Arial Unicode MS" panose="020B0604020202020204" charset="-122"/>
                  <a:sym typeface="+mn-ea"/>
                </a:rPr>
                <a:t>Sales</a:t>
              </a:r>
            </a:p>
          </p:txBody>
        </p:sp>
        <p:sp>
          <p:nvSpPr>
            <p:cNvPr id="45" name="文本框 44"/>
            <p:cNvSpPr txBox="1"/>
            <p:nvPr/>
          </p:nvSpPr>
          <p:spPr>
            <a:xfrm>
              <a:off x="13543" y="6496"/>
              <a:ext cx="3988"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andreas.reymendt@LKautomation.com</a:t>
              </a:r>
            </a:p>
          </p:txBody>
        </p:sp>
        <p:sp>
          <p:nvSpPr>
            <p:cNvPr id="46" name="文本框 45"/>
            <p:cNvSpPr txBox="1"/>
            <p:nvPr/>
          </p:nvSpPr>
          <p:spPr>
            <a:xfrm>
              <a:off x="13543" y="7127"/>
              <a:ext cx="2787" cy="428"/>
            </a:xfrm>
            <a:prstGeom prst="rect">
              <a:avLst/>
            </a:prstGeom>
            <a:noFill/>
          </p:spPr>
          <p:txBody>
            <a:bodyPr wrap="square" rtlCol="0">
              <a:spAutoFit/>
            </a:bodyPr>
            <a:lstStyle/>
            <a:p>
              <a:pPr>
                <a:lnSpc>
                  <a:spcPct val="130000"/>
                </a:lnSpc>
              </a:pPr>
              <a:endParaRPr lang="en-US" altLang="zh-CN" sz="1000" dirty="0">
                <a:solidFill>
                  <a:srgbClr val="016AC5"/>
                </a:solidFill>
                <a:latin typeface="Arial" panose="020B0604020202020204" pitchFamily="34" charset="0"/>
                <a:ea typeface="Arial Unicode MS" panose="020B0604020202020204" charset="-122"/>
                <a:sym typeface="+mn-ea"/>
              </a:endParaRPr>
            </a:p>
          </p:txBody>
        </p:sp>
        <p:sp>
          <p:nvSpPr>
            <p:cNvPr id="47" name="文本框 46"/>
            <p:cNvSpPr txBox="1"/>
            <p:nvPr/>
          </p:nvSpPr>
          <p:spPr>
            <a:xfrm>
              <a:off x="12944" y="7670"/>
              <a:ext cx="4825" cy="1214"/>
            </a:xfrm>
            <a:prstGeom prst="rect">
              <a:avLst/>
            </a:prstGeom>
            <a:noFill/>
          </p:spPr>
          <p:txBody>
            <a:bodyPr wrap="square" rtlCol="0">
              <a:spAutoFit/>
            </a:bodyPr>
            <a:lstStyle/>
            <a:p>
              <a:pPr>
                <a:lnSpc>
                  <a:spcPct val="130000"/>
                </a:lnSpc>
              </a:pPr>
              <a:r>
                <a:rPr lang="en-US" altLang="zh-CN" sz="1400" b="1" dirty="0">
                  <a:solidFill>
                    <a:srgbClr val="0070C0"/>
                  </a:solidFill>
                  <a:latin typeface="Arial" panose="020B0604020202020204" pitchFamily="34" charset="0"/>
                  <a:ea typeface="Arial Unicode MS" panose="020B0604020202020204" charset="-122"/>
                  <a:sym typeface="+mn-ea"/>
                </a:rPr>
                <a:t>Address</a:t>
              </a:r>
            </a:p>
            <a:p>
              <a:pPr>
                <a:lnSpc>
                  <a:spcPct val="130000"/>
                </a:lnSpc>
              </a:pPr>
              <a:r>
                <a:rPr lang="en-US" altLang="zh-CN" sz="1000" dirty="0" err="1">
                  <a:solidFill>
                    <a:srgbClr val="016AC5"/>
                  </a:solidFill>
                  <a:latin typeface="Arial" panose="020B0604020202020204" pitchFamily="34" charset="0"/>
                  <a:ea typeface="Arial Unicode MS" panose="020B0604020202020204" charset="-122"/>
                  <a:sym typeface="+mn-ea"/>
                </a:rPr>
                <a:t>Fischerbraeuwiese</a:t>
              </a:r>
              <a:r>
                <a:rPr lang="en-US" altLang="zh-CN" sz="1000" dirty="0">
                  <a:solidFill>
                    <a:srgbClr val="016AC5"/>
                  </a:solidFill>
                  <a:latin typeface="Arial" panose="020B0604020202020204" pitchFamily="34" charset="0"/>
                  <a:ea typeface="Arial Unicode MS" panose="020B0604020202020204" charset="-122"/>
                  <a:sym typeface="+mn-ea"/>
                </a:rPr>
                <a:t> 18b,83435 Bad</a:t>
              </a:r>
            </a:p>
            <a:p>
              <a:pPr>
                <a:lnSpc>
                  <a:spcPct val="130000"/>
                </a:lnSpc>
              </a:pPr>
              <a:r>
                <a:rPr lang="en-US" altLang="zh-CN" sz="1000" dirty="0" err="1">
                  <a:solidFill>
                    <a:srgbClr val="016AC5"/>
                  </a:solidFill>
                  <a:latin typeface="Arial" panose="020B0604020202020204" pitchFamily="34" charset="0"/>
                  <a:ea typeface="Arial Unicode MS" panose="020B0604020202020204" charset="-122"/>
                  <a:sym typeface="+mn-ea"/>
                </a:rPr>
                <a:t>Reichenhall</a:t>
              </a:r>
              <a:r>
                <a:rPr lang="en-US" altLang="zh-CN" sz="1000" dirty="0">
                  <a:solidFill>
                    <a:srgbClr val="016AC5"/>
                  </a:solidFill>
                  <a:latin typeface="Arial" panose="020B0604020202020204" pitchFamily="34" charset="0"/>
                  <a:ea typeface="Arial Unicode MS" panose="020B0604020202020204" charset="-122"/>
                  <a:sym typeface="+mn-ea"/>
                </a:rPr>
                <a:t>,Bavaria,Germany</a:t>
              </a:r>
              <a:endParaRPr lang="en-US" altLang="zh-CN" sz="1200" dirty="0">
                <a:solidFill>
                  <a:srgbClr val="016AC5"/>
                </a:solidFill>
                <a:latin typeface="Arial" panose="020B0604020202020204" pitchFamily="34" charset="0"/>
                <a:ea typeface="Arial Unicode MS" panose="020B0604020202020204" charset="-122"/>
                <a:sym typeface="+mn-ea"/>
              </a:endParaRPr>
            </a:p>
          </p:txBody>
        </p:sp>
        <p:pic>
          <p:nvPicPr>
            <p:cNvPr id="48" name="图片 47" descr="5653f3e7356a7-02"/>
            <p:cNvPicPr>
              <a:picLocks noChangeAspect="1"/>
            </p:cNvPicPr>
            <p:nvPr/>
          </p:nvPicPr>
          <p:blipFill>
            <a:blip r:embed="rId3"/>
            <a:stretch>
              <a:fillRect/>
            </a:stretch>
          </p:blipFill>
          <p:spPr>
            <a:xfrm>
              <a:off x="12944" y="7040"/>
              <a:ext cx="717" cy="632"/>
            </a:xfrm>
            <a:prstGeom prst="rect">
              <a:avLst/>
            </a:prstGeom>
          </p:spPr>
        </p:pic>
        <p:pic>
          <p:nvPicPr>
            <p:cNvPr id="49" name="图片 48" descr="5653f3e7356a7-03"/>
            <p:cNvPicPr>
              <a:picLocks noChangeAspect="1"/>
            </p:cNvPicPr>
            <p:nvPr/>
          </p:nvPicPr>
          <p:blipFill>
            <a:blip r:embed="rId4"/>
            <a:stretch>
              <a:fillRect/>
            </a:stretch>
          </p:blipFill>
          <p:spPr>
            <a:xfrm>
              <a:off x="12944" y="6376"/>
              <a:ext cx="712" cy="627"/>
            </a:xfrm>
            <a:prstGeom prst="rect">
              <a:avLst/>
            </a:prstGeom>
          </p:spPr>
        </p:pic>
      </p:grpSp>
    </p:spTree>
    <p:extLst>
      <p:ext uri="{BB962C8B-B14F-4D97-AF65-F5344CB8AC3E}">
        <p14:creationId xmlns:p14="http://schemas.microsoft.com/office/powerpoint/2010/main" val="291269537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2965</TotalTime>
  <Words>1238</Words>
  <Application>Microsoft Office PowerPoint</Application>
  <PresentationFormat>Widescreen</PresentationFormat>
  <Paragraphs>199</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微软雅黑</vt:lpstr>
      <vt:lpstr>Arial</vt:lpstr>
      <vt:lpstr>Arial MT Std</vt:lpstr>
      <vt:lpstr>Arial Unicode MS</vt:lpstr>
      <vt:lpstr>Calibri</vt:lpstr>
      <vt:lpstr>Calibri Light</vt:lpstr>
      <vt:lpstr>Times New Roman</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Sean Ma</dc:creator>
  <cp:lastModifiedBy>nguyễn lê</cp:lastModifiedBy>
  <cp:revision>289</cp:revision>
  <dcterms:created xsi:type="dcterms:W3CDTF">2018-08-09T02:12:30Z</dcterms:created>
  <dcterms:modified xsi:type="dcterms:W3CDTF">2024-05-10T08:24:20Z</dcterms:modified>
</cp:coreProperties>
</file>