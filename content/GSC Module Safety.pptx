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5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6768" autoAdjust="0"/>
  </p:normalViewPr>
  <p:slideViewPr>
    <p:cSldViewPr snapToGrid="0">
      <p:cViewPr varScale="1">
        <p:scale>
          <a:sx n="110" d="100"/>
          <a:sy n="110" d="100"/>
        </p:scale>
        <p:origin x="61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B9BC47-F8BA-4390-A7BD-1C273A7606B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D30944-E3CD-41B0-963A-3183A7CD1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197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775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197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19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089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031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88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877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197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193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752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389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标题幻灯片">
    <p:bg>
      <p:bgPr>
        <a:blipFill rotWithShape="1">
          <a:blip r:embed="rId2">
            <a:alphaModFix amt="90000"/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4077" y="6431923"/>
            <a:ext cx="1143166" cy="365125"/>
          </a:xfrm>
        </p:spPr>
        <p:txBody>
          <a:bodyPr/>
          <a:lstStyle/>
          <a:p>
            <a:fld id="{B61BEF0D-F0BB-DE4B-95CE-6DB70DBA9567}" type="datetimeFigureOut">
              <a:rPr lang="en-US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63199" y="6431923"/>
            <a:ext cx="432467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83459" y="6431923"/>
            <a:ext cx="551247" cy="365125"/>
          </a:xfrm>
        </p:spPr>
        <p:txBody>
          <a:bodyPr/>
          <a:lstStyle/>
          <a:p>
            <a:fld id="{D57F1E4F-1CFF-5643-939E-217C01CDF565}" type="slidenum">
              <a:rPr lang="en-US"/>
              <a:t>‹#›</a:t>
            </a:fld>
            <a:endParaRPr lang="en-US"/>
          </a:p>
        </p:txBody>
      </p:sp>
      <p:sp>
        <p:nvSpPr>
          <p:cNvPr id="7" name="矩形 6"/>
          <p:cNvSpPr/>
          <p:nvPr userDrawn="1"/>
        </p:nvSpPr>
        <p:spPr>
          <a:xfrm>
            <a:off x="-3810" y="-16510"/>
            <a:ext cx="12223682" cy="6899910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42000">
                <a:schemeClr val="bg1"/>
              </a:gs>
              <a:gs pos="69000">
                <a:schemeClr val="bg1">
                  <a:lumMod val="95000"/>
                </a:schemeClr>
              </a:gs>
              <a:gs pos="92000">
                <a:schemeClr val="bg1">
                  <a:lumMod val="9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LINK  PPT1010-0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810" y="-16510"/>
            <a:ext cx="12224317" cy="794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82156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24B26F-F2E0-4F53-981B-BB84DEAAB2C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478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6">
            <a:extLst>
              <a:ext uri="{FF2B5EF4-FFF2-40B4-BE49-F238E27FC236}">
                <a16:creationId xmlns:a16="http://schemas.microsoft.com/office/drawing/2014/main" id="{2AD7A79E-3956-2609-3AA6-7B94082105B5}"/>
              </a:ext>
            </a:extLst>
          </p:cNvPr>
          <p:cNvGrpSpPr/>
          <p:nvPr/>
        </p:nvGrpSpPr>
        <p:grpSpPr>
          <a:xfrm>
            <a:off x="10205368" y="-55880"/>
            <a:ext cx="1775460" cy="821055"/>
            <a:chOff x="13535" y="1423"/>
            <a:chExt cx="2796" cy="1293"/>
          </a:xfrm>
        </p:grpSpPr>
        <p:sp>
          <p:nvSpPr>
            <p:cNvPr id="9" name="文本框 7">
              <a:extLst>
                <a:ext uri="{FF2B5EF4-FFF2-40B4-BE49-F238E27FC236}">
                  <a16:creationId xmlns:a16="http://schemas.microsoft.com/office/drawing/2014/main" id="{72915727-257D-BCD0-3342-8C116E778522}"/>
                </a:ext>
              </a:extLst>
            </p:cNvPr>
            <p:cNvSpPr txBox="1"/>
            <p:nvPr/>
          </p:nvSpPr>
          <p:spPr>
            <a:xfrm>
              <a:off x="13535" y="1423"/>
              <a:ext cx="2796" cy="12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indent="0"/>
              <a:r>
                <a:rPr lang="en-US" altLang="zh-CN" sz="4400" b="1" i="1" dirty="0">
                  <a:solidFill>
                    <a:srgbClr val="016AC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</a:t>
              </a:r>
              <a:r>
                <a:rPr lang="en-US" altLang="zh-CN" sz="4400" b="1" i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</a:t>
              </a:r>
              <a:r>
                <a:rPr lang="en-US" altLang="zh-CN" sz="4400" b="1" i="1" dirty="0">
                  <a:solidFill>
                    <a:srgbClr val="016AC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NK</a:t>
              </a:r>
            </a:p>
          </p:txBody>
        </p:sp>
        <p:sp>
          <p:nvSpPr>
            <p:cNvPr id="10" name="文本框 8">
              <a:extLst>
                <a:ext uri="{FF2B5EF4-FFF2-40B4-BE49-F238E27FC236}">
                  <a16:creationId xmlns:a16="http://schemas.microsoft.com/office/drawing/2014/main" id="{964CF148-E6C0-5CA8-B3BE-51F6A57827AE}"/>
                </a:ext>
              </a:extLst>
            </p:cNvPr>
            <p:cNvSpPr txBox="1"/>
            <p:nvPr/>
          </p:nvSpPr>
          <p:spPr>
            <a:xfrm>
              <a:off x="15140" y="2354"/>
              <a:ext cx="1176" cy="3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indent="0"/>
              <a:r>
                <a:rPr lang="en-US" altLang="zh-CN" sz="900" b="1" i="1">
                  <a:solidFill>
                    <a:srgbClr val="016AC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GROUP</a:t>
              </a:r>
            </a:p>
          </p:txBody>
        </p:sp>
      </p:grpSp>
      <p:grpSp>
        <p:nvGrpSpPr>
          <p:cNvPr id="27" name="组合 31">
            <a:extLst>
              <a:ext uri="{FF2B5EF4-FFF2-40B4-BE49-F238E27FC236}">
                <a16:creationId xmlns:a16="http://schemas.microsoft.com/office/drawing/2014/main" id="{2190E015-DB5E-AE8E-FE33-E246ECEE0E1A}"/>
              </a:ext>
            </a:extLst>
          </p:cNvPr>
          <p:cNvGrpSpPr/>
          <p:nvPr/>
        </p:nvGrpSpPr>
        <p:grpSpPr>
          <a:xfrm>
            <a:off x="1596157" y="1419249"/>
            <a:ext cx="1927860" cy="902970"/>
            <a:chOff x="13535" y="1423"/>
            <a:chExt cx="3036" cy="1422"/>
          </a:xfrm>
        </p:grpSpPr>
        <p:sp>
          <p:nvSpPr>
            <p:cNvPr id="28" name="文本框 32">
              <a:extLst>
                <a:ext uri="{FF2B5EF4-FFF2-40B4-BE49-F238E27FC236}">
                  <a16:creationId xmlns:a16="http://schemas.microsoft.com/office/drawing/2014/main" id="{85F00CBA-A2CF-1541-9C7D-40CE764CA600}"/>
                </a:ext>
              </a:extLst>
            </p:cNvPr>
            <p:cNvSpPr txBox="1"/>
            <p:nvPr/>
          </p:nvSpPr>
          <p:spPr>
            <a:xfrm>
              <a:off x="13535" y="1423"/>
              <a:ext cx="2796" cy="13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indent="0"/>
              <a:r>
                <a:rPr lang="en-US" altLang="zh-CN" sz="5000" b="1" i="1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</a:t>
              </a:r>
              <a:r>
                <a:rPr lang="en-US" altLang="zh-CN" sz="5000" b="1" i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</a:t>
              </a:r>
              <a:r>
                <a:rPr lang="en-US" altLang="zh-CN" sz="5000" b="1" i="1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NK</a:t>
              </a:r>
            </a:p>
          </p:txBody>
        </p:sp>
        <p:sp>
          <p:nvSpPr>
            <p:cNvPr id="29" name="文本框 33">
              <a:extLst>
                <a:ext uri="{FF2B5EF4-FFF2-40B4-BE49-F238E27FC236}">
                  <a16:creationId xmlns:a16="http://schemas.microsoft.com/office/drawing/2014/main" id="{0E06C5C1-C151-3C3E-AFC5-8D21E3C3F4A8}"/>
                </a:ext>
              </a:extLst>
            </p:cNvPr>
            <p:cNvSpPr txBox="1"/>
            <p:nvPr/>
          </p:nvSpPr>
          <p:spPr>
            <a:xfrm>
              <a:off x="15395" y="2459"/>
              <a:ext cx="1176" cy="3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indent="0"/>
              <a:r>
                <a:rPr lang="en-US" altLang="zh-CN" sz="1000" b="1" i="1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GROUP</a:t>
              </a:r>
            </a:p>
          </p:txBody>
        </p:sp>
      </p:grpSp>
      <p:sp>
        <p:nvSpPr>
          <p:cNvPr id="30" name="文本框 36">
            <a:extLst>
              <a:ext uri="{FF2B5EF4-FFF2-40B4-BE49-F238E27FC236}">
                <a16:creationId xmlns:a16="http://schemas.microsoft.com/office/drawing/2014/main" id="{00ED4894-E9E2-5E0D-1B93-C5AD5A69823E}"/>
              </a:ext>
            </a:extLst>
          </p:cNvPr>
          <p:cNvSpPr txBox="1"/>
          <p:nvPr/>
        </p:nvSpPr>
        <p:spPr>
          <a:xfrm>
            <a:off x="3371617" y="1522000"/>
            <a:ext cx="7233100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altLang="zh-CN" sz="24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Automation 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Engineering (Shanghai) Co.,Ltd.</a:t>
            </a:r>
            <a:endParaRPr lang="en-US" altLang="zh-CN" sz="2400" b="1" i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F338B2-489E-06D0-1CF6-7F252DF35561}"/>
              </a:ext>
            </a:extLst>
          </p:cNvPr>
          <p:cNvSpPr txBox="1"/>
          <p:nvPr/>
        </p:nvSpPr>
        <p:spPr>
          <a:xfrm>
            <a:off x="3855563" y="2598003"/>
            <a:ext cx="52790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Record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30B78A-F9D9-CC1E-DF26-4EBEE49CF820}"/>
              </a:ext>
            </a:extLst>
          </p:cNvPr>
          <p:cNvSpPr txBox="1"/>
          <p:nvPr/>
        </p:nvSpPr>
        <p:spPr>
          <a:xfrm>
            <a:off x="961533" y="3997173"/>
            <a:ext cx="71185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Pham Tung Lam : PLC Engineer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D5CBD6-A833-235F-EBF8-D11E311EF2FD}"/>
              </a:ext>
            </a:extLst>
          </p:cNvPr>
          <p:cNvSpPr txBox="1"/>
          <p:nvPr/>
        </p:nvSpPr>
        <p:spPr>
          <a:xfrm>
            <a:off x="961533" y="4500168"/>
            <a:ext cx="5746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Safety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35">
            <a:extLst>
              <a:ext uri="{FF2B5EF4-FFF2-40B4-BE49-F238E27FC236}">
                <a16:creationId xmlns:a16="http://schemas.microsoft.com/office/drawing/2014/main" id="{6DAD7C5F-860F-3E5D-B8BB-1C252A8FF164}"/>
              </a:ext>
            </a:extLst>
          </p:cNvPr>
          <p:cNvSpPr txBox="1"/>
          <p:nvPr/>
        </p:nvSpPr>
        <p:spPr>
          <a:xfrm>
            <a:off x="7184266" y="1980561"/>
            <a:ext cx="3243565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altLang="en-US" sz="16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霖和自动化工程</a:t>
            </a:r>
            <a:r>
              <a:rPr lang="en-US" altLang="zh-CN" sz="16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6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上海</a:t>
            </a:r>
            <a:r>
              <a:rPr lang="en-US" altLang="zh-CN" sz="16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16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有限公司</a:t>
            </a:r>
          </a:p>
        </p:txBody>
      </p:sp>
    </p:spTree>
    <p:extLst>
      <p:ext uri="{BB962C8B-B14F-4D97-AF65-F5344CB8AC3E}">
        <p14:creationId xmlns:p14="http://schemas.microsoft.com/office/powerpoint/2010/main" val="2822460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2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43841" y="1333475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safety program is called up cyclically and is therefore synchronous to the standard program .</a:t>
            </a:r>
            <a:r>
              <a:rPr 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mtClean="0">
                <a:solidFill>
                  <a:srgbClr val="0359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F-runtime group is processed before the standard program.</a:t>
            </a:r>
            <a:br>
              <a:rPr 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The number of the standard OB is greater than the F-runtime group OB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/>
              <a:t/>
            </a:r>
            <a:br>
              <a:rPr lang="en-US"/>
            </a:b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86" y="3118322"/>
            <a:ext cx="2172003" cy="34961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187334" y="477871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increases the protection against</a:t>
            </a:r>
            <a:br>
              <a:rPr 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manipulation from the standard program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/>
              <a:t/>
            </a:r>
            <a:br>
              <a:rPr lang="en-US"/>
            </a:b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43841" y="85902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>
                <a:latin typeface="ArialMT"/>
              </a:rPr>
              <a:t>SAFE CONCEPT GSC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748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3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1194" y="936793"/>
            <a:ext cx="3991532" cy="56776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00297" y="1505133"/>
            <a:ext cx="47287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GSC zone concept, the safe actuators</a:t>
            </a:r>
            <a:br>
              <a:rPr lang="en-US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switched off regardless of the call</a:t>
            </a:r>
            <a:br>
              <a:rPr lang="en-US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in the safety program.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/>
              <a:t/>
            </a:r>
            <a:br>
              <a:rPr lang="en-US"/>
            </a:b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393372" y="3542101"/>
            <a:ext cx="336150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main FFB all stations</a:t>
            </a:r>
            <a:br>
              <a:rPr 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called one after the other.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/>
              <a:t/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519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4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228" y="850837"/>
            <a:ext cx="3705630" cy="585581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2218" y="1042741"/>
            <a:ext cx="476358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000000"/>
                </a:solidFill>
                <a:latin typeface="Arial-BoldMT"/>
              </a:rPr>
              <a:t>The zone used is configured in each</a:t>
            </a:r>
            <a:br>
              <a:rPr lang="en-US" b="1">
                <a:solidFill>
                  <a:srgbClr val="000000"/>
                </a:solidFill>
                <a:latin typeface="Arial-BoldMT"/>
              </a:rPr>
            </a:br>
            <a:r>
              <a:rPr lang="en-US" b="1">
                <a:solidFill>
                  <a:srgbClr val="000000"/>
                </a:solidFill>
                <a:latin typeface="Arial-BoldMT"/>
              </a:rPr>
              <a:t>component in the various stations.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811383" y="2157975"/>
            <a:ext cx="31089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000000"/>
                </a:solidFill>
                <a:latin typeface="Arial-BoldMT"/>
              </a:rPr>
              <a:t>ST020 tool and ST040</a:t>
            </a:r>
            <a:br>
              <a:rPr lang="en-US" b="1">
                <a:solidFill>
                  <a:srgbClr val="000000"/>
                </a:solidFill>
                <a:latin typeface="Arial-BoldMT"/>
              </a:rPr>
            </a:br>
            <a:r>
              <a:rPr lang="en-US" b="1">
                <a:solidFill>
                  <a:srgbClr val="000000"/>
                </a:solidFill>
                <a:latin typeface="Arial-BoldMT"/>
              </a:rPr>
              <a:t>conveyor technology</a:t>
            </a:r>
            <a:br>
              <a:rPr lang="en-US" b="1">
                <a:solidFill>
                  <a:srgbClr val="000000"/>
                </a:solidFill>
                <a:latin typeface="Arial-BoldMT"/>
              </a:rPr>
            </a:br>
            <a:r>
              <a:rPr lang="en-US" b="1">
                <a:solidFill>
                  <a:srgbClr val="000000"/>
                </a:solidFill>
                <a:latin typeface="Arial-BoldMT"/>
              </a:rPr>
              <a:t>each use E-STOP circle 1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743826" y="4058420"/>
            <a:ext cx="310896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000000"/>
                </a:solidFill>
                <a:latin typeface="Arial-BoldMT"/>
              </a:rPr>
              <a:t>ST020 tool uses SAFETY</a:t>
            </a:r>
            <a:br>
              <a:rPr lang="en-US" b="1">
                <a:solidFill>
                  <a:srgbClr val="000000"/>
                </a:solidFill>
                <a:latin typeface="Arial-BoldMT"/>
              </a:rPr>
            </a:br>
            <a:r>
              <a:rPr lang="en-US" b="1">
                <a:solidFill>
                  <a:srgbClr val="000000"/>
                </a:solidFill>
                <a:latin typeface="Arial-BoldMT"/>
              </a:rPr>
              <a:t>GATE circuit 2</a:t>
            </a:r>
            <a:br>
              <a:rPr lang="en-US" b="1">
                <a:solidFill>
                  <a:srgbClr val="000000"/>
                </a:solidFill>
                <a:latin typeface="Arial-BoldMT"/>
              </a:rPr>
            </a:br>
            <a:r>
              <a:rPr lang="en-US" b="1">
                <a:solidFill>
                  <a:srgbClr val="000000"/>
                </a:solidFill>
                <a:latin typeface="Arial-BoldMT"/>
              </a:rPr>
              <a:t>ST040 conveyor</a:t>
            </a:r>
            <a:br>
              <a:rPr lang="en-US" b="1">
                <a:solidFill>
                  <a:srgbClr val="000000"/>
                </a:solidFill>
                <a:latin typeface="Arial-BoldMT"/>
              </a:rPr>
            </a:br>
            <a:r>
              <a:rPr lang="en-US" b="1">
                <a:solidFill>
                  <a:srgbClr val="000000"/>
                </a:solidFill>
                <a:latin typeface="Arial-BoldMT"/>
              </a:rPr>
              <a:t>technology uses SAFETY</a:t>
            </a:r>
            <a:br>
              <a:rPr lang="en-US" b="1">
                <a:solidFill>
                  <a:srgbClr val="000000"/>
                </a:solidFill>
                <a:latin typeface="Arial-BoldMT"/>
              </a:rPr>
            </a:br>
            <a:r>
              <a:rPr lang="en-US" b="1">
                <a:solidFill>
                  <a:srgbClr val="000000"/>
                </a:solidFill>
                <a:latin typeface="Arial-BoldMT"/>
              </a:rPr>
              <a:t>GATE circuit 4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903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5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769" y="1879312"/>
            <a:ext cx="9228666" cy="380174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06834"/>
              </p:ext>
            </p:extLst>
          </p:nvPr>
        </p:nvGraphicFramePr>
        <p:xfrm>
          <a:off x="447266" y="839464"/>
          <a:ext cx="7343775" cy="487680"/>
        </p:xfrm>
        <a:graphic>
          <a:graphicData uri="http://schemas.openxmlformats.org/drawingml/2006/table">
            <a:tbl>
              <a:tblPr/>
              <a:tblGrid>
                <a:gridCol w="2105025">
                  <a:extLst>
                    <a:ext uri="{9D8B030D-6E8A-4147-A177-3AD203B41FA5}">
                      <a16:colId xmlns:a16="http://schemas.microsoft.com/office/drawing/2014/main" val="2230121561"/>
                    </a:ext>
                  </a:extLst>
                </a:gridCol>
                <a:gridCol w="5238750">
                  <a:extLst>
                    <a:ext uri="{9D8B030D-6E8A-4147-A177-3AD203B41FA5}">
                      <a16:colId xmlns:a16="http://schemas.microsoft.com/office/drawing/2014/main" val="3371094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600" b="0" i="0">
                          <a:solidFill>
                            <a:schemeClr val="tx1"/>
                          </a:solidFill>
                          <a:effectLst/>
                          <a:latin typeface="ArialMT"/>
                        </a:rPr>
                        <a:t>OVERVIEW 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b="0" i="0">
                          <a:solidFill>
                            <a:schemeClr val="tx1"/>
                          </a:solidFill>
                          <a:effectLst/>
                          <a:latin typeface="ArialMT"/>
                        </a:rPr>
                        <a:t>SAFE STRUCTURE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9423498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424113" y="37576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394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D21CED-5CC3-B742-B718-0ED1DB54C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999" y="3408414"/>
            <a:ext cx="3207059" cy="32943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19672AC-3C44-9A1A-60CF-B0FF0E44F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299" y="1821075"/>
            <a:ext cx="3887325" cy="378544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C3FD914-0CC2-2BB0-7642-7239ACC0543D}"/>
              </a:ext>
            </a:extLst>
          </p:cNvPr>
          <p:cNvCxnSpPr>
            <a:cxnSpLocks/>
          </p:cNvCxnSpPr>
          <p:nvPr/>
        </p:nvCxnSpPr>
        <p:spPr>
          <a:xfrm flipV="1">
            <a:off x="5457879" y="5055577"/>
            <a:ext cx="1962829" cy="1670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A937271-F03E-0EAA-73A2-DDE83BA08E29}"/>
              </a:ext>
            </a:extLst>
          </p:cNvPr>
          <p:cNvSpPr txBox="1"/>
          <p:nvPr/>
        </p:nvSpPr>
        <p:spPr>
          <a:xfrm>
            <a:off x="386076" y="912930"/>
            <a:ext cx="7280815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F-program, the system programmer has the following options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1-32 emergency stop zones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1-32 gate zones (protective circuit zones) </a:t>
            </a:r>
          </a:p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937271-F03E-0EAA-73A2-DDE83BA08E29}"/>
              </a:ext>
            </a:extLst>
          </p:cNvPr>
          <p:cNvSpPr txBox="1"/>
          <p:nvPr/>
        </p:nvSpPr>
        <p:spPr>
          <a:xfrm>
            <a:off x="322323" y="2284431"/>
            <a:ext cx="6985730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safety device need to be assigned a zone and estop zone number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5503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7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14074F-23D9-98A9-27E6-65718EC67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429" y="1776108"/>
            <a:ext cx="5016688" cy="37544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3403AE-CFDF-7DEE-E6E0-A0B86D681258}"/>
              </a:ext>
            </a:extLst>
          </p:cNvPr>
          <p:cNvSpPr txBox="1"/>
          <p:nvPr/>
        </p:nvSpPr>
        <p:spPr>
          <a:xfrm>
            <a:off x="883501" y="1059623"/>
            <a:ext cx="6093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_ All safe actuators contain the following saving releases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F89A61-F8E3-7232-41D3-CD786DBAA38B}"/>
              </a:ext>
            </a:extLst>
          </p:cNvPr>
          <p:cNvSpPr txBox="1"/>
          <p:nvPr/>
        </p:nvSpPr>
        <p:spPr>
          <a:xfrm>
            <a:off x="6223885" y="2339279"/>
            <a:ext cx="538675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_ The emergency stop and protective circuit releases are canceled or acknowledged by the zone configured on the actuator.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_ The MISC  release is available at the actuators (as far as provided by the standard) as a discrete input at the failsafe modules of the actuators.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_ The "MISC" input can be used to implement other safe deactivations that cannot be implemented with the zone concept.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_ By default, discrete deactivations of individual or a small number of actuators are implemented in the GSC (operator's loading station).</a:t>
            </a: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51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15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82624" y="1099185"/>
            <a:ext cx="2986405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</a:rPr>
              <a:t>L</a:t>
            </a:r>
            <a:r>
              <a:rPr lang="en-US" altLang="zh-CN" b="1" dirty="0">
                <a:solidFill>
                  <a:srgbClr val="FF0000"/>
                </a:solidFill>
                <a:latin typeface="Arial MT Std" panose="020B0802020202020204" charset="0"/>
                <a:ea typeface="Arial Unicode MS" panose="020B0604020202020204" charset="-122"/>
              </a:rPr>
              <a:t>I</a:t>
            </a: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</a:rPr>
              <a:t>NK</a:t>
            </a:r>
            <a:r>
              <a:rPr lang="en-US" altLang="zh-CN" b="1" dirty="0">
                <a:latin typeface="Arial MT Std" panose="020B0802020202020204" charset="0"/>
                <a:ea typeface="Arial Unicode MS" panose="020B0604020202020204" charset="-122"/>
              </a:rPr>
              <a:t> </a:t>
            </a: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</a:rPr>
              <a:t>Group Headquarter</a:t>
            </a:r>
          </a:p>
          <a:p>
            <a:pPr algn="ctr">
              <a:lnSpc>
                <a:spcPct val="130000"/>
              </a:lnSpc>
            </a:pP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</a:rPr>
              <a:t>Shanghai, China </a:t>
            </a:r>
            <a:endParaRPr lang="en-US" altLang="zh-CN" dirty="0">
              <a:solidFill>
                <a:srgbClr val="0070C0"/>
              </a:solidFill>
              <a:latin typeface="Arial" panose="020B0604020202020204" pitchFamily="34" charset="0"/>
              <a:ea typeface="Arial Unicode MS" panose="020B0604020202020204" charset="-122"/>
            </a:endParaRPr>
          </a:p>
        </p:txBody>
      </p:sp>
      <p:pic>
        <p:nvPicPr>
          <p:cNvPr id="71" name="图片 70" descr="LINK封面1改1111"/>
          <p:cNvPicPr>
            <a:picLocks noChangeAspect="1"/>
          </p:cNvPicPr>
          <p:nvPr/>
        </p:nvPicPr>
        <p:blipFill>
          <a:blip r:embed="rId2"/>
          <a:srcRect l="70401" t="12295" r="11041" b="71499"/>
          <a:stretch>
            <a:fillRect/>
          </a:stretch>
        </p:blipFill>
        <p:spPr>
          <a:xfrm>
            <a:off x="10258425" y="73025"/>
            <a:ext cx="1493520" cy="73406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87058" y="238760"/>
            <a:ext cx="17919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b="1" dirty="0">
                <a:solidFill>
                  <a:schemeClr val="bg1"/>
                </a:solidFill>
                <a:uFillTx/>
                <a:latin typeface="Arial MT Std" panose="020B0802020202020204" charset="0"/>
                <a:ea typeface="Arial Unicode MS" panose="020B0604020202020204" charset="-122"/>
                <a:sym typeface="+mn-ea"/>
              </a:rPr>
              <a:t>C</a:t>
            </a:r>
            <a:r>
              <a:rPr lang="en-US" altLang="zh-CN" sz="2400" b="1" dirty="0">
                <a:solidFill>
                  <a:schemeClr val="bg1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ontact Us</a:t>
            </a:r>
          </a:p>
        </p:txBody>
      </p:sp>
      <p:grpSp>
        <p:nvGrpSpPr>
          <p:cNvPr id="50" name="组合 49"/>
          <p:cNvGrpSpPr/>
          <p:nvPr/>
        </p:nvGrpSpPr>
        <p:grpSpPr>
          <a:xfrm>
            <a:off x="852805" y="2623185"/>
            <a:ext cx="2970530" cy="3374390"/>
            <a:chOff x="913" y="4001"/>
            <a:chExt cx="4678" cy="5314"/>
          </a:xfrm>
        </p:grpSpPr>
        <p:sp>
          <p:nvSpPr>
            <p:cNvPr id="9" name="任意多边形 8"/>
            <p:cNvSpPr/>
            <p:nvPr/>
          </p:nvSpPr>
          <p:spPr>
            <a:xfrm>
              <a:off x="913" y="4001"/>
              <a:ext cx="4577" cy="5314"/>
            </a:xfrm>
            <a:custGeom>
              <a:avLst/>
              <a:gdLst>
                <a:gd name="connsiteX0" fmla="*/ 0 w 4577"/>
                <a:gd name="connsiteY0" fmla="*/ 268 h 4985"/>
                <a:gd name="connsiteX1" fmla="*/ 179 w 4577"/>
                <a:gd name="connsiteY1" fmla="*/ 0 h 4985"/>
                <a:gd name="connsiteX2" fmla="*/ 4398 w 4577"/>
                <a:gd name="connsiteY2" fmla="*/ 0 h 4985"/>
                <a:gd name="connsiteX3" fmla="*/ 4577 w 4577"/>
                <a:gd name="connsiteY3" fmla="*/ 268 h 4985"/>
                <a:gd name="connsiteX4" fmla="*/ 4565 w 4577"/>
                <a:gd name="connsiteY4" fmla="*/ 4734 h 4985"/>
                <a:gd name="connsiteX5" fmla="*/ 4429 w 4577"/>
                <a:gd name="connsiteY5" fmla="*/ 4985 h 4985"/>
                <a:gd name="connsiteX6" fmla="*/ 177 w 4577"/>
                <a:gd name="connsiteY6" fmla="*/ 4982 h 4985"/>
                <a:gd name="connsiteX7" fmla="*/ 10 w 4577"/>
                <a:gd name="connsiteY7" fmla="*/ 4771 h 4985"/>
                <a:gd name="connsiteX8" fmla="*/ 0 w 4577"/>
                <a:gd name="connsiteY8" fmla="*/ 268 h 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7" h="4985">
                  <a:moveTo>
                    <a:pt x="0" y="268"/>
                  </a:moveTo>
                  <a:cubicBezTo>
                    <a:pt x="0" y="120"/>
                    <a:pt x="80" y="0"/>
                    <a:pt x="179" y="0"/>
                  </a:cubicBezTo>
                  <a:lnTo>
                    <a:pt x="4398" y="0"/>
                  </a:lnTo>
                  <a:cubicBezTo>
                    <a:pt x="4497" y="0"/>
                    <a:pt x="4577" y="120"/>
                    <a:pt x="4577" y="268"/>
                  </a:cubicBezTo>
                  <a:lnTo>
                    <a:pt x="4565" y="4734"/>
                  </a:lnTo>
                  <a:cubicBezTo>
                    <a:pt x="4565" y="4882"/>
                    <a:pt x="4528" y="4985"/>
                    <a:pt x="4429" y="4985"/>
                  </a:cubicBezTo>
                  <a:lnTo>
                    <a:pt x="177" y="4982"/>
                  </a:lnTo>
                  <a:cubicBezTo>
                    <a:pt x="78" y="4982"/>
                    <a:pt x="10" y="4919"/>
                    <a:pt x="10" y="4771"/>
                  </a:cubicBezTo>
                  <a:lnTo>
                    <a:pt x="0" y="268"/>
                  </a:lnTo>
                  <a:close/>
                </a:path>
              </a:pathLst>
            </a:custGeom>
            <a:noFill/>
            <a:ln>
              <a:solidFill>
                <a:srgbClr val="016AC5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4" y="5273"/>
              <a:ext cx="717" cy="632"/>
            </a:xfrm>
            <a:prstGeom prst="rect">
              <a:avLst/>
            </a:prstGeom>
          </p:spPr>
        </p:pic>
        <p:pic>
          <p:nvPicPr>
            <p:cNvPr id="8" name="图片 7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4" y="4609"/>
              <a:ext cx="712" cy="627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1026" y="4178"/>
              <a:ext cx="146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Enquiry 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603" y="4729"/>
              <a:ext cx="33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ying.liu@LKautomation.com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603" y="5454"/>
              <a:ext cx="278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+86 021  6918 0161</a:t>
              </a: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026" y="5905"/>
              <a:ext cx="111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Sales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603" y="6496"/>
              <a:ext cx="39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gene.zhang@LKautomation.com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603" y="7127"/>
              <a:ext cx="2787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+86 136 2179 1621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004" y="7670"/>
              <a:ext cx="4486" cy="1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Address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BLDG #D,North </a:t>
              </a: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Jiasong</a:t>
              </a: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 Road No.3570 Jiading District,Shanghai,</a:t>
              </a: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P.R.China</a:t>
              </a:r>
              <a:r>
                <a:rPr lang="en-US" altLang="zh-CN" sz="12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 </a:t>
              </a:r>
            </a:p>
            <a:p>
              <a:endParaRPr lang="en-US" altLang="zh-CN" sz="1200" dirty="0">
                <a:solidFill>
                  <a:srgbClr val="016AC5"/>
                </a:solidFill>
                <a:latin typeface="Arial" panose="020B0604020202020204" pitchFamily="34" charset="0"/>
                <a:ea typeface="Arial Unicode MS" panose="020B0604020202020204" charset="-122"/>
                <a:sym typeface="+mn-ea"/>
              </a:endParaRPr>
            </a:p>
          </p:txBody>
        </p:sp>
        <p:pic>
          <p:nvPicPr>
            <p:cNvPr id="11" name="图片 10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4" y="7040"/>
              <a:ext cx="717" cy="632"/>
            </a:xfrm>
            <a:prstGeom prst="rect">
              <a:avLst/>
            </a:prstGeom>
          </p:spPr>
        </p:pic>
        <p:pic>
          <p:nvPicPr>
            <p:cNvPr id="13" name="图片 12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4" y="6376"/>
              <a:ext cx="712" cy="627"/>
            </a:xfrm>
            <a:prstGeom prst="rect">
              <a:avLst/>
            </a:prstGeom>
          </p:spPr>
        </p:pic>
      </p:grpSp>
      <p:sp>
        <p:nvSpPr>
          <p:cNvPr id="22" name="文本框 21"/>
          <p:cNvSpPr txBox="1"/>
          <p:nvPr/>
        </p:nvSpPr>
        <p:spPr>
          <a:xfrm>
            <a:off x="3904932" y="1099185"/>
            <a:ext cx="4370070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L</a:t>
            </a:r>
            <a:r>
              <a:rPr lang="en-US" altLang="zh-CN" b="1" kern="600" dirty="0">
                <a:solidFill>
                  <a:srgbClr val="FF000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I</a:t>
            </a: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NK</a:t>
            </a:r>
            <a:r>
              <a:rPr lang="en-US" altLang="zh-CN" b="1" kern="600" dirty="0">
                <a:latin typeface="Arial MT Std" panose="020B0802020202020204" charset="0"/>
                <a:ea typeface="Arial Unicode MS" panose="020B0604020202020204" charset="-122"/>
                <a:sym typeface="+mn-ea"/>
              </a:rPr>
              <a:t> </a:t>
            </a: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Group North China</a:t>
            </a:r>
          </a:p>
          <a:p>
            <a:pPr algn="ctr">
              <a:lnSpc>
                <a:spcPct val="130000"/>
              </a:lnSpc>
            </a:pP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Shenyang, China</a:t>
            </a:r>
            <a:endParaRPr lang="en-US" altLang="zh-CN" kern="600" dirty="0">
              <a:solidFill>
                <a:srgbClr val="0070C0"/>
              </a:solidFill>
              <a:latin typeface="Arial" panose="020B0604020202020204" pitchFamily="34" charset="0"/>
              <a:ea typeface="Arial Unicode MS" panose="020B060402020202020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7885112" y="1113479"/>
            <a:ext cx="4092575" cy="11726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L</a:t>
            </a:r>
            <a:r>
              <a:rPr lang="en-US" altLang="zh-CN" b="1" kern="600" dirty="0">
                <a:solidFill>
                  <a:srgbClr val="FF000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I</a:t>
            </a: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N</a:t>
            </a: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K Group Europe</a:t>
            </a:r>
            <a:b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</a:b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(LKGG GmbH)</a:t>
            </a:r>
          </a:p>
          <a:p>
            <a:pPr algn="ctr">
              <a:lnSpc>
                <a:spcPct val="130000"/>
              </a:lnSpc>
            </a:pP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Bad Reichenhall, Germany</a:t>
            </a:r>
            <a:endParaRPr lang="en-US" altLang="zh-CN" kern="600" dirty="0">
              <a:solidFill>
                <a:srgbClr val="0070C0"/>
              </a:solidFill>
              <a:latin typeface="Arial" panose="020B0604020202020204" pitchFamily="34" charset="0"/>
              <a:ea typeface="Arial Unicode MS" panose="020B0604020202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652583" y="6489708"/>
            <a:ext cx="551247" cy="365125"/>
          </a:xfrm>
        </p:spPr>
        <p:txBody>
          <a:bodyPr/>
          <a:lstStyle/>
          <a:p>
            <a:fld id="{D57F1E4F-1CFF-5643-939E-217C01CDF565}" type="slidenum">
              <a:rPr lang="en-US" dirty="0">
                <a:latin typeface="Arial Unicode MS" panose="020B0604020202020204" charset="-122"/>
                <a:ea typeface="Arial Unicode MS" panose="020B0604020202020204" charset="-122"/>
              </a:rPr>
              <a:t>9</a:t>
            </a:fld>
            <a:endParaRPr lang="en-US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4690746" y="2623185"/>
            <a:ext cx="2970530" cy="3374390"/>
            <a:chOff x="6872" y="4001"/>
            <a:chExt cx="4678" cy="5314"/>
          </a:xfrm>
        </p:grpSpPr>
        <p:sp>
          <p:nvSpPr>
            <p:cNvPr id="18" name="任意多边形 17"/>
            <p:cNvSpPr/>
            <p:nvPr/>
          </p:nvSpPr>
          <p:spPr>
            <a:xfrm>
              <a:off x="6872" y="4001"/>
              <a:ext cx="4577" cy="5314"/>
            </a:xfrm>
            <a:custGeom>
              <a:avLst/>
              <a:gdLst>
                <a:gd name="connsiteX0" fmla="*/ 0 w 4577"/>
                <a:gd name="connsiteY0" fmla="*/ 268 h 4985"/>
                <a:gd name="connsiteX1" fmla="*/ 179 w 4577"/>
                <a:gd name="connsiteY1" fmla="*/ 0 h 4985"/>
                <a:gd name="connsiteX2" fmla="*/ 4398 w 4577"/>
                <a:gd name="connsiteY2" fmla="*/ 0 h 4985"/>
                <a:gd name="connsiteX3" fmla="*/ 4577 w 4577"/>
                <a:gd name="connsiteY3" fmla="*/ 268 h 4985"/>
                <a:gd name="connsiteX4" fmla="*/ 4565 w 4577"/>
                <a:gd name="connsiteY4" fmla="*/ 4734 h 4985"/>
                <a:gd name="connsiteX5" fmla="*/ 4429 w 4577"/>
                <a:gd name="connsiteY5" fmla="*/ 4985 h 4985"/>
                <a:gd name="connsiteX6" fmla="*/ 177 w 4577"/>
                <a:gd name="connsiteY6" fmla="*/ 4982 h 4985"/>
                <a:gd name="connsiteX7" fmla="*/ 10 w 4577"/>
                <a:gd name="connsiteY7" fmla="*/ 4771 h 4985"/>
                <a:gd name="connsiteX8" fmla="*/ 0 w 4577"/>
                <a:gd name="connsiteY8" fmla="*/ 268 h 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7" h="4985">
                  <a:moveTo>
                    <a:pt x="0" y="268"/>
                  </a:moveTo>
                  <a:cubicBezTo>
                    <a:pt x="0" y="120"/>
                    <a:pt x="80" y="0"/>
                    <a:pt x="179" y="0"/>
                  </a:cubicBezTo>
                  <a:lnTo>
                    <a:pt x="4398" y="0"/>
                  </a:lnTo>
                  <a:cubicBezTo>
                    <a:pt x="4497" y="0"/>
                    <a:pt x="4577" y="120"/>
                    <a:pt x="4577" y="268"/>
                  </a:cubicBezTo>
                  <a:lnTo>
                    <a:pt x="4565" y="4734"/>
                  </a:lnTo>
                  <a:cubicBezTo>
                    <a:pt x="4565" y="4882"/>
                    <a:pt x="4528" y="4985"/>
                    <a:pt x="4429" y="4985"/>
                  </a:cubicBezTo>
                  <a:lnTo>
                    <a:pt x="177" y="4982"/>
                  </a:lnTo>
                  <a:cubicBezTo>
                    <a:pt x="78" y="4982"/>
                    <a:pt x="10" y="4919"/>
                    <a:pt x="10" y="4771"/>
                  </a:cubicBezTo>
                  <a:lnTo>
                    <a:pt x="0" y="268"/>
                  </a:lnTo>
                  <a:close/>
                </a:path>
              </a:pathLst>
            </a:custGeom>
            <a:noFill/>
            <a:ln>
              <a:solidFill>
                <a:srgbClr val="016AC5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片 22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63" y="5273"/>
              <a:ext cx="717" cy="632"/>
            </a:xfrm>
            <a:prstGeom prst="rect">
              <a:avLst/>
            </a:prstGeom>
          </p:spPr>
        </p:pic>
        <p:pic>
          <p:nvPicPr>
            <p:cNvPr id="26" name="图片 25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63" y="4609"/>
              <a:ext cx="712" cy="627"/>
            </a:xfrm>
            <a:prstGeom prst="rect">
              <a:avLst/>
            </a:prstGeom>
          </p:spPr>
        </p:pic>
        <p:sp>
          <p:nvSpPr>
            <p:cNvPr id="27" name="文本框 26"/>
            <p:cNvSpPr txBox="1"/>
            <p:nvPr/>
          </p:nvSpPr>
          <p:spPr>
            <a:xfrm>
              <a:off x="6985" y="4178"/>
              <a:ext cx="146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Enquiry </a:t>
              </a: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7562" y="4729"/>
              <a:ext cx="33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kimi.wang@LKautomation.com</a:t>
              </a: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7562" y="5454"/>
              <a:ext cx="278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+86 021  6918 0161</a:t>
              </a: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6985" y="5905"/>
              <a:ext cx="111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Sales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7562" y="6496"/>
              <a:ext cx="39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gene.zhang@LKautomation.com</a:t>
              </a: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7562" y="7127"/>
              <a:ext cx="2787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+86 136 2179 1621</a:t>
              </a: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6963" y="7670"/>
              <a:ext cx="4233" cy="1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Address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NO. 14 22nd Floor,NO.168-3 Harbin Road, 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Shenhe</a:t>
              </a: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 District,Shenyang,Liaoning 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Province,</a:t>
              </a: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P.R.China</a:t>
              </a:r>
              <a:endParaRPr lang="en-US" altLang="zh-CN" sz="1200" dirty="0">
                <a:solidFill>
                  <a:srgbClr val="016AC5"/>
                </a:solidFill>
                <a:latin typeface="Arial" panose="020B0604020202020204" pitchFamily="34" charset="0"/>
                <a:ea typeface="Arial Unicode MS" panose="020B0604020202020204" charset="-122"/>
                <a:sym typeface="+mn-ea"/>
              </a:endParaRPr>
            </a:p>
          </p:txBody>
        </p:sp>
        <p:pic>
          <p:nvPicPr>
            <p:cNvPr id="34" name="图片 33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63" y="7040"/>
              <a:ext cx="717" cy="632"/>
            </a:xfrm>
            <a:prstGeom prst="rect">
              <a:avLst/>
            </a:prstGeom>
          </p:spPr>
        </p:pic>
        <p:pic>
          <p:nvPicPr>
            <p:cNvPr id="35" name="图片 34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63" y="6376"/>
              <a:ext cx="712" cy="627"/>
            </a:xfrm>
            <a:prstGeom prst="rect">
              <a:avLst/>
            </a:prstGeom>
          </p:spPr>
        </p:pic>
      </p:grpSp>
      <p:grpSp>
        <p:nvGrpSpPr>
          <p:cNvPr id="3" name="组合 2"/>
          <p:cNvGrpSpPr/>
          <p:nvPr/>
        </p:nvGrpSpPr>
        <p:grpSpPr>
          <a:xfrm>
            <a:off x="8478203" y="2623185"/>
            <a:ext cx="3121660" cy="3374390"/>
            <a:chOff x="12853" y="4001"/>
            <a:chExt cx="4916" cy="5314"/>
          </a:xfrm>
        </p:grpSpPr>
        <p:sp>
          <p:nvSpPr>
            <p:cNvPr id="37" name="任意多边形 36"/>
            <p:cNvSpPr/>
            <p:nvPr/>
          </p:nvSpPr>
          <p:spPr>
            <a:xfrm>
              <a:off x="12853" y="4001"/>
              <a:ext cx="4577" cy="5314"/>
            </a:xfrm>
            <a:custGeom>
              <a:avLst/>
              <a:gdLst>
                <a:gd name="connsiteX0" fmla="*/ 0 w 4577"/>
                <a:gd name="connsiteY0" fmla="*/ 268 h 4985"/>
                <a:gd name="connsiteX1" fmla="*/ 179 w 4577"/>
                <a:gd name="connsiteY1" fmla="*/ 0 h 4985"/>
                <a:gd name="connsiteX2" fmla="*/ 4398 w 4577"/>
                <a:gd name="connsiteY2" fmla="*/ 0 h 4985"/>
                <a:gd name="connsiteX3" fmla="*/ 4577 w 4577"/>
                <a:gd name="connsiteY3" fmla="*/ 268 h 4985"/>
                <a:gd name="connsiteX4" fmla="*/ 4565 w 4577"/>
                <a:gd name="connsiteY4" fmla="*/ 4734 h 4985"/>
                <a:gd name="connsiteX5" fmla="*/ 4429 w 4577"/>
                <a:gd name="connsiteY5" fmla="*/ 4985 h 4985"/>
                <a:gd name="connsiteX6" fmla="*/ 177 w 4577"/>
                <a:gd name="connsiteY6" fmla="*/ 4982 h 4985"/>
                <a:gd name="connsiteX7" fmla="*/ 10 w 4577"/>
                <a:gd name="connsiteY7" fmla="*/ 4771 h 4985"/>
                <a:gd name="connsiteX8" fmla="*/ 0 w 4577"/>
                <a:gd name="connsiteY8" fmla="*/ 268 h 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7" h="4985">
                  <a:moveTo>
                    <a:pt x="0" y="268"/>
                  </a:moveTo>
                  <a:cubicBezTo>
                    <a:pt x="0" y="120"/>
                    <a:pt x="80" y="0"/>
                    <a:pt x="179" y="0"/>
                  </a:cubicBezTo>
                  <a:lnTo>
                    <a:pt x="4398" y="0"/>
                  </a:lnTo>
                  <a:cubicBezTo>
                    <a:pt x="4497" y="0"/>
                    <a:pt x="4577" y="120"/>
                    <a:pt x="4577" y="268"/>
                  </a:cubicBezTo>
                  <a:lnTo>
                    <a:pt x="4565" y="4734"/>
                  </a:lnTo>
                  <a:cubicBezTo>
                    <a:pt x="4565" y="4882"/>
                    <a:pt x="4528" y="4985"/>
                    <a:pt x="4429" y="4985"/>
                  </a:cubicBezTo>
                  <a:lnTo>
                    <a:pt x="177" y="4982"/>
                  </a:lnTo>
                  <a:cubicBezTo>
                    <a:pt x="78" y="4982"/>
                    <a:pt x="10" y="4919"/>
                    <a:pt x="10" y="4771"/>
                  </a:cubicBezTo>
                  <a:lnTo>
                    <a:pt x="0" y="268"/>
                  </a:lnTo>
                  <a:close/>
                </a:path>
              </a:pathLst>
            </a:custGeom>
            <a:noFill/>
            <a:ln>
              <a:solidFill>
                <a:srgbClr val="016AC5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9" name="图片 38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44" y="5273"/>
              <a:ext cx="717" cy="632"/>
            </a:xfrm>
            <a:prstGeom prst="rect">
              <a:avLst/>
            </a:prstGeom>
          </p:spPr>
        </p:pic>
        <p:pic>
          <p:nvPicPr>
            <p:cNvPr id="40" name="图片 39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944" y="4609"/>
              <a:ext cx="712" cy="627"/>
            </a:xfrm>
            <a:prstGeom prst="rect">
              <a:avLst/>
            </a:prstGeom>
          </p:spPr>
        </p:pic>
        <p:sp>
          <p:nvSpPr>
            <p:cNvPr id="41" name="文本框 40"/>
            <p:cNvSpPr txBox="1"/>
            <p:nvPr/>
          </p:nvSpPr>
          <p:spPr>
            <a:xfrm>
              <a:off x="12966" y="4178"/>
              <a:ext cx="146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Enquiry </a:t>
              </a: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3543" y="4729"/>
              <a:ext cx="33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jackey.yin@LKautomation.com</a:t>
              </a: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3543" y="5454"/>
              <a:ext cx="278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+86 186 2171 9367 </a:t>
              </a: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12966" y="5905"/>
              <a:ext cx="111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Sales</a:t>
              </a: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13543" y="6496"/>
              <a:ext cx="39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andreas.reymendt@LKautomation.com</a:t>
              </a: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3543" y="7127"/>
              <a:ext cx="2787" cy="4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endParaRPr lang="en-US" altLang="zh-CN" sz="1000" dirty="0">
                <a:solidFill>
                  <a:srgbClr val="016AC5"/>
                </a:solidFill>
                <a:latin typeface="Arial" panose="020B0604020202020204" pitchFamily="34" charset="0"/>
                <a:ea typeface="Arial Unicode MS" panose="020B0604020202020204" charset="-122"/>
                <a:sym typeface="+mn-ea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2944" y="7670"/>
              <a:ext cx="4825" cy="1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Address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Fischerbraeuwiese</a:t>
              </a: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 18b,83435 Bad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Reichenhall</a:t>
              </a: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,Bavaria,Germany</a:t>
              </a:r>
              <a:endParaRPr lang="en-US" altLang="zh-CN" sz="1200" dirty="0">
                <a:solidFill>
                  <a:srgbClr val="016AC5"/>
                </a:solidFill>
                <a:latin typeface="Arial" panose="020B0604020202020204" pitchFamily="34" charset="0"/>
                <a:ea typeface="Arial Unicode MS" panose="020B0604020202020204" charset="-122"/>
                <a:sym typeface="+mn-ea"/>
              </a:endParaRPr>
            </a:p>
          </p:txBody>
        </p:sp>
        <p:pic>
          <p:nvPicPr>
            <p:cNvPr id="48" name="图片 47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44" y="7040"/>
              <a:ext cx="717" cy="632"/>
            </a:xfrm>
            <a:prstGeom prst="rect">
              <a:avLst/>
            </a:prstGeom>
          </p:spPr>
        </p:pic>
        <p:pic>
          <p:nvPicPr>
            <p:cNvPr id="49" name="图片 48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944" y="6376"/>
              <a:ext cx="712" cy="6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12695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6271</TotalTime>
  <Words>326</Words>
  <Application>Microsoft Office PowerPoint</Application>
  <PresentationFormat>Widescreen</PresentationFormat>
  <Paragraphs>70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Microsoft YaHei</vt:lpstr>
      <vt:lpstr>SimSun</vt:lpstr>
      <vt:lpstr>Arial</vt:lpstr>
      <vt:lpstr>Arial MT Std</vt:lpstr>
      <vt:lpstr>Arial Unicode MS</vt:lpstr>
      <vt:lpstr>Arial-BoldMT</vt:lpstr>
      <vt:lpstr>ArialMT</vt:lpstr>
      <vt:lpstr>Calibri</vt:lpstr>
      <vt:lpstr>Calibri Light</vt:lpstr>
      <vt:lpstr>Times New Roman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Sean Ma</dc:creator>
  <cp:lastModifiedBy>lâm phạm</cp:lastModifiedBy>
  <cp:revision>363</cp:revision>
  <dcterms:created xsi:type="dcterms:W3CDTF">2018-08-09T02:12:30Z</dcterms:created>
  <dcterms:modified xsi:type="dcterms:W3CDTF">2026-04-02T13:59:57Z</dcterms:modified>
</cp:coreProperties>
</file>