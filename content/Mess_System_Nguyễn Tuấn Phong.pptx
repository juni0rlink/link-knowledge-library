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92" r:id="rId3"/>
    <p:sldId id="293" r:id="rId4"/>
    <p:sldId id="294" r:id="rId5"/>
    <p:sldId id="295" r:id="rId6"/>
    <p:sldId id="296" r:id="rId7"/>
    <p:sldId id="297" r:id="rId8"/>
    <p:sldId id="298" r:id="rId9"/>
    <p:sldId id="299" r:id="rId10"/>
    <p:sldId id="25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868" autoAdjust="0"/>
    <p:restoredTop sz="96768" autoAdjust="0"/>
  </p:normalViewPr>
  <p:slideViewPr>
    <p:cSldViewPr snapToGrid="0">
      <p:cViewPr varScale="1">
        <p:scale>
          <a:sx n="85" d="100"/>
          <a:sy n="85" d="100"/>
        </p:scale>
        <p:origin x="461"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B9BC47-F8BA-4390-A7BD-1C273A7606B5}" type="datetimeFigureOut">
              <a:rPr lang="en-US" smtClean="0"/>
              <a:t>5/17/2024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D30944-E3CD-41B0-963A-3183A7CD1065}" type="slidenum">
              <a:rPr lang="en-US" smtClean="0"/>
              <a:t>‹#›</a:t>
            </a:fld>
            <a:endParaRPr lang="en-US"/>
          </a:p>
        </p:txBody>
      </p:sp>
    </p:spTree>
    <p:extLst>
      <p:ext uri="{BB962C8B-B14F-4D97-AF65-F5344CB8AC3E}">
        <p14:creationId xmlns:p14="http://schemas.microsoft.com/office/powerpoint/2010/main" val="1884197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5/17/2024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462775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5/17/2024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468197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F24B26F-F2E0-4F53-981B-BB84DEAAB2C5}" type="datetimeFigureOut">
              <a:rPr lang="en-US" smtClean="0"/>
              <a:t>5/17/2024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958719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p:cNvSpPr>
            <a:spLocks noGrp="1"/>
          </p:cNvSpPr>
          <p:nvPr>
            <p:ph type="dt" sz="half" idx="10"/>
          </p:nvPr>
        </p:nvSpPr>
        <p:spPr/>
        <p:txBody>
          <a:bodyPr/>
          <a:lstStyle/>
          <a:p>
            <a:fld id="{FF24B26F-F2E0-4F53-981B-BB84DEAAB2C5}" type="datetimeFigureOut">
              <a:rPr lang="en-US" smtClean="0"/>
              <a:t>5/17/2024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4012089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p:cNvSpPr>
            <a:spLocks noGrp="1"/>
          </p:cNvSpPr>
          <p:nvPr>
            <p:ph type="dt" sz="half" idx="10"/>
          </p:nvPr>
        </p:nvSpPr>
        <p:spPr/>
        <p:txBody>
          <a:bodyPr/>
          <a:lstStyle/>
          <a:p>
            <a:fld id="{FF24B26F-F2E0-4F53-981B-BB84DEAAB2C5}" type="datetimeFigureOut">
              <a:rPr lang="en-US" smtClean="0"/>
              <a:t>5/17/2024</a:t>
            </a:fld>
            <a:endParaRPr lang="en-US"/>
          </a:p>
        </p:txBody>
      </p:sp>
      <p:sp>
        <p:nvSpPr>
          <p:cNvPr id="8" name="页脚占位符 7"/>
          <p:cNvSpPr>
            <a:spLocks noGrp="1"/>
          </p:cNvSpPr>
          <p:nvPr>
            <p:ph type="ftr" sz="quarter" idx="11"/>
          </p:nvPr>
        </p:nvSpPr>
        <p:spPr/>
        <p:txBody>
          <a:bodyPr/>
          <a:lstStyle/>
          <a:p>
            <a:endParaRPr lang="en-US"/>
          </a:p>
        </p:txBody>
      </p:sp>
      <p:sp>
        <p:nvSpPr>
          <p:cNvPr id="9" name="灯片编号占位符 8"/>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1241031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日期占位符 2"/>
          <p:cNvSpPr>
            <a:spLocks noGrp="1"/>
          </p:cNvSpPr>
          <p:nvPr>
            <p:ph type="dt" sz="half" idx="10"/>
          </p:nvPr>
        </p:nvSpPr>
        <p:spPr/>
        <p:txBody>
          <a:bodyPr/>
          <a:lstStyle/>
          <a:p>
            <a:fld id="{FF24B26F-F2E0-4F53-981B-BB84DEAAB2C5}" type="datetimeFigureOut">
              <a:rPr lang="en-US" smtClean="0"/>
              <a:t>5/17/2024</a:t>
            </a:fld>
            <a:endParaRPr lang="en-US"/>
          </a:p>
        </p:txBody>
      </p:sp>
      <p:sp>
        <p:nvSpPr>
          <p:cNvPr id="4" name="页脚占位符 3"/>
          <p:cNvSpPr>
            <a:spLocks noGrp="1"/>
          </p:cNvSpPr>
          <p:nvPr>
            <p:ph type="ftr" sz="quarter" idx="11"/>
          </p:nvPr>
        </p:nvSpPr>
        <p:spPr/>
        <p:txBody>
          <a:bodyPr/>
          <a:lstStyle/>
          <a:p>
            <a:endParaRPr lang="en-US"/>
          </a:p>
        </p:txBody>
      </p:sp>
      <p:sp>
        <p:nvSpPr>
          <p:cNvPr id="5" name="灯片编号占位符 4"/>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903588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F24B26F-F2E0-4F53-981B-BB84DEAAB2C5}" type="datetimeFigureOut">
              <a:rPr lang="en-US" smtClean="0"/>
              <a:t>5/17/2024</a:t>
            </a:fld>
            <a:endParaRPr lang="en-US"/>
          </a:p>
        </p:txBody>
      </p:sp>
      <p:sp>
        <p:nvSpPr>
          <p:cNvPr id="3" name="页脚占位符 2"/>
          <p:cNvSpPr>
            <a:spLocks noGrp="1"/>
          </p:cNvSpPr>
          <p:nvPr>
            <p:ph type="ftr" sz="quarter" idx="11"/>
          </p:nvPr>
        </p:nvSpPr>
        <p:spPr/>
        <p:txBody>
          <a:bodyPr/>
          <a:lstStyle/>
          <a:p>
            <a:endParaRPr lang="en-US"/>
          </a:p>
        </p:txBody>
      </p:sp>
      <p:sp>
        <p:nvSpPr>
          <p:cNvPr id="4" name="灯片编号占位符 3"/>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2808877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F24B26F-F2E0-4F53-981B-BB84DEAAB2C5}" type="datetimeFigureOut">
              <a:rPr lang="en-US" smtClean="0"/>
              <a:t>5/17/2024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3825197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F24B26F-F2E0-4F53-981B-BB84DEAAB2C5}" type="datetimeFigureOut">
              <a:rPr lang="en-US" smtClean="0"/>
              <a:t>5/17/2024</a:t>
            </a:fld>
            <a:endParaRPr lang="en-US"/>
          </a:p>
        </p:txBody>
      </p:sp>
      <p:sp>
        <p:nvSpPr>
          <p:cNvPr id="6" name="页脚占位符 5"/>
          <p:cNvSpPr>
            <a:spLocks noGrp="1"/>
          </p:cNvSpPr>
          <p:nvPr>
            <p:ph type="ftr" sz="quarter" idx="11"/>
          </p:nvPr>
        </p:nvSpPr>
        <p:spPr/>
        <p:txBody>
          <a:bodyPr/>
          <a:lstStyle/>
          <a:p>
            <a:endParaRPr lang="en-US"/>
          </a:p>
        </p:txBody>
      </p:sp>
      <p:sp>
        <p:nvSpPr>
          <p:cNvPr id="7" name="灯片编号占位符 6"/>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4147193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5/17/2024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1242752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10"/>
          </p:nvPr>
        </p:nvSpPr>
        <p:spPr/>
        <p:txBody>
          <a:bodyPr/>
          <a:lstStyle/>
          <a:p>
            <a:fld id="{FF24B26F-F2E0-4F53-981B-BB84DEAAB2C5}" type="datetimeFigureOut">
              <a:rPr lang="en-US" smtClean="0"/>
              <a:t>5/17/2024</a:t>
            </a:fld>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2FAF076A-AA46-46FC-BDC2-1A0B24C6FFB6}" type="slidenum">
              <a:rPr lang="en-US" smtClean="0"/>
              <a:t>‹#›</a:t>
            </a:fld>
            <a:endParaRPr lang="en-US"/>
          </a:p>
        </p:txBody>
      </p:sp>
    </p:spTree>
    <p:extLst>
      <p:ext uri="{BB962C8B-B14F-4D97-AF65-F5344CB8AC3E}">
        <p14:creationId xmlns:p14="http://schemas.microsoft.com/office/powerpoint/2010/main" val="3663389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9_标题幻灯片">
    <p:bg>
      <p:bgPr>
        <a:blipFill rotWithShape="1">
          <a:blip r:embed="rId2">
            <a:alphaModFix amt="90000"/>
            <a:duotone>
              <a:schemeClr val="phClr">
                <a:shade val="76000"/>
                <a:satMod val="180000"/>
              </a:schemeClr>
              <a:schemeClr val="phClr">
                <a:tint val="80000"/>
                <a:satMod val="120000"/>
                <a:lumMod val="180000"/>
              </a:schemeClr>
            </a:duotone>
          </a:blip>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364077" y="6431923"/>
            <a:ext cx="1143166" cy="365125"/>
          </a:xfrm>
        </p:spPr>
        <p:txBody>
          <a:bodyPr/>
          <a:lstStyle/>
          <a:p>
            <a:fld id="{B61BEF0D-F0BB-DE4B-95CE-6DB70DBA9567}" type="datetimeFigureOut">
              <a:rPr lang="en-US" dirty="0"/>
              <a:t>5/17/2024</a:t>
            </a:fld>
            <a:endParaRPr lang="en-US" dirty="0"/>
          </a:p>
        </p:txBody>
      </p:sp>
      <p:sp>
        <p:nvSpPr>
          <p:cNvPr id="5" name="Footer Placeholder 4"/>
          <p:cNvSpPr>
            <a:spLocks noGrp="1"/>
          </p:cNvSpPr>
          <p:nvPr>
            <p:ph type="ftr" sz="quarter" idx="11"/>
          </p:nvPr>
        </p:nvSpPr>
        <p:spPr>
          <a:xfrm>
            <a:off x="5963199" y="6431923"/>
            <a:ext cx="4324671" cy="365125"/>
          </a:xfrm>
        </p:spPr>
        <p:txBody>
          <a:bodyPr/>
          <a:lstStyle/>
          <a:p>
            <a:endParaRPr lang="en-US" dirty="0"/>
          </a:p>
        </p:txBody>
      </p:sp>
      <p:sp>
        <p:nvSpPr>
          <p:cNvPr id="6" name="Slide Number Placeholder 5"/>
          <p:cNvSpPr>
            <a:spLocks noGrp="1"/>
          </p:cNvSpPr>
          <p:nvPr>
            <p:ph type="sldNum" sz="quarter" idx="12"/>
          </p:nvPr>
        </p:nvSpPr>
        <p:spPr>
          <a:xfrm>
            <a:off x="11583459" y="6431923"/>
            <a:ext cx="551247" cy="365125"/>
          </a:xfrm>
        </p:spPr>
        <p:txBody>
          <a:bodyPr/>
          <a:lstStyle/>
          <a:p>
            <a:fld id="{D57F1E4F-1CFF-5643-939E-217C01CDF565}" type="slidenum">
              <a:rPr lang="en-US" dirty="0"/>
              <a:t>‹#›</a:t>
            </a:fld>
            <a:endParaRPr lang="en-US" dirty="0"/>
          </a:p>
        </p:txBody>
      </p:sp>
      <p:sp>
        <p:nvSpPr>
          <p:cNvPr id="7" name="矩形 6"/>
          <p:cNvSpPr/>
          <p:nvPr userDrawn="1"/>
        </p:nvSpPr>
        <p:spPr>
          <a:xfrm>
            <a:off x="-3810" y="-16510"/>
            <a:ext cx="12223682" cy="6899910"/>
          </a:xfrm>
          <a:prstGeom prst="rect">
            <a:avLst/>
          </a:prstGeom>
          <a:gradFill>
            <a:gsLst>
              <a:gs pos="0">
                <a:schemeClr val="bg1">
                  <a:lumMod val="95000"/>
                </a:schemeClr>
              </a:gs>
              <a:gs pos="42000">
                <a:schemeClr val="bg1"/>
              </a:gs>
              <a:gs pos="69000">
                <a:schemeClr val="bg1">
                  <a:lumMod val="95000"/>
                </a:schemeClr>
              </a:gs>
              <a:gs pos="92000">
                <a:schemeClr val="bg1">
                  <a:lumMod val="9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LINK  PPT1010-05"/>
          <p:cNvPicPr>
            <a:picLocks noChangeAspect="1"/>
          </p:cNvPicPr>
          <p:nvPr userDrawn="1"/>
        </p:nvPicPr>
        <p:blipFill>
          <a:blip r:embed="rId3"/>
          <a:stretch>
            <a:fillRect/>
          </a:stretch>
        </p:blipFill>
        <p:spPr>
          <a:xfrm>
            <a:off x="-3810" y="-16510"/>
            <a:ext cx="12224317" cy="794385"/>
          </a:xfrm>
          <a:prstGeom prst="rect">
            <a:avLst/>
          </a:prstGeom>
        </p:spPr>
      </p:pic>
    </p:spTree>
    <p:extLst>
      <p:ext uri="{BB962C8B-B14F-4D97-AF65-F5344CB8AC3E}">
        <p14:creationId xmlns:p14="http://schemas.microsoft.com/office/powerpoint/2010/main" val="198282156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7_标题幻灯片">
    <p:bg>
      <p:bgPr>
        <a:blipFill rotWithShape="1">
          <a:blip r:embed="rId2">
            <a:alphaModFix amt="90000"/>
            <a:duotone>
              <a:schemeClr val="phClr">
                <a:shade val="76000"/>
                <a:satMod val="180000"/>
              </a:schemeClr>
              <a:schemeClr val="phClr">
                <a:tint val="80000"/>
                <a:satMod val="120000"/>
                <a:lumMod val="180000"/>
              </a:schemeClr>
            </a:duotone>
          </a:blip>
          <a:stretch>
            <a:fillRect/>
          </a:stretch>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0364077" y="6431923"/>
            <a:ext cx="1143166" cy="365125"/>
          </a:xfrm>
        </p:spPr>
        <p:txBody>
          <a:bodyPr/>
          <a:lstStyle/>
          <a:p>
            <a:fld id="{B61BEF0D-F0BB-DE4B-95CE-6DB70DBA9567}" type="datetimeFigureOut">
              <a:rPr lang="en-US" dirty="0"/>
              <a:t>5/17/2024</a:t>
            </a:fld>
            <a:endParaRPr lang="en-US" dirty="0"/>
          </a:p>
        </p:txBody>
      </p:sp>
      <p:sp>
        <p:nvSpPr>
          <p:cNvPr id="5" name="Footer Placeholder 4"/>
          <p:cNvSpPr>
            <a:spLocks noGrp="1"/>
          </p:cNvSpPr>
          <p:nvPr>
            <p:ph type="ftr" sz="quarter" idx="11"/>
          </p:nvPr>
        </p:nvSpPr>
        <p:spPr>
          <a:xfrm>
            <a:off x="5963199" y="6431923"/>
            <a:ext cx="4324671" cy="365125"/>
          </a:xfrm>
        </p:spPr>
        <p:txBody>
          <a:bodyPr/>
          <a:lstStyle/>
          <a:p>
            <a:endParaRPr lang="en-US" dirty="0"/>
          </a:p>
        </p:txBody>
      </p:sp>
      <p:sp>
        <p:nvSpPr>
          <p:cNvPr id="6" name="Slide Number Placeholder 5"/>
          <p:cNvSpPr>
            <a:spLocks noGrp="1"/>
          </p:cNvSpPr>
          <p:nvPr>
            <p:ph type="sldNum" sz="quarter" idx="12"/>
          </p:nvPr>
        </p:nvSpPr>
        <p:spPr>
          <a:xfrm>
            <a:off x="11583459" y="6431923"/>
            <a:ext cx="551247" cy="365125"/>
          </a:xfrm>
        </p:spPr>
        <p:txBody>
          <a:bodyPr/>
          <a:lstStyle/>
          <a:p>
            <a:fld id="{D57F1E4F-1CFF-5643-939E-217C01CDF565}" type="slidenum">
              <a:rPr lang="en-US" dirty="0"/>
              <a:t>‹#›</a:t>
            </a:fld>
            <a:endParaRPr lang="en-US" dirty="0"/>
          </a:p>
        </p:txBody>
      </p:sp>
      <p:sp>
        <p:nvSpPr>
          <p:cNvPr id="7" name="矩形 6"/>
          <p:cNvSpPr/>
          <p:nvPr userDrawn="1"/>
        </p:nvSpPr>
        <p:spPr>
          <a:xfrm>
            <a:off x="-3810" y="-16510"/>
            <a:ext cx="12223682" cy="6899910"/>
          </a:xfrm>
          <a:prstGeom prst="rect">
            <a:avLst/>
          </a:prstGeom>
          <a:gradFill>
            <a:gsLst>
              <a:gs pos="0">
                <a:schemeClr val="bg1">
                  <a:lumMod val="95000"/>
                </a:schemeClr>
              </a:gs>
              <a:gs pos="42000">
                <a:schemeClr val="bg1"/>
              </a:gs>
              <a:gs pos="69000">
                <a:schemeClr val="bg1">
                  <a:lumMod val="95000"/>
                </a:schemeClr>
              </a:gs>
              <a:gs pos="92000">
                <a:schemeClr val="bg1">
                  <a:lumMod val="9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descr="LINK  PPT1010-05"/>
          <p:cNvPicPr>
            <a:picLocks noChangeAspect="1"/>
          </p:cNvPicPr>
          <p:nvPr userDrawn="1"/>
        </p:nvPicPr>
        <p:blipFill>
          <a:blip r:embed="rId3"/>
          <a:stretch>
            <a:fillRect/>
          </a:stretch>
        </p:blipFill>
        <p:spPr>
          <a:xfrm>
            <a:off x="-3810" y="-16510"/>
            <a:ext cx="12224317" cy="794385"/>
          </a:xfrm>
          <a:prstGeom prst="rect">
            <a:avLst/>
          </a:prstGeom>
        </p:spPr>
      </p:pic>
    </p:spTree>
    <p:extLst>
      <p:ext uri="{BB962C8B-B14F-4D97-AF65-F5344CB8AC3E}">
        <p14:creationId xmlns:p14="http://schemas.microsoft.com/office/powerpoint/2010/main" val="251258550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24B26F-F2E0-4F53-981B-BB84DEAAB2C5}" type="datetimeFigureOut">
              <a:rPr lang="en-US" smtClean="0"/>
              <a:t>5/17/2024</a:t>
            </a:fld>
            <a:endParaRPr 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FAF076A-AA46-46FC-BDC2-1A0B24C6FFB6}" type="slidenum">
              <a:rPr lang="en-US" smtClean="0"/>
              <a:t>‹#›</a:t>
            </a:fld>
            <a:endParaRPr lang="en-US"/>
          </a:p>
        </p:txBody>
      </p:sp>
    </p:spTree>
    <p:extLst>
      <p:ext uri="{BB962C8B-B14F-4D97-AF65-F5344CB8AC3E}">
        <p14:creationId xmlns:p14="http://schemas.microsoft.com/office/powerpoint/2010/main" val="34464787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1</a:t>
            </a:fld>
            <a:endParaRPr lang="en-US" dirty="0">
              <a:latin typeface="Arial Unicode MS" panose="020B0604020202020204" charset="-122"/>
              <a:ea typeface="Arial Unicode MS" panose="020B0604020202020204" charset="-122"/>
            </a:endParaRPr>
          </a:p>
        </p:txBody>
      </p:sp>
      <p:grpSp>
        <p:nvGrpSpPr>
          <p:cNvPr id="32" name="组合 31"/>
          <p:cNvGrpSpPr/>
          <p:nvPr/>
        </p:nvGrpSpPr>
        <p:grpSpPr>
          <a:xfrm>
            <a:off x="1387570" y="910163"/>
            <a:ext cx="1927860" cy="902970"/>
            <a:chOff x="13535" y="1423"/>
            <a:chExt cx="3036" cy="1422"/>
          </a:xfrm>
        </p:grpSpPr>
        <p:sp>
          <p:nvSpPr>
            <p:cNvPr id="33" name="文本框 32"/>
            <p:cNvSpPr txBox="1"/>
            <p:nvPr/>
          </p:nvSpPr>
          <p:spPr>
            <a:xfrm>
              <a:off x="13535" y="1423"/>
              <a:ext cx="2796" cy="1355"/>
            </a:xfrm>
            <a:prstGeom prst="rect">
              <a:avLst/>
            </a:prstGeom>
            <a:noFill/>
            <a:ln w="9525">
              <a:noFill/>
            </a:ln>
          </p:spPr>
          <p:txBody>
            <a:bodyPr wrap="square">
              <a:spAutoFit/>
            </a:bodyPr>
            <a:lstStyle/>
            <a:p>
              <a:pPr indent="0"/>
              <a:r>
                <a:rPr lang="en-US" altLang="zh-CN" sz="5000" b="1" i="1" dirty="0">
                  <a:solidFill>
                    <a:srgbClr val="0070C0"/>
                  </a:solidFill>
                  <a:latin typeface="微软雅黑" panose="020B0503020204020204" charset="-122"/>
                  <a:ea typeface="微软雅黑" panose="020B0503020204020204" charset="-122"/>
                  <a:cs typeface="微软雅黑" panose="020B0503020204020204" charset="-122"/>
                </a:rPr>
                <a:t>L</a:t>
              </a:r>
              <a:r>
                <a:rPr lang="en-US" altLang="zh-CN" sz="50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5000" b="1" i="1" dirty="0">
                  <a:solidFill>
                    <a:srgbClr val="0070C0"/>
                  </a:solidFill>
                  <a:latin typeface="微软雅黑" panose="020B0503020204020204" charset="-122"/>
                  <a:ea typeface="微软雅黑" panose="020B0503020204020204" charset="-122"/>
                  <a:cs typeface="微软雅黑" panose="020B0503020204020204" charset="-122"/>
                </a:rPr>
                <a:t>NK</a:t>
              </a:r>
            </a:p>
          </p:txBody>
        </p:sp>
        <p:sp>
          <p:nvSpPr>
            <p:cNvPr id="34" name="文本框 33"/>
            <p:cNvSpPr txBox="1"/>
            <p:nvPr/>
          </p:nvSpPr>
          <p:spPr>
            <a:xfrm>
              <a:off x="15395" y="2459"/>
              <a:ext cx="1176" cy="386"/>
            </a:xfrm>
            <a:prstGeom prst="rect">
              <a:avLst/>
            </a:prstGeom>
            <a:noFill/>
            <a:ln w="9525">
              <a:noFill/>
            </a:ln>
          </p:spPr>
          <p:txBody>
            <a:bodyPr wrap="square">
              <a:spAutoFit/>
            </a:bodyPr>
            <a:lstStyle/>
            <a:p>
              <a:pPr indent="0"/>
              <a:r>
                <a:rPr lang="en-US" altLang="zh-CN" sz="1000" b="1" i="1" dirty="0">
                  <a:solidFill>
                    <a:srgbClr val="0070C0"/>
                  </a:solidFill>
                  <a:latin typeface="微软雅黑" panose="020B0503020204020204" charset="-122"/>
                  <a:ea typeface="微软雅黑" panose="020B0503020204020204" charset="-122"/>
                  <a:cs typeface="微软雅黑" panose="020B0503020204020204" charset="-122"/>
                </a:rPr>
                <a:t>GROUP</a:t>
              </a:r>
            </a:p>
          </p:txBody>
        </p:sp>
      </p:grpSp>
      <p:sp>
        <p:nvSpPr>
          <p:cNvPr id="36" name="文本框 35"/>
          <p:cNvSpPr txBox="1"/>
          <p:nvPr/>
        </p:nvSpPr>
        <p:spPr>
          <a:xfrm>
            <a:off x="7045219" y="1474579"/>
            <a:ext cx="3243565" cy="338554"/>
          </a:xfrm>
          <a:prstGeom prst="rect">
            <a:avLst/>
          </a:prstGeom>
          <a:noFill/>
          <a:ln w="9525">
            <a:noFill/>
          </a:ln>
        </p:spPr>
        <p:txBody>
          <a:bodyPr wrap="square">
            <a:spAutoFit/>
          </a:bodyPr>
          <a:lstStyle/>
          <a:p>
            <a:pPr indent="0"/>
            <a:r>
              <a:rPr lang="zh-CN" altLang="en-US" sz="1600" b="1" i="1" dirty="0">
                <a:latin typeface="微软雅黑" panose="020B0503020204020204" charset="-122"/>
                <a:ea typeface="微软雅黑" panose="020B0503020204020204" charset="-122"/>
                <a:cs typeface="微软雅黑" panose="020B0503020204020204" charset="-122"/>
              </a:rPr>
              <a:t>霖和自动化工程</a:t>
            </a:r>
            <a:r>
              <a:rPr lang="en-US" altLang="zh-CN" sz="1600" b="1" i="1" dirty="0">
                <a:latin typeface="微软雅黑" panose="020B0503020204020204" charset="-122"/>
                <a:ea typeface="微软雅黑" panose="020B0503020204020204" charset="-122"/>
                <a:cs typeface="微软雅黑" panose="020B0503020204020204" charset="-122"/>
              </a:rPr>
              <a:t>(</a:t>
            </a:r>
            <a:r>
              <a:rPr lang="zh-CN" altLang="en-US" sz="1600" b="1" i="1" dirty="0">
                <a:latin typeface="微软雅黑" panose="020B0503020204020204" charset="-122"/>
                <a:ea typeface="微软雅黑" panose="020B0503020204020204" charset="-122"/>
                <a:cs typeface="微软雅黑" panose="020B0503020204020204" charset="-122"/>
              </a:rPr>
              <a:t>上海</a:t>
            </a:r>
            <a:r>
              <a:rPr lang="en-US" altLang="zh-CN" sz="1600" b="1" i="1" dirty="0">
                <a:latin typeface="微软雅黑" panose="020B0503020204020204" charset="-122"/>
                <a:ea typeface="微软雅黑" panose="020B0503020204020204" charset="-122"/>
                <a:cs typeface="微软雅黑" panose="020B0503020204020204" charset="-122"/>
              </a:rPr>
              <a:t>)</a:t>
            </a:r>
            <a:r>
              <a:rPr lang="zh-CN" altLang="en-US" sz="1600" b="1" i="1" dirty="0">
                <a:latin typeface="微软雅黑" panose="020B0503020204020204" charset="-122"/>
                <a:ea typeface="微软雅黑" panose="020B0503020204020204" charset="-122"/>
                <a:cs typeface="微软雅黑" panose="020B0503020204020204" charset="-122"/>
              </a:rPr>
              <a:t>有限公司</a:t>
            </a:r>
          </a:p>
        </p:txBody>
      </p:sp>
      <p:sp>
        <p:nvSpPr>
          <p:cNvPr id="37" name="文本框 36"/>
          <p:cNvSpPr txBox="1"/>
          <p:nvPr/>
        </p:nvSpPr>
        <p:spPr>
          <a:xfrm>
            <a:off x="3163030" y="1012914"/>
            <a:ext cx="7233100" cy="461665"/>
          </a:xfrm>
          <a:prstGeom prst="rect">
            <a:avLst/>
          </a:prstGeom>
          <a:noFill/>
          <a:ln w="9525">
            <a:noFill/>
          </a:ln>
        </p:spPr>
        <p:txBody>
          <a:bodyPr wrap="square">
            <a:spAutoFit/>
          </a:bodyPr>
          <a:lstStyle/>
          <a:p>
            <a:pPr indent="0"/>
            <a:r>
              <a:rPr lang="en-US" altLang="zh-CN" sz="2400" b="1" i="1" dirty="0">
                <a:latin typeface="微软雅黑" panose="020B0503020204020204" charset="-122"/>
                <a:ea typeface="微软雅黑" panose="020B0503020204020204" charset="-122"/>
                <a:cs typeface="微软雅黑" panose="020B0503020204020204" charset="-122"/>
              </a:rPr>
              <a:t>Automation Engineering (Shanghai) </a:t>
            </a:r>
            <a:r>
              <a:rPr lang="en-US" altLang="zh-CN" sz="2400" b="1" i="1" dirty="0" err="1">
                <a:latin typeface="微软雅黑" panose="020B0503020204020204" charset="-122"/>
                <a:ea typeface="微软雅黑" panose="020B0503020204020204" charset="-122"/>
                <a:cs typeface="微软雅黑" panose="020B0503020204020204" charset="-122"/>
              </a:rPr>
              <a:t>Co.,Ltd</a:t>
            </a:r>
            <a:r>
              <a:rPr lang="en-US" altLang="zh-CN" sz="2400" b="1" i="1" dirty="0">
                <a:latin typeface="微软雅黑" panose="020B0503020204020204" charset="-122"/>
                <a:ea typeface="微软雅黑" panose="020B0503020204020204" charset="-122"/>
                <a:cs typeface="微软雅黑" panose="020B0503020204020204" charset="-122"/>
              </a:rPr>
              <a:t>.</a:t>
            </a:r>
          </a:p>
        </p:txBody>
      </p:sp>
      <p:sp>
        <p:nvSpPr>
          <p:cNvPr id="12" name="TextBox 11">
            <a:extLst>
              <a:ext uri="{FF2B5EF4-FFF2-40B4-BE49-F238E27FC236}">
                <a16:creationId xmlns:a16="http://schemas.microsoft.com/office/drawing/2014/main" id="{D143052B-C32A-403D-DBBD-3FA3430547E9}"/>
              </a:ext>
            </a:extLst>
          </p:cNvPr>
          <p:cNvSpPr txBox="1"/>
          <p:nvPr/>
        </p:nvSpPr>
        <p:spPr>
          <a:xfrm>
            <a:off x="194725" y="2390335"/>
            <a:ext cx="6241410" cy="400110"/>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Staff name: Nguyễn </a:t>
            </a:r>
            <a:r>
              <a:rPr lang="en-US" altLang="zh-CN" sz="2000" dirty="0" err="1">
                <a:latin typeface="Times New Roman" panose="02020603050405020304" pitchFamily="18" charset="0"/>
                <a:cs typeface="Times New Roman" panose="02020603050405020304" pitchFamily="18" charset="0"/>
              </a:rPr>
              <a:t>Tuấn</a:t>
            </a:r>
            <a:r>
              <a:rPr lang="en-US" altLang="zh-CN" sz="2000" dirty="0">
                <a:latin typeface="Times New Roman" panose="02020603050405020304" pitchFamily="18" charset="0"/>
                <a:cs typeface="Times New Roman" panose="02020603050405020304" pitchFamily="18" charset="0"/>
              </a:rPr>
              <a:t> Phong ( Assistant PLC Engineer)</a:t>
            </a:r>
          </a:p>
        </p:txBody>
      </p:sp>
      <p:sp>
        <p:nvSpPr>
          <p:cNvPr id="13" name="TextBox 12">
            <a:extLst>
              <a:ext uri="{FF2B5EF4-FFF2-40B4-BE49-F238E27FC236}">
                <a16:creationId xmlns:a16="http://schemas.microsoft.com/office/drawing/2014/main" id="{F11592BE-D11F-269D-DA15-8977649F0EEF}"/>
              </a:ext>
            </a:extLst>
          </p:cNvPr>
          <p:cNvSpPr txBox="1"/>
          <p:nvPr/>
        </p:nvSpPr>
        <p:spPr>
          <a:xfrm>
            <a:off x="194725" y="2866645"/>
            <a:ext cx="4840447" cy="707886"/>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Mainly training: Message System</a:t>
            </a:r>
          </a:p>
          <a:p>
            <a:endParaRPr lang="en-US" altLang="zh-CN"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EE95C07-1E6B-79C5-02B8-C910C5DCED2B}"/>
              </a:ext>
            </a:extLst>
          </p:cNvPr>
          <p:cNvSpPr txBox="1"/>
          <p:nvPr/>
        </p:nvSpPr>
        <p:spPr>
          <a:xfrm>
            <a:off x="3865782" y="1813133"/>
            <a:ext cx="3013137" cy="584775"/>
          </a:xfrm>
          <a:prstGeom prst="rect">
            <a:avLst/>
          </a:prstGeom>
          <a:noFill/>
        </p:spPr>
        <p:txBody>
          <a:bodyPr wrap="square" rtlCol="0">
            <a:spAutoFit/>
          </a:bodyPr>
          <a:lstStyle/>
          <a:p>
            <a:r>
              <a:rPr lang="en-US" sz="3200" dirty="0">
                <a:solidFill>
                  <a:schemeClr val="accent2"/>
                </a:solidFill>
                <a:latin typeface="Times New Roman" panose="02020603050405020304" pitchFamily="18" charset="0"/>
                <a:cs typeface="Times New Roman" panose="02020603050405020304" pitchFamily="18" charset="0"/>
              </a:rPr>
              <a:t>Training Record</a:t>
            </a:r>
          </a:p>
        </p:txBody>
      </p:sp>
    </p:spTree>
    <p:extLst>
      <p:ext uri="{BB962C8B-B14F-4D97-AF65-F5344CB8AC3E}">
        <p14:creationId xmlns:p14="http://schemas.microsoft.com/office/powerpoint/2010/main" val="1365511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10205368" y="-55880"/>
            <a:ext cx="1775460" cy="821055"/>
            <a:chOff x="13535" y="1423"/>
            <a:chExt cx="2796" cy="1293"/>
          </a:xfrm>
        </p:grpSpPr>
        <p:sp>
          <p:nvSpPr>
            <p:cNvPr id="8" name="文本框 7"/>
            <p:cNvSpPr txBox="1"/>
            <p:nvPr/>
          </p:nvSpPr>
          <p:spPr>
            <a:xfrm>
              <a:off x="13535" y="1423"/>
              <a:ext cx="2796" cy="1210"/>
            </a:xfrm>
            <a:prstGeom prst="rect">
              <a:avLst/>
            </a:prstGeom>
            <a:noFill/>
            <a:ln w="9525">
              <a:noFill/>
            </a:ln>
          </p:spPr>
          <p:txBody>
            <a:bodyPr wrap="square">
              <a:spAutoFit/>
            </a:bodyPr>
            <a:lstStyle/>
            <a:p>
              <a:pPr indent="0"/>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L</a:t>
              </a:r>
              <a:r>
                <a:rPr lang="en-US" altLang="zh-CN" sz="4400" b="1" i="1" dirty="0">
                  <a:solidFill>
                    <a:srgbClr val="FF0000"/>
                  </a:solidFill>
                  <a:latin typeface="微软雅黑" panose="020B0503020204020204" charset="-122"/>
                  <a:ea typeface="微软雅黑" panose="020B0503020204020204" charset="-122"/>
                  <a:cs typeface="微软雅黑" panose="020B0503020204020204" charset="-122"/>
                </a:rPr>
                <a:t>I</a:t>
              </a:r>
              <a:r>
                <a:rPr lang="en-US" altLang="zh-CN" sz="4400" b="1" i="1" dirty="0">
                  <a:solidFill>
                    <a:srgbClr val="016AC5"/>
                  </a:solidFill>
                  <a:latin typeface="微软雅黑" panose="020B0503020204020204" charset="-122"/>
                  <a:ea typeface="微软雅黑" panose="020B0503020204020204" charset="-122"/>
                  <a:cs typeface="微软雅黑" panose="020B0503020204020204" charset="-122"/>
                </a:rPr>
                <a:t>NK</a:t>
              </a:r>
            </a:p>
          </p:txBody>
        </p:sp>
        <p:sp>
          <p:nvSpPr>
            <p:cNvPr id="9" name="文本框 8"/>
            <p:cNvSpPr txBox="1"/>
            <p:nvPr/>
          </p:nvSpPr>
          <p:spPr>
            <a:xfrm>
              <a:off x="15140" y="2354"/>
              <a:ext cx="1176" cy="362"/>
            </a:xfrm>
            <a:prstGeom prst="rect">
              <a:avLst/>
            </a:prstGeom>
            <a:noFill/>
            <a:ln w="9525">
              <a:noFill/>
            </a:ln>
          </p:spPr>
          <p:txBody>
            <a:bodyPr wrap="square">
              <a:spAutoFit/>
            </a:bodyPr>
            <a:lstStyle/>
            <a:p>
              <a:pPr indent="0"/>
              <a:r>
                <a:rPr lang="en-US" altLang="zh-CN" sz="900" b="1" i="1">
                  <a:solidFill>
                    <a:srgbClr val="016AC5"/>
                  </a:solidFill>
                  <a:latin typeface="微软雅黑" panose="020B0503020204020204" charset="-122"/>
                  <a:ea typeface="微软雅黑" panose="020B0503020204020204" charset="-122"/>
                  <a:cs typeface="微软雅黑" panose="020B0503020204020204" charset="-122"/>
                </a:rPr>
                <a:t>GROUP</a:t>
              </a:r>
            </a:p>
          </p:txBody>
        </p:sp>
      </p:grpSp>
      <p:sp>
        <p:nvSpPr>
          <p:cNvPr id="10" name="灯片编号占位符 9"/>
          <p:cNvSpPr>
            <a:spLocks noGrp="1"/>
          </p:cNvSpPr>
          <p:nvPr>
            <p:ph type="sldNum" sz="quarter" idx="12"/>
          </p:nvPr>
        </p:nvSpPr>
        <p:spPr/>
        <p:txBody>
          <a:bodyPr/>
          <a:lstStyle/>
          <a:p>
            <a:fld id="{D57F1E4F-1CFF-5643-939E-217C01CDF565}" type="slidenum">
              <a:rPr lang="en-US" dirty="0">
                <a:latin typeface="Arial Unicode MS" panose="020B0604020202020204" charset="-122"/>
                <a:ea typeface="Arial Unicode MS" panose="020B0604020202020204" charset="-122"/>
              </a:rPr>
              <a:t>2</a:t>
            </a:fld>
            <a:endParaRPr lang="en-US" dirty="0">
              <a:latin typeface="Arial Unicode MS" panose="020B0604020202020204" charset="-122"/>
              <a:ea typeface="Arial Unicode MS" panose="020B0604020202020204" charset="-122"/>
            </a:endParaRPr>
          </a:p>
        </p:txBody>
      </p:sp>
      <p:sp>
        <p:nvSpPr>
          <p:cNvPr id="5" name="TextBox 4">
            <a:extLst>
              <a:ext uri="{FF2B5EF4-FFF2-40B4-BE49-F238E27FC236}">
                <a16:creationId xmlns:a16="http://schemas.microsoft.com/office/drawing/2014/main" id="{909C6354-C0CC-2307-1D00-77020B683868}"/>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sp>
        <p:nvSpPr>
          <p:cNvPr id="12" name="TextBox 11">
            <a:extLst>
              <a:ext uri="{FF2B5EF4-FFF2-40B4-BE49-F238E27FC236}">
                <a16:creationId xmlns:a16="http://schemas.microsoft.com/office/drawing/2014/main" id="{382CB32B-1A83-4EC1-8D8E-EB9F9F4A545E}"/>
              </a:ext>
            </a:extLst>
          </p:cNvPr>
          <p:cNvSpPr txBox="1"/>
          <p:nvPr/>
        </p:nvSpPr>
        <p:spPr>
          <a:xfrm>
            <a:off x="7294259" y="1107388"/>
            <a:ext cx="4840447" cy="5324535"/>
          </a:xfrm>
          <a:prstGeom prst="rect">
            <a:avLst/>
          </a:prstGeom>
          <a:noFill/>
        </p:spPr>
        <p:txBody>
          <a:bodyPr wrap="square" rtlCol="0">
            <a:spAutoFit/>
          </a:bodyPr>
          <a:lstStyle/>
          <a:p>
            <a:r>
              <a:rPr lang="en-US" altLang="zh-CN" sz="2000" dirty="0">
                <a:latin typeface="Times New Roman" panose="02020603050405020304" pitchFamily="18" charset="0"/>
                <a:cs typeface="Times New Roman" panose="02020603050405020304" pitchFamily="18" charset="0"/>
              </a:rPr>
              <a:t>There are two types of message lists:</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Message List Error (RED):</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Contains critical system error and warning messages.</a:t>
            </a:r>
          </a:p>
          <a:p>
            <a:r>
              <a:rPr lang="en-US" altLang="zh-CN" sz="2000" dirty="0">
                <a:latin typeface="Times New Roman" panose="02020603050405020304" pitchFamily="18" charset="0"/>
                <a:cs typeface="Times New Roman" panose="02020603050405020304" pitchFamily="18" charset="0"/>
              </a:rPr>
              <a:t>Used to monitor system status and detect issues early.</a:t>
            </a:r>
          </a:p>
          <a:p>
            <a:r>
              <a:rPr lang="en-US" altLang="zh-CN" sz="2000" dirty="0">
                <a:latin typeface="Times New Roman" panose="02020603050405020304" pitchFamily="18" charset="0"/>
                <a:cs typeface="Times New Roman" panose="02020603050405020304" pitchFamily="18" charset="0"/>
              </a:rPr>
              <a:t>Messages are sorted in chronological order.</a:t>
            </a:r>
          </a:p>
          <a:p>
            <a:r>
              <a:rPr lang="en-US" altLang="zh-CN" sz="2000" dirty="0">
                <a:latin typeface="Times New Roman" panose="02020603050405020304" pitchFamily="18" charset="0"/>
                <a:cs typeface="Times New Roman" panose="02020603050405020304" pitchFamily="18" charset="0"/>
              </a:rPr>
              <a:t>Message List Warning (YELLOW):</a:t>
            </a:r>
          </a:p>
          <a:p>
            <a:endParaRPr lang="en-US" altLang="zh-CN" sz="2000" dirty="0">
              <a:latin typeface="Times New Roman" panose="02020603050405020304" pitchFamily="18" charset="0"/>
              <a:cs typeface="Times New Roman" panose="02020603050405020304" pitchFamily="18" charset="0"/>
            </a:endParaRPr>
          </a:p>
          <a:p>
            <a:r>
              <a:rPr lang="en-US" altLang="zh-CN" sz="2000" dirty="0">
                <a:latin typeface="Times New Roman" panose="02020603050405020304" pitchFamily="18" charset="0"/>
                <a:cs typeface="Times New Roman" panose="02020603050405020304" pitchFamily="18" charset="0"/>
              </a:rPr>
              <a:t>Contains informational messages and system operation statuses.</a:t>
            </a:r>
          </a:p>
          <a:p>
            <a:r>
              <a:rPr lang="en-US" altLang="zh-CN" sz="2000" dirty="0">
                <a:latin typeface="Times New Roman" panose="02020603050405020304" pitchFamily="18" charset="0"/>
                <a:cs typeface="Times New Roman" panose="02020603050405020304" pitchFamily="18" charset="0"/>
              </a:rPr>
              <a:t>Used to provide detailed information about system operation and performance.</a:t>
            </a:r>
          </a:p>
          <a:p>
            <a:r>
              <a:rPr lang="en-US" altLang="zh-CN" sz="2000" dirty="0">
                <a:latin typeface="Times New Roman" panose="02020603050405020304" pitchFamily="18" charset="0"/>
                <a:cs typeface="Times New Roman" panose="02020603050405020304" pitchFamily="18" charset="0"/>
              </a:rPr>
              <a:t>Messages can include operational data and performance reports.</a:t>
            </a:r>
          </a:p>
        </p:txBody>
      </p:sp>
      <p:pic>
        <p:nvPicPr>
          <p:cNvPr id="14" name="Picture 13">
            <a:extLst>
              <a:ext uri="{FF2B5EF4-FFF2-40B4-BE49-F238E27FC236}">
                <a16:creationId xmlns:a16="http://schemas.microsoft.com/office/drawing/2014/main" id="{142DA112-01CB-4848-B7D1-D0DA41FA48C1}"/>
              </a:ext>
            </a:extLst>
          </p:cNvPr>
          <p:cNvPicPr>
            <a:picLocks noChangeAspect="1"/>
          </p:cNvPicPr>
          <p:nvPr/>
        </p:nvPicPr>
        <p:blipFill>
          <a:blip r:embed="rId2"/>
          <a:stretch>
            <a:fillRect/>
          </a:stretch>
        </p:blipFill>
        <p:spPr>
          <a:xfrm>
            <a:off x="266928" y="1048303"/>
            <a:ext cx="6852923" cy="3381532"/>
          </a:xfrm>
          <a:prstGeom prst="rect">
            <a:avLst/>
          </a:prstGeom>
        </p:spPr>
      </p:pic>
      <p:pic>
        <p:nvPicPr>
          <p:cNvPr id="16" name="Picture 15">
            <a:extLst>
              <a:ext uri="{FF2B5EF4-FFF2-40B4-BE49-F238E27FC236}">
                <a16:creationId xmlns:a16="http://schemas.microsoft.com/office/drawing/2014/main" id="{3AC4C8DF-4A3A-4007-A8FC-FD8B85F0BC13}"/>
              </a:ext>
            </a:extLst>
          </p:cNvPr>
          <p:cNvPicPr>
            <a:picLocks noChangeAspect="1"/>
          </p:cNvPicPr>
          <p:nvPr/>
        </p:nvPicPr>
        <p:blipFill>
          <a:blip r:embed="rId3"/>
          <a:stretch>
            <a:fillRect/>
          </a:stretch>
        </p:blipFill>
        <p:spPr>
          <a:xfrm>
            <a:off x="359914" y="3429000"/>
            <a:ext cx="5089547" cy="2778511"/>
          </a:xfrm>
          <a:prstGeom prst="rect">
            <a:avLst/>
          </a:prstGeom>
        </p:spPr>
      </p:pic>
    </p:spTree>
    <p:extLst>
      <p:ext uri="{BB962C8B-B14F-4D97-AF65-F5344CB8AC3E}">
        <p14:creationId xmlns:p14="http://schemas.microsoft.com/office/powerpoint/2010/main" val="91116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9F713E-D6E5-4B82-80E4-16BBDE772E6B}"/>
              </a:ext>
            </a:extLst>
          </p:cNvPr>
          <p:cNvSpPr>
            <a:spLocks noGrp="1"/>
          </p:cNvSpPr>
          <p:nvPr>
            <p:ph type="sldNum" sz="quarter" idx="12"/>
          </p:nvPr>
        </p:nvSpPr>
        <p:spPr/>
        <p:txBody>
          <a:bodyPr/>
          <a:lstStyle/>
          <a:p>
            <a:fld id="{D57F1E4F-1CFF-5643-939E-217C01CDF565}" type="slidenum">
              <a:rPr lang="en-US" smtClean="0"/>
              <a:t>3</a:t>
            </a:fld>
            <a:endParaRPr lang="en-US" dirty="0"/>
          </a:p>
        </p:txBody>
      </p:sp>
      <p:sp>
        <p:nvSpPr>
          <p:cNvPr id="3" name="TextBox 2">
            <a:extLst>
              <a:ext uri="{FF2B5EF4-FFF2-40B4-BE49-F238E27FC236}">
                <a16:creationId xmlns:a16="http://schemas.microsoft.com/office/drawing/2014/main" id="{C78F0C22-D55C-44FA-AF4C-79F64A01BF85}"/>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pic>
        <p:nvPicPr>
          <p:cNvPr id="6" name="Picture 5">
            <a:extLst>
              <a:ext uri="{FF2B5EF4-FFF2-40B4-BE49-F238E27FC236}">
                <a16:creationId xmlns:a16="http://schemas.microsoft.com/office/drawing/2014/main" id="{765398B3-F5FE-410A-A814-EF3485519597}"/>
              </a:ext>
            </a:extLst>
          </p:cNvPr>
          <p:cNvPicPr>
            <a:picLocks noChangeAspect="1"/>
          </p:cNvPicPr>
          <p:nvPr/>
        </p:nvPicPr>
        <p:blipFill>
          <a:blip r:embed="rId2"/>
          <a:stretch>
            <a:fillRect/>
          </a:stretch>
        </p:blipFill>
        <p:spPr>
          <a:xfrm>
            <a:off x="544387" y="3790250"/>
            <a:ext cx="3362794" cy="2514951"/>
          </a:xfrm>
          <a:prstGeom prst="rect">
            <a:avLst/>
          </a:prstGeom>
        </p:spPr>
      </p:pic>
      <p:sp>
        <p:nvSpPr>
          <p:cNvPr id="8" name="TextBox 7">
            <a:extLst>
              <a:ext uri="{FF2B5EF4-FFF2-40B4-BE49-F238E27FC236}">
                <a16:creationId xmlns:a16="http://schemas.microsoft.com/office/drawing/2014/main" id="{70BC0918-5DD3-42DD-87F0-255777E790BD}"/>
              </a:ext>
            </a:extLst>
          </p:cNvPr>
          <p:cNvSpPr txBox="1"/>
          <p:nvPr/>
        </p:nvSpPr>
        <p:spPr>
          <a:xfrm>
            <a:off x="789455" y="1168822"/>
            <a:ext cx="5535145" cy="923330"/>
          </a:xfrm>
          <a:prstGeom prst="rect">
            <a:avLst/>
          </a:prstGeom>
          <a:noFill/>
        </p:spPr>
        <p:txBody>
          <a:bodyPr wrap="square">
            <a:spAutoFit/>
          </a:bodyPr>
          <a:lstStyle/>
          <a:p>
            <a:r>
              <a:rPr lang="en-US" dirty="0"/>
              <a:t>At station ST00_MESS_FB, each network will call MESS_LIST_FC (Label, type, ...). The safety messages do not have a DB, but we do have an ID.</a:t>
            </a:r>
          </a:p>
        </p:txBody>
      </p:sp>
      <p:pic>
        <p:nvPicPr>
          <p:cNvPr id="10" name="Picture 9">
            <a:extLst>
              <a:ext uri="{FF2B5EF4-FFF2-40B4-BE49-F238E27FC236}">
                <a16:creationId xmlns:a16="http://schemas.microsoft.com/office/drawing/2014/main" id="{51BED240-DAC9-48FC-A8FA-F808CCE4E6E9}"/>
              </a:ext>
            </a:extLst>
          </p:cNvPr>
          <p:cNvPicPr>
            <a:picLocks noChangeAspect="1"/>
          </p:cNvPicPr>
          <p:nvPr/>
        </p:nvPicPr>
        <p:blipFill>
          <a:blip r:embed="rId3"/>
          <a:stretch>
            <a:fillRect/>
          </a:stretch>
        </p:blipFill>
        <p:spPr>
          <a:xfrm>
            <a:off x="4332218" y="3676057"/>
            <a:ext cx="7401958" cy="2543530"/>
          </a:xfrm>
          <a:prstGeom prst="rect">
            <a:avLst/>
          </a:prstGeom>
        </p:spPr>
      </p:pic>
      <p:cxnSp>
        <p:nvCxnSpPr>
          <p:cNvPr id="12" name="Straight Arrow Connector 11">
            <a:extLst>
              <a:ext uri="{FF2B5EF4-FFF2-40B4-BE49-F238E27FC236}">
                <a16:creationId xmlns:a16="http://schemas.microsoft.com/office/drawing/2014/main" id="{3548F9B3-C8C2-4911-80CA-9C2D38A74F5D}"/>
              </a:ext>
            </a:extLst>
          </p:cNvPr>
          <p:cNvCxnSpPr>
            <a:cxnSpLocks/>
          </p:cNvCxnSpPr>
          <p:nvPr/>
        </p:nvCxnSpPr>
        <p:spPr>
          <a:xfrm flipV="1">
            <a:off x="2507676" y="5086267"/>
            <a:ext cx="2098701" cy="3369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92049C6-4BCF-4DFC-85D4-B7987AA5D857}"/>
              </a:ext>
            </a:extLst>
          </p:cNvPr>
          <p:cNvSpPr txBox="1"/>
          <p:nvPr/>
        </p:nvSpPr>
        <p:spPr>
          <a:xfrm>
            <a:off x="813461" y="2421420"/>
            <a:ext cx="6187440" cy="646331"/>
          </a:xfrm>
          <a:prstGeom prst="rect">
            <a:avLst/>
          </a:prstGeom>
          <a:noFill/>
        </p:spPr>
        <p:txBody>
          <a:bodyPr wrap="square">
            <a:spAutoFit/>
          </a:bodyPr>
          <a:lstStyle/>
          <a:p>
            <a:r>
              <a:rPr lang="en-US" dirty="0"/>
              <a:t>Through the ID of the text list, we can determine which type (FAMILY) the message belongs to.</a:t>
            </a:r>
          </a:p>
        </p:txBody>
      </p:sp>
    </p:spTree>
    <p:extLst>
      <p:ext uri="{BB962C8B-B14F-4D97-AF65-F5344CB8AC3E}">
        <p14:creationId xmlns:p14="http://schemas.microsoft.com/office/powerpoint/2010/main" val="22873493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4</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pic>
        <p:nvPicPr>
          <p:cNvPr id="4" name="Picture 3">
            <a:extLst>
              <a:ext uri="{FF2B5EF4-FFF2-40B4-BE49-F238E27FC236}">
                <a16:creationId xmlns:a16="http://schemas.microsoft.com/office/drawing/2014/main" id="{58F55ADA-DA27-4EB5-897A-3132B7F2591C}"/>
              </a:ext>
            </a:extLst>
          </p:cNvPr>
          <p:cNvPicPr>
            <a:picLocks noChangeAspect="1"/>
          </p:cNvPicPr>
          <p:nvPr/>
        </p:nvPicPr>
        <p:blipFill>
          <a:blip r:embed="rId2"/>
          <a:stretch>
            <a:fillRect/>
          </a:stretch>
        </p:blipFill>
        <p:spPr>
          <a:xfrm>
            <a:off x="731520" y="1109706"/>
            <a:ext cx="4468345" cy="3177276"/>
          </a:xfrm>
          <a:prstGeom prst="rect">
            <a:avLst/>
          </a:prstGeom>
        </p:spPr>
      </p:pic>
      <p:sp>
        <p:nvSpPr>
          <p:cNvPr id="6" name="TextBox 5">
            <a:extLst>
              <a:ext uri="{FF2B5EF4-FFF2-40B4-BE49-F238E27FC236}">
                <a16:creationId xmlns:a16="http://schemas.microsoft.com/office/drawing/2014/main" id="{9EC71119-6814-43CC-8E77-61E2119CFF43}"/>
              </a:ext>
            </a:extLst>
          </p:cNvPr>
          <p:cNvSpPr txBox="1"/>
          <p:nvPr/>
        </p:nvSpPr>
        <p:spPr>
          <a:xfrm>
            <a:off x="6389226" y="1221016"/>
            <a:ext cx="5071254" cy="1477328"/>
          </a:xfrm>
          <a:prstGeom prst="rect">
            <a:avLst/>
          </a:prstGeom>
          <a:noFill/>
        </p:spPr>
        <p:txBody>
          <a:bodyPr wrap="square">
            <a:spAutoFit/>
          </a:bodyPr>
          <a:lstStyle/>
          <a:p>
            <a:r>
              <a:rPr lang="en-US" dirty="0"/>
              <a:t>Another type of message uses a DB but does not have an ID. The reason for this is that it's based on an older standard. BMW recognized that they didn't have enough memory space in the PLC to save messages directly.</a:t>
            </a:r>
          </a:p>
        </p:txBody>
      </p:sp>
      <p:pic>
        <p:nvPicPr>
          <p:cNvPr id="8" name="Picture 7">
            <a:extLst>
              <a:ext uri="{FF2B5EF4-FFF2-40B4-BE49-F238E27FC236}">
                <a16:creationId xmlns:a16="http://schemas.microsoft.com/office/drawing/2014/main" id="{42219588-89AA-48CD-90AF-819A58BA210F}"/>
              </a:ext>
            </a:extLst>
          </p:cNvPr>
          <p:cNvPicPr>
            <a:picLocks noChangeAspect="1"/>
          </p:cNvPicPr>
          <p:nvPr/>
        </p:nvPicPr>
        <p:blipFill>
          <a:blip r:embed="rId3"/>
          <a:stretch>
            <a:fillRect/>
          </a:stretch>
        </p:blipFill>
        <p:spPr>
          <a:xfrm>
            <a:off x="1350650" y="4669552"/>
            <a:ext cx="3381847" cy="1762371"/>
          </a:xfrm>
          <a:prstGeom prst="rect">
            <a:avLst/>
          </a:prstGeom>
        </p:spPr>
      </p:pic>
      <p:sp>
        <p:nvSpPr>
          <p:cNvPr id="10" name="TextBox 9">
            <a:extLst>
              <a:ext uri="{FF2B5EF4-FFF2-40B4-BE49-F238E27FC236}">
                <a16:creationId xmlns:a16="http://schemas.microsoft.com/office/drawing/2014/main" id="{344F7603-DA4F-452B-B6D4-8EC7E160575A}"/>
              </a:ext>
            </a:extLst>
          </p:cNvPr>
          <p:cNvSpPr txBox="1"/>
          <p:nvPr/>
        </p:nvSpPr>
        <p:spPr>
          <a:xfrm>
            <a:off x="5349240" y="3099891"/>
            <a:ext cx="6111240" cy="3139321"/>
          </a:xfrm>
          <a:prstGeom prst="rect">
            <a:avLst/>
          </a:prstGeom>
          <a:noFill/>
        </p:spPr>
        <p:txBody>
          <a:bodyPr wrap="square">
            <a:spAutoFit/>
          </a:bodyPr>
          <a:lstStyle/>
          <a:p>
            <a:r>
              <a:rPr lang="en-US" dirty="0"/>
              <a:t>The standard GSC block list includes several DBs:</a:t>
            </a:r>
          </a:p>
          <a:p>
            <a:endParaRPr lang="en-US" dirty="0"/>
          </a:p>
          <a:p>
            <a:r>
              <a:rPr lang="en-US" dirty="0"/>
              <a:t>DEV_MESS_ACT_DB: Records the duration for which the message has been active.</a:t>
            </a:r>
          </a:p>
          <a:p>
            <a:r>
              <a:rPr lang="en-US" dirty="0"/>
              <a:t>DEV_MESS_PRT_DB</a:t>
            </a:r>
            <a:br>
              <a:rPr lang="en-US" dirty="0"/>
            </a:br>
            <a:r>
              <a:rPr lang="en-US" dirty="0"/>
              <a:t>DEV_MESS_PRT_L_DB.</a:t>
            </a:r>
          </a:p>
          <a:p>
            <a:r>
              <a:rPr lang="en-US" dirty="0"/>
              <a:t>DEV_MESS_REF_DB: References values.</a:t>
            </a:r>
          </a:p>
          <a:p>
            <a:r>
              <a:rPr lang="en-US" dirty="0"/>
              <a:t>DEV_MESS_TEXT_DB.</a:t>
            </a:r>
          </a:p>
          <a:p>
            <a:r>
              <a:rPr lang="en-US" dirty="0"/>
              <a:t>DEV_MESS_TEXT_L_DB.</a:t>
            </a:r>
          </a:p>
          <a:p>
            <a:r>
              <a:rPr lang="en-US" dirty="0"/>
              <a:t>The L_DB blocks are understood to be, these DBs are only saved on the memory card of the PLC and not in the RAM.</a:t>
            </a:r>
          </a:p>
        </p:txBody>
      </p:sp>
    </p:spTree>
    <p:extLst>
      <p:ext uri="{BB962C8B-B14F-4D97-AF65-F5344CB8AC3E}">
        <p14:creationId xmlns:p14="http://schemas.microsoft.com/office/powerpoint/2010/main" val="2077659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5</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pic>
        <p:nvPicPr>
          <p:cNvPr id="5" name="Picture 4">
            <a:extLst>
              <a:ext uri="{FF2B5EF4-FFF2-40B4-BE49-F238E27FC236}">
                <a16:creationId xmlns:a16="http://schemas.microsoft.com/office/drawing/2014/main" id="{E752676B-B92A-4E2A-A7AB-CBEB36A03404}"/>
              </a:ext>
            </a:extLst>
          </p:cNvPr>
          <p:cNvPicPr>
            <a:picLocks noChangeAspect="1"/>
          </p:cNvPicPr>
          <p:nvPr/>
        </p:nvPicPr>
        <p:blipFill>
          <a:blip r:embed="rId2"/>
          <a:stretch>
            <a:fillRect/>
          </a:stretch>
        </p:blipFill>
        <p:spPr>
          <a:xfrm>
            <a:off x="3936741" y="1112593"/>
            <a:ext cx="4820123" cy="2652403"/>
          </a:xfrm>
          <a:prstGeom prst="rect">
            <a:avLst/>
          </a:prstGeom>
        </p:spPr>
      </p:pic>
      <p:pic>
        <p:nvPicPr>
          <p:cNvPr id="7" name="Picture 6">
            <a:extLst>
              <a:ext uri="{FF2B5EF4-FFF2-40B4-BE49-F238E27FC236}">
                <a16:creationId xmlns:a16="http://schemas.microsoft.com/office/drawing/2014/main" id="{E8DD9B4E-AC4D-408F-AF5B-19267077055D}"/>
              </a:ext>
            </a:extLst>
          </p:cNvPr>
          <p:cNvPicPr>
            <a:picLocks noChangeAspect="1"/>
          </p:cNvPicPr>
          <p:nvPr/>
        </p:nvPicPr>
        <p:blipFill>
          <a:blip r:embed="rId3"/>
          <a:stretch>
            <a:fillRect/>
          </a:stretch>
        </p:blipFill>
        <p:spPr>
          <a:xfrm>
            <a:off x="462278" y="1179673"/>
            <a:ext cx="3238002" cy="4001927"/>
          </a:xfrm>
          <a:prstGeom prst="rect">
            <a:avLst/>
          </a:prstGeom>
        </p:spPr>
      </p:pic>
      <p:sp>
        <p:nvSpPr>
          <p:cNvPr id="9" name="TextBox 8">
            <a:extLst>
              <a:ext uri="{FF2B5EF4-FFF2-40B4-BE49-F238E27FC236}">
                <a16:creationId xmlns:a16="http://schemas.microsoft.com/office/drawing/2014/main" id="{04029435-B492-44B2-B33F-A0424A6186CB}"/>
              </a:ext>
            </a:extLst>
          </p:cNvPr>
          <p:cNvSpPr txBox="1"/>
          <p:nvPr/>
        </p:nvSpPr>
        <p:spPr>
          <a:xfrm>
            <a:off x="4114357" y="4123599"/>
            <a:ext cx="6929839" cy="2308324"/>
          </a:xfrm>
          <a:prstGeom prst="rect">
            <a:avLst/>
          </a:prstGeom>
          <a:noFill/>
        </p:spPr>
        <p:txBody>
          <a:bodyPr wrap="square">
            <a:spAutoFit/>
          </a:bodyPr>
          <a:lstStyle/>
          <a:p>
            <a:r>
              <a:rPr lang="en-US" dirty="0"/>
              <a:t>Some blocks are very large and only save a small portion of performance in the PLC. If the MESS DBs are opened, the entire cycle time will increase. Currently, the system operates as follows: only the last temporarily active message will be saved on the CPU RAM of the PLC. However, when you have 11 messages, those messages will be deleted, and the concept message system will interact with SAS. You can change, edit, add new texts, or prepare your own text list in block 20 User - MESSAGE.</a:t>
            </a:r>
          </a:p>
        </p:txBody>
      </p:sp>
      <p:pic>
        <p:nvPicPr>
          <p:cNvPr id="11" name="Picture 10">
            <a:extLst>
              <a:ext uri="{FF2B5EF4-FFF2-40B4-BE49-F238E27FC236}">
                <a16:creationId xmlns:a16="http://schemas.microsoft.com/office/drawing/2014/main" id="{CEC6FE4C-423A-4059-8149-8B0BE0B9C32F}"/>
              </a:ext>
            </a:extLst>
          </p:cNvPr>
          <p:cNvPicPr>
            <a:picLocks noChangeAspect="1"/>
          </p:cNvPicPr>
          <p:nvPr/>
        </p:nvPicPr>
        <p:blipFill>
          <a:blip r:embed="rId4"/>
          <a:stretch>
            <a:fillRect/>
          </a:stretch>
        </p:blipFill>
        <p:spPr>
          <a:xfrm>
            <a:off x="8993325" y="1179673"/>
            <a:ext cx="2241396" cy="2281356"/>
          </a:xfrm>
          <a:prstGeom prst="rect">
            <a:avLst/>
          </a:prstGeom>
        </p:spPr>
      </p:pic>
    </p:spTree>
    <p:extLst>
      <p:ext uri="{BB962C8B-B14F-4D97-AF65-F5344CB8AC3E}">
        <p14:creationId xmlns:p14="http://schemas.microsoft.com/office/powerpoint/2010/main" val="847801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6</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sp>
        <p:nvSpPr>
          <p:cNvPr id="8" name="TextBox 7">
            <a:extLst>
              <a:ext uri="{FF2B5EF4-FFF2-40B4-BE49-F238E27FC236}">
                <a16:creationId xmlns:a16="http://schemas.microsoft.com/office/drawing/2014/main" id="{A81B4DA5-3A7E-449B-83F9-6A59A4572BFF}"/>
              </a:ext>
            </a:extLst>
          </p:cNvPr>
          <p:cNvSpPr txBox="1"/>
          <p:nvPr/>
        </p:nvSpPr>
        <p:spPr>
          <a:xfrm>
            <a:off x="255128" y="852978"/>
            <a:ext cx="8340232" cy="369332"/>
          </a:xfrm>
          <a:prstGeom prst="rect">
            <a:avLst/>
          </a:prstGeom>
          <a:noFill/>
        </p:spPr>
        <p:txBody>
          <a:bodyPr wrap="square">
            <a:spAutoFit/>
          </a:bodyPr>
          <a:lstStyle/>
          <a:p>
            <a:r>
              <a:rPr lang="en-US" dirty="0"/>
              <a:t>Only user list can be modify and to create your own user text list, follow these steps</a:t>
            </a:r>
          </a:p>
        </p:txBody>
      </p:sp>
      <p:pic>
        <p:nvPicPr>
          <p:cNvPr id="12" name="Picture 11">
            <a:extLst>
              <a:ext uri="{FF2B5EF4-FFF2-40B4-BE49-F238E27FC236}">
                <a16:creationId xmlns:a16="http://schemas.microsoft.com/office/drawing/2014/main" id="{9AF299E8-F5EC-4079-AC82-029ADAE21C5D}"/>
              </a:ext>
            </a:extLst>
          </p:cNvPr>
          <p:cNvPicPr>
            <a:picLocks noChangeAspect="1"/>
          </p:cNvPicPr>
          <p:nvPr/>
        </p:nvPicPr>
        <p:blipFill>
          <a:blip r:embed="rId2"/>
          <a:stretch>
            <a:fillRect/>
          </a:stretch>
        </p:blipFill>
        <p:spPr>
          <a:xfrm>
            <a:off x="5620871" y="4526204"/>
            <a:ext cx="2877599" cy="1974823"/>
          </a:xfrm>
          <a:prstGeom prst="rect">
            <a:avLst/>
          </a:prstGeom>
        </p:spPr>
      </p:pic>
      <p:pic>
        <p:nvPicPr>
          <p:cNvPr id="14" name="Picture 13">
            <a:extLst>
              <a:ext uri="{FF2B5EF4-FFF2-40B4-BE49-F238E27FC236}">
                <a16:creationId xmlns:a16="http://schemas.microsoft.com/office/drawing/2014/main" id="{6553A509-1990-40FB-8130-4B2FD3AA8D65}"/>
              </a:ext>
            </a:extLst>
          </p:cNvPr>
          <p:cNvPicPr>
            <a:picLocks noChangeAspect="1"/>
          </p:cNvPicPr>
          <p:nvPr/>
        </p:nvPicPr>
        <p:blipFill>
          <a:blip r:embed="rId3"/>
          <a:stretch>
            <a:fillRect/>
          </a:stretch>
        </p:blipFill>
        <p:spPr>
          <a:xfrm>
            <a:off x="8905920" y="1676155"/>
            <a:ext cx="2953162" cy="3505689"/>
          </a:xfrm>
          <a:prstGeom prst="rect">
            <a:avLst/>
          </a:prstGeom>
        </p:spPr>
      </p:pic>
      <p:cxnSp>
        <p:nvCxnSpPr>
          <p:cNvPr id="15" name="Straight Arrow Connector 14">
            <a:extLst>
              <a:ext uri="{FF2B5EF4-FFF2-40B4-BE49-F238E27FC236}">
                <a16:creationId xmlns:a16="http://schemas.microsoft.com/office/drawing/2014/main" id="{75150909-17A5-4126-B0C1-FDFF1166FD72}"/>
              </a:ext>
            </a:extLst>
          </p:cNvPr>
          <p:cNvCxnSpPr>
            <a:cxnSpLocks/>
          </p:cNvCxnSpPr>
          <p:nvPr/>
        </p:nvCxnSpPr>
        <p:spPr>
          <a:xfrm flipH="1">
            <a:off x="7965440" y="4765040"/>
            <a:ext cx="1666241" cy="10261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ECB4F12-192D-4B0E-9E37-D956D1E8C473}"/>
              </a:ext>
            </a:extLst>
          </p:cNvPr>
          <p:cNvSpPr txBox="1"/>
          <p:nvPr/>
        </p:nvSpPr>
        <p:spPr>
          <a:xfrm>
            <a:off x="169545" y="1447650"/>
            <a:ext cx="6115050" cy="3416320"/>
          </a:xfrm>
          <a:prstGeom prst="rect">
            <a:avLst/>
          </a:prstGeom>
          <a:noFill/>
        </p:spPr>
        <p:txBody>
          <a:bodyPr wrap="square">
            <a:spAutoFit/>
          </a:bodyPr>
          <a:lstStyle/>
          <a:p>
            <a:r>
              <a:rPr lang="en-US" dirty="0"/>
              <a:t>1. **Open the TIA Portal**: Start the TIA Portal software and open your project.</a:t>
            </a:r>
          </a:p>
          <a:p>
            <a:endParaRPr lang="en-US" dirty="0"/>
          </a:p>
          <a:p>
            <a:r>
              <a:rPr lang="en-US" dirty="0"/>
              <a:t>2. **Locate the Necessary Station**: In the Project Tree, find the station where you need to set up the message.</a:t>
            </a:r>
          </a:p>
          <a:p>
            <a:endParaRPr lang="en-US" dirty="0"/>
          </a:p>
          <a:p>
            <a:r>
              <a:rPr lang="en-US" dirty="0"/>
              <a:t>3. **Add a Multi-Instance DB**:</a:t>
            </a:r>
          </a:p>
          <a:p>
            <a:r>
              <a:rPr lang="en-US" dirty="0"/>
              <a:t>   - Right-click on the station or PLC where you need to add the message.</a:t>
            </a:r>
          </a:p>
          <a:p>
            <a:r>
              <a:rPr lang="en-US" dirty="0"/>
              <a:t>   - Select "Add new block" and then choose "Data block".</a:t>
            </a:r>
          </a:p>
          <a:p>
            <a:r>
              <a:rPr lang="en-US" dirty="0"/>
              <a:t>   - Create a new multi-instance DB, for example, name it `</a:t>
            </a:r>
            <a:r>
              <a:rPr lang="en-US" dirty="0" err="1"/>
              <a:t>text_mess</a:t>
            </a:r>
            <a:r>
              <a:rPr lang="en-US" dirty="0"/>
              <a:t>`.</a:t>
            </a:r>
          </a:p>
        </p:txBody>
      </p:sp>
    </p:spTree>
    <p:extLst>
      <p:ext uri="{BB962C8B-B14F-4D97-AF65-F5344CB8AC3E}">
        <p14:creationId xmlns:p14="http://schemas.microsoft.com/office/powerpoint/2010/main" val="3225852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7</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pic>
        <p:nvPicPr>
          <p:cNvPr id="5" name="Picture 4">
            <a:extLst>
              <a:ext uri="{FF2B5EF4-FFF2-40B4-BE49-F238E27FC236}">
                <a16:creationId xmlns:a16="http://schemas.microsoft.com/office/drawing/2014/main" id="{6F766673-09AE-4C34-B5EB-C0858159940E}"/>
              </a:ext>
            </a:extLst>
          </p:cNvPr>
          <p:cNvPicPr>
            <a:picLocks noChangeAspect="1"/>
          </p:cNvPicPr>
          <p:nvPr/>
        </p:nvPicPr>
        <p:blipFill>
          <a:blip r:embed="rId2"/>
          <a:stretch>
            <a:fillRect/>
          </a:stretch>
        </p:blipFill>
        <p:spPr>
          <a:xfrm>
            <a:off x="3495038" y="1033169"/>
            <a:ext cx="4067879" cy="2197711"/>
          </a:xfrm>
          <a:prstGeom prst="rect">
            <a:avLst/>
          </a:prstGeom>
        </p:spPr>
      </p:pic>
      <p:pic>
        <p:nvPicPr>
          <p:cNvPr id="7" name="Picture 6">
            <a:extLst>
              <a:ext uri="{FF2B5EF4-FFF2-40B4-BE49-F238E27FC236}">
                <a16:creationId xmlns:a16="http://schemas.microsoft.com/office/drawing/2014/main" id="{AAECE850-F612-4998-9673-0559CDF890E7}"/>
              </a:ext>
            </a:extLst>
          </p:cNvPr>
          <p:cNvPicPr>
            <a:picLocks noChangeAspect="1"/>
          </p:cNvPicPr>
          <p:nvPr/>
        </p:nvPicPr>
        <p:blipFill>
          <a:blip r:embed="rId3"/>
          <a:stretch>
            <a:fillRect/>
          </a:stretch>
        </p:blipFill>
        <p:spPr>
          <a:xfrm>
            <a:off x="538616" y="1033169"/>
            <a:ext cx="2438264" cy="2509715"/>
          </a:xfrm>
          <a:prstGeom prst="rect">
            <a:avLst/>
          </a:prstGeom>
        </p:spPr>
      </p:pic>
      <p:cxnSp>
        <p:nvCxnSpPr>
          <p:cNvPr id="8" name="Straight Arrow Connector 7">
            <a:extLst>
              <a:ext uri="{FF2B5EF4-FFF2-40B4-BE49-F238E27FC236}">
                <a16:creationId xmlns:a16="http://schemas.microsoft.com/office/drawing/2014/main" id="{B336BAC4-861C-4D71-9A6E-2F972BD36992}"/>
              </a:ext>
            </a:extLst>
          </p:cNvPr>
          <p:cNvCxnSpPr>
            <a:cxnSpLocks/>
          </p:cNvCxnSpPr>
          <p:nvPr/>
        </p:nvCxnSpPr>
        <p:spPr>
          <a:xfrm flipV="1">
            <a:off x="1676398" y="2590800"/>
            <a:ext cx="1818640" cy="416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803B3195-4F6F-42DE-9437-9DF62D03EBE9}"/>
              </a:ext>
            </a:extLst>
          </p:cNvPr>
          <p:cNvPicPr>
            <a:picLocks noChangeAspect="1"/>
          </p:cNvPicPr>
          <p:nvPr/>
        </p:nvPicPr>
        <p:blipFill>
          <a:blip r:embed="rId4"/>
          <a:stretch>
            <a:fillRect/>
          </a:stretch>
        </p:blipFill>
        <p:spPr>
          <a:xfrm>
            <a:off x="7807845" y="758849"/>
            <a:ext cx="2572335" cy="2593951"/>
          </a:xfrm>
          <a:prstGeom prst="rect">
            <a:avLst/>
          </a:prstGeom>
        </p:spPr>
      </p:pic>
      <p:sp>
        <p:nvSpPr>
          <p:cNvPr id="14" name="TextBox 13">
            <a:extLst>
              <a:ext uri="{FF2B5EF4-FFF2-40B4-BE49-F238E27FC236}">
                <a16:creationId xmlns:a16="http://schemas.microsoft.com/office/drawing/2014/main" id="{AE9ED767-2F48-4B23-B1D0-735A86CBB08E}"/>
              </a:ext>
            </a:extLst>
          </p:cNvPr>
          <p:cNvSpPr txBox="1"/>
          <p:nvPr/>
        </p:nvSpPr>
        <p:spPr>
          <a:xfrm>
            <a:off x="538616" y="4063301"/>
            <a:ext cx="5557384" cy="923330"/>
          </a:xfrm>
          <a:prstGeom prst="rect">
            <a:avLst/>
          </a:prstGeom>
          <a:noFill/>
        </p:spPr>
        <p:txBody>
          <a:bodyPr wrap="square">
            <a:spAutoFit/>
          </a:bodyPr>
          <a:lstStyle/>
          <a:p>
            <a:r>
              <a:rPr lang="en-US" dirty="0"/>
              <a:t>We can configure certain features of the message on the SAS through input ports and refer to, as well as define variables, in the user document (Shift + F1).</a:t>
            </a:r>
          </a:p>
        </p:txBody>
      </p:sp>
      <p:pic>
        <p:nvPicPr>
          <p:cNvPr id="16" name="Picture 15">
            <a:extLst>
              <a:ext uri="{FF2B5EF4-FFF2-40B4-BE49-F238E27FC236}">
                <a16:creationId xmlns:a16="http://schemas.microsoft.com/office/drawing/2014/main" id="{302A5A7A-500B-4335-8A74-6BF11B6BBACC}"/>
              </a:ext>
            </a:extLst>
          </p:cNvPr>
          <p:cNvPicPr>
            <a:picLocks noChangeAspect="1"/>
          </p:cNvPicPr>
          <p:nvPr/>
        </p:nvPicPr>
        <p:blipFill>
          <a:blip r:embed="rId5"/>
          <a:stretch>
            <a:fillRect/>
          </a:stretch>
        </p:blipFill>
        <p:spPr>
          <a:xfrm>
            <a:off x="6308698" y="3897066"/>
            <a:ext cx="2508437" cy="2593951"/>
          </a:xfrm>
          <a:prstGeom prst="rect">
            <a:avLst/>
          </a:prstGeom>
        </p:spPr>
      </p:pic>
      <p:sp>
        <p:nvSpPr>
          <p:cNvPr id="18" name="TextBox 17">
            <a:extLst>
              <a:ext uri="{FF2B5EF4-FFF2-40B4-BE49-F238E27FC236}">
                <a16:creationId xmlns:a16="http://schemas.microsoft.com/office/drawing/2014/main" id="{DCD374B1-0F2A-4EA2-8A18-9E0792F47A01}"/>
              </a:ext>
            </a:extLst>
          </p:cNvPr>
          <p:cNvSpPr txBox="1"/>
          <p:nvPr/>
        </p:nvSpPr>
        <p:spPr>
          <a:xfrm>
            <a:off x="538616" y="5194042"/>
            <a:ext cx="5082255" cy="646331"/>
          </a:xfrm>
          <a:prstGeom prst="rect">
            <a:avLst/>
          </a:prstGeom>
          <a:noFill/>
        </p:spPr>
        <p:txBody>
          <a:bodyPr wrap="square">
            <a:spAutoFit/>
          </a:bodyPr>
          <a:lstStyle/>
          <a:p>
            <a:r>
              <a:rPr lang="en-US" dirty="0"/>
              <a:t>Next, we initialize our own database, we can copy from a previous database</a:t>
            </a:r>
          </a:p>
        </p:txBody>
      </p:sp>
      <p:pic>
        <p:nvPicPr>
          <p:cNvPr id="20" name="Picture 19">
            <a:extLst>
              <a:ext uri="{FF2B5EF4-FFF2-40B4-BE49-F238E27FC236}">
                <a16:creationId xmlns:a16="http://schemas.microsoft.com/office/drawing/2014/main" id="{D17608D6-6001-4055-824C-8156E3F5EDE9}"/>
              </a:ext>
            </a:extLst>
          </p:cNvPr>
          <p:cNvPicPr>
            <a:picLocks noChangeAspect="1"/>
          </p:cNvPicPr>
          <p:nvPr/>
        </p:nvPicPr>
        <p:blipFill>
          <a:blip r:embed="rId6"/>
          <a:stretch>
            <a:fillRect/>
          </a:stretch>
        </p:blipFill>
        <p:spPr>
          <a:xfrm>
            <a:off x="9029833" y="3897066"/>
            <a:ext cx="2956420" cy="2234037"/>
          </a:xfrm>
          <a:prstGeom prst="rect">
            <a:avLst/>
          </a:prstGeom>
        </p:spPr>
      </p:pic>
      <p:cxnSp>
        <p:nvCxnSpPr>
          <p:cNvPr id="21" name="Straight Arrow Connector 20">
            <a:extLst>
              <a:ext uri="{FF2B5EF4-FFF2-40B4-BE49-F238E27FC236}">
                <a16:creationId xmlns:a16="http://schemas.microsoft.com/office/drawing/2014/main" id="{5CF692B3-57A6-4B7D-9A5D-5896A7B4D604}"/>
              </a:ext>
            </a:extLst>
          </p:cNvPr>
          <p:cNvCxnSpPr>
            <a:cxnSpLocks/>
          </p:cNvCxnSpPr>
          <p:nvPr/>
        </p:nvCxnSpPr>
        <p:spPr>
          <a:xfrm flipV="1">
            <a:off x="7807845" y="5041590"/>
            <a:ext cx="1818640" cy="4165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217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8</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pic>
        <p:nvPicPr>
          <p:cNvPr id="5" name="Picture 4">
            <a:extLst>
              <a:ext uri="{FF2B5EF4-FFF2-40B4-BE49-F238E27FC236}">
                <a16:creationId xmlns:a16="http://schemas.microsoft.com/office/drawing/2014/main" id="{E478DF8E-6A58-453C-9082-31D56F9B6B0F}"/>
              </a:ext>
            </a:extLst>
          </p:cNvPr>
          <p:cNvPicPr>
            <a:picLocks noChangeAspect="1"/>
          </p:cNvPicPr>
          <p:nvPr/>
        </p:nvPicPr>
        <p:blipFill>
          <a:blip r:embed="rId2"/>
          <a:stretch>
            <a:fillRect/>
          </a:stretch>
        </p:blipFill>
        <p:spPr>
          <a:xfrm>
            <a:off x="492757" y="914484"/>
            <a:ext cx="3931469" cy="2931678"/>
          </a:xfrm>
          <a:prstGeom prst="rect">
            <a:avLst/>
          </a:prstGeom>
        </p:spPr>
      </p:pic>
      <p:pic>
        <p:nvPicPr>
          <p:cNvPr id="9" name="Picture 8">
            <a:extLst>
              <a:ext uri="{FF2B5EF4-FFF2-40B4-BE49-F238E27FC236}">
                <a16:creationId xmlns:a16="http://schemas.microsoft.com/office/drawing/2014/main" id="{871A273A-DDEF-42C2-BBFC-2D678B702BD4}"/>
              </a:ext>
            </a:extLst>
          </p:cNvPr>
          <p:cNvPicPr>
            <a:picLocks noChangeAspect="1"/>
          </p:cNvPicPr>
          <p:nvPr/>
        </p:nvPicPr>
        <p:blipFill>
          <a:blip r:embed="rId3"/>
          <a:stretch>
            <a:fillRect/>
          </a:stretch>
        </p:blipFill>
        <p:spPr>
          <a:xfrm>
            <a:off x="4424226" y="914484"/>
            <a:ext cx="3839855" cy="3119036"/>
          </a:xfrm>
          <a:prstGeom prst="rect">
            <a:avLst/>
          </a:prstGeom>
        </p:spPr>
      </p:pic>
      <p:pic>
        <p:nvPicPr>
          <p:cNvPr id="11" name="Picture 10">
            <a:extLst>
              <a:ext uri="{FF2B5EF4-FFF2-40B4-BE49-F238E27FC236}">
                <a16:creationId xmlns:a16="http://schemas.microsoft.com/office/drawing/2014/main" id="{797BFF72-A9FF-47EA-AFD8-C6125AD3CE4C}"/>
              </a:ext>
            </a:extLst>
          </p:cNvPr>
          <p:cNvPicPr>
            <a:picLocks noChangeAspect="1"/>
          </p:cNvPicPr>
          <p:nvPr/>
        </p:nvPicPr>
        <p:blipFill>
          <a:blip r:embed="rId4"/>
          <a:stretch>
            <a:fillRect/>
          </a:stretch>
        </p:blipFill>
        <p:spPr>
          <a:xfrm>
            <a:off x="1024917" y="4278915"/>
            <a:ext cx="6798618" cy="2413112"/>
          </a:xfrm>
          <a:prstGeom prst="rect">
            <a:avLst/>
          </a:prstGeom>
        </p:spPr>
      </p:pic>
      <p:sp>
        <p:nvSpPr>
          <p:cNvPr id="13" name="TextBox 12">
            <a:extLst>
              <a:ext uri="{FF2B5EF4-FFF2-40B4-BE49-F238E27FC236}">
                <a16:creationId xmlns:a16="http://schemas.microsoft.com/office/drawing/2014/main" id="{325EEA10-099A-49CD-A5DF-8B9AB48C0000}"/>
              </a:ext>
            </a:extLst>
          </p:cNvPr>
          <p:cNvSpPr txBox="1"/>
          <p:nvPr/>
        </p:nvSpPr>
        <p:spPr>
          <a:xfrm>
            <a:off x="8440420" y="1035596"/>
            <a:ext cx="3751580" cy="1754326"/>
          </a:xfrm>
          <a:prstGeom prst="rect">
            <a:avLst/>
          </a:prstGeom>
          <a:noFill/>
        </p:spPr>
        <p:txBody>
          <a:bodyPr wrap="square">
            <a:spAutoFit/>
          </a:bodyPr>
          <a:lstStyle/>
          <a:p>
            <a:r>
              <a:rPr lang="en-US" dirty="0"/>
              <a:t>You can see in TIA a range of oscillation from 0-1037 due to the array number not requiring as much performance as a complete text list. You can modify the text according to your preferences.</a:t>
            </a:r>
          </a:p>
        </p:txBody>
      </p:sp>
      <p:pic>
        <p:nvPicPr>
          <p:cNvPr id="15" name="Picture 14">
            <a:extLst>
              <a:ext uri="{FF2B5EF4-FFF2-40B4-BE49-F238E27FC236}">
                <a16:creationId xmlns:a16="http://schemas.microsoft.com/office/drawing/2014/main" id="{35A37083-AE83-4D13-9988-9152B4C630A6}"/>
              </a:ext>
            </a:extLst>
          </p:cNvPr>
          <p:cNvPicPr>
            <a:picLocks noChangeAspect="1"/>
          </p:cNvPicPr>
          <p:nvPr/>
        </p:nvPicPr>
        <p:blipFill>
          <a:blip r:embed="rId5"/>
          <a:stretch>
            <a:fillRect/>
          </a:stretch>
        </p:blipFill>
        <p:spPr>
          <a:xfrm>
            <a:off x="9184640" y="2909486"/>
            <a:ext cx="2275933" cy="3938354"/>
          </a:xfrm>
          <a:prstGeom prst="rect">
            <a:avLst/>
          </a:prstGeom>
        </p:spPr>
      </p:pic>
    </p:spTree>
    <p:extLst>
      <p:ext uri="{BB962C8B-B14F-4D97-AF65-F5344CB8AC3E}">
        <p14:creationId xmlns:p14="http://schemas.microsoft.com/office/powerpoint/2010/main" val="1125886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B32AC-7583-480D-ACFA-2828CBA08F87}"/>
              </a:ext>
            </a:extLst>
          </p:cNvPr>
          <p:cNvSpPr>
            <a:spLocks noGrp="1"/>
          </p:cNvSpPr>
          <p:nvPr>
            <p:ph type="sldNum" sz="quarter" idx="12"/>
          </p:nvPr>
        </p:nvSpPr>
        <p:spPr/>
        <p:txBody>
          <a:bodyPr/>
          <a:lstStyle/>
          <a:p>
            <a:fld id="{D57F1E4F-1CFF-5643-939E-217C01CDF565}" type="slidenum">
              <a:rPr lang="en-US" smtClean="0"/>
              <a:t>9</a:t>
            </a:fld>
            <a:endParaRPr lang="en-US" dirty="0"/>
          </a:p>
        </p:txBody>
      </p:sp>
      <p:sp>
        <p:nvSpPr>
          <p:cNvPr id="3" name="TextBox 2">
            <a:extLst>
              <a:ext uri="{FF2B5EF4-FFF2-40B4-BE49-F238E27FC236}">
                <a16:creationId xmlns:a16="http://schemas.microsoft.com/office/drawing/2014/main" id="{802C79F3-BA5F-428D-9195-878854D368C9}"/>
              </a:ext>
            </a:extLst>
          </p:cNvPr>
          <p:cNvSpPr txBox="1"/>
          <p:nvPr/>
        </p:nvSpPr>
        <p:spPr>
          <a:xfrm>
            <a:off x="462277" y="165973"/>
            <a:ext cx="5158594" cy="461665"/>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Message system</a:t>
            </a:r>
          </a:p>
        </p:txBody>
      </p:sp>
      <p:sp>
        <p:nvSpPr>
          <p:cNvPr id="7" name="TextBox 6">
            <a:extLst>
              <a:ext uri="{FF2B5EF4-FFF2-40B4-BE49-F238E27FC236}">
                <a16:creationId xmlns:a16="http://schemas.microsoft.com/office/drawing/2014/main" id="{BC09FA3E-3AEE-4D57-B74E-A5184C97186C}"/>
              </a:ext>
            </a:extLst>
          </p:cNvPr>
          <p:cNvSpPr txBox="1"/>
          <p:nvPr/>
        </p:nvSpPr>
        <p:spPr>
          <a:xfrm>
            <a:off x="342900" y="1099235"/>
            <a:ext cx="6779260" cy="369332"/>
          </a:xfrm>
          <a:prstGeom prst="rect">
            <a:avLst/>
          </a:prstGeom>
          <a:noFill/>
        </p:spPr>
        <p:txBody>
          <a:bodyPr wrap="square">
            <a:spAutoFit/>
          </a:bodyPr>
          <a:lstStyle/>
          <a:p>
            <a:r>
              <a:rPr lang="en-US" dirty="0"/>
              <a:t>But a reasonable approach is to modify directly on SAS automatically.</a:t>
            </a:r>
          </a:p>
        </p:txBody>
      </p:sp>
      <p:pic>
        <p:nvPicPr>
          <p:cNvPr id="9" name="Picture 8">
            <a:extLst>
              <a:ext uri="{FF2B5EF4-FFF2-40B4-BE49-F238E27FC236}">
                <a16:creationId xmlns:a16="http://schemas.microsoft.com/office/drawing/2014/main" id="{C2A41E3D-C069-43A7-95B9-C852F0D5F082}"/>
              </a:ext>
            </a:extLst>
          </p:cNvPr>
          <p:cNvPicPr>
            <a:picLocks noChangeAspect="1"/>
          </p:cNvPicPr>
          <p:nvPr/>
        </p:nvPicPr>
        <p:blipFill>
          <a:blip r:embed="rId2"/>
          <a:stretch>
            <a:fillRect/>
          </a:stretch>
        </p:blipFill>
        <p:spPr>
          <a:xfrm>
            <a:off x="545675" y="1722541"/>
            <a:ext cx="4991797" cy="3067478"/>
          </a:xfrm>
          <a:prstGeom prst="rect">
            <a:avLst/>
          </a:prstGeom>
        </p:spPr>
      </p:pic>
      <p:pic>
        <p:nvPicPr>
          <p:cNvPr id="11" name="Picture 10">
            <a:extLst>
              <a:ext uri="{FF2B5EF4-FFF2-40B4-BE49-F238E27FC236}">
                <a16:creationId xmlns:a16="http://schemas.microsoft.com/office/drawing/2014/main" id="{3A8778FE-BAA4-4F0D-9323-84EA7D5E07A7}"/>
              </a:ext>
            </a:extLst>
          </p:cNvPr>
          <p:cNvPicPr>
            <a:picLocks noChangeAspect="1"/>
          </p:cNvPicPr>
          <p:nvPr/>
        </p:nvPicPr>
        <p:blipFill>
          <a:blip r:embed="rId3"/>
          <a:stretch>
            <a:fillRect/>
          </a:stretch>
        </p:blipFill>
        <p:spPr>
          <a:xfrm>
            <a:off x="5801360" y="1722541"/>
            <a:ext cx="6096000" cy="2974775"/>
          </a:xfrm>
          <a:prstGeom prst="rect">
            <a:avLst/>
          </a:prstGeom>
        </p:spPr>
      </p:pic>
    </p:spTree>
    <p:extLst>
      <p:ext uri="{BB962C8B-B14F-4D97-AF65-F5344CB8AC3E}">
        <p14:creationId xmlns:p14="http://schemas.microsoft.com/office/powerpoint/2010/main" val="2845511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82624" y="1099185"/>
            <a:ext cx="2986405" cy="810260"/>
          </a:xfrm>
          <a:prstGeom prst="rect">
            <a:avLst/>
          </a:prstGeom>
          <a:noFill/>
        </p:spPr>
        <p:txBody>
          <a:bodyPr wrap="square" rtlCol="0">
            <a:spAutoFit/>
          </a:bodyPr>
          <a:lstStyle/>
          <a:p>
            <a:pPr algn="ctr">
              <a:lnSpc>
                <a:spcPct val="130000"/>
              </a:lnSpc>
            </a:pPr>
            <a:r>
              <a:rPr lang="en-US" altLang="zh-CN" b="1" dirty="0">
                <a:solidFill>
                  <a:srgbClr val="0070C0"/>
                </a:solidFill>
                <a:latin typeface="Arial MT Std" panose="020B0802020202020204" charset="0"/>
                <a:ea typeface="Arial Unicode MS" panose="020B0604020202020204" charset="-122"/>
              </a:rPr>
              <a:t>L</a:t>
            </a:r>
            <a:r>
              <a:rPr lang="en-US" altLang="zh-CN" b="1" dirty="0">
                <a:solidFill>
                  <a:srgbClr val="FF0000"/>
                </a:solidFill>
                <a:latin typeface="Arial MT Std" panose="020B0802020202020204" charset="0"/>
                <a:ea typeface="Arial Unicode MS" panose="020B0604020202020204" charset="-122"/>
              </a:rPr>
              <a:t>I</a:t>
            </a:r>
            <a:r>
              <a:rPr lang="en-US" altLang="zh-CN" b="1" dirty="0">
                <a:solidFill>
                  <a:srgbClr val="0070C0"/>
                </a:solidFill>
                <a:latin typeface="Arial MT Std" panose="020B0802020202020204" charset="0"/>
                <a:ea typeface="Arial Unicode MS" panose="020B0604020202020204" charset="-122"/>
              </a:rPr>
              <a:t>NK</a:t>
            </a:r>
            <a:r>
              <a:rPr lang="en-US" altLang="zh-CN" b="1" dirty="0">
                <a:latin typeface="Arial MT Std" panose="020B0802020202020204" charset="0"/>
                <a:ea typeface="Arial Unicode MS" panose="020B0604020202020204" charset="-122"/>
              </a:rPr>
              <a:t> </a:t>
            </a:r>
            <a:r>
              <a:rPr lang="en-US" altLang="zh-CN" b="1" dirty="0">
                <a:solidFill>
                  <a:srgbClr val="0070C0"/>
                </a:solidFill>
                <a:latin typeface="Arial MT Std" panose="020B0802020202020204" charset="0"/>
                <a:ea typeface="Arial Unicode MS" panose="020B0604020202020204" charset="-122"/>
              </a:rPr>
              <a:t>Group Headquarter</a:t>
            </a:r>
          </a:p>
          <a:p>
            <a:pPr algn="ctr">
              <a:lnSpc>
                <a:spcPct val="130000"/>
              </a:lnSpc>
            </a:pPr>
            <a:r>
              <a:rPr lang="en-US" altLang="zh-CN" b="1" dirty="0">
                <a:solidFill>
                  <a:srgbClr val="0070C0"/>
                </a:solidFill>
                <a:latin typeface="Arial MT Std" panose="020B0802020202020204" charset="0"/>
                <a:ea typeface="Arial Unicode MS" panose="020B0604020202020204" charset="-122"/>
              </a:rPr>
              <a:t>Shanghai, China </a:t>
            </a:r>
            <a:endParaRPr lang="en-US" altLang="zh-CN" dirty="0">
              <a:solidFill>
                <a:srgbClr val="0070C0"/>
              </a:solidFill>
              <a:latin typeface="Arial" panose="020B0604020202020204" pitchFamily="34" charset="0"/>
              <a:ea typeface="Arial Unicode MS" panose="020B0604020202020204" charset="-122"/>
            </a:endParaRPr>
          </a:p>
        </p:txBody>
      </p:sp>
      <p:pic>
        <p:nvPicPr>
          <p:cNvPr id="71" name="图片 70" descr="LINK封面1改1111"/>
          <p:cNvPicPr>
            <a:picLocks noChangeAspect="1"/>
          </p:cNvPicPr>
          <p:nvPr/>
        </p:nvPicPr>
        <p:blipFill>
          <a:blip r:embed="rId2"/>
          <a:srcRect l="70401" t="12295" r="11041" b="71499"/>
          <a:stretch>
            <a:fillRect/>
          </a:stretch>
        </p:blipFill>
        <p:spPr>
          <a:xfrm>
            <a:off x="10258425" y="73025"/>
            <a:ext cx="1493520" cy="734060"/>
          </a:xfrm>
          <a:prstGeom prst="rect">
            <a:avLst/>
          </a:prstGeom>
        </p:spPr>
      </p:pic>
      <p:sp>
        <p:nvSpPr>
          <p:cNvPr id="2" name="文本框 1"/>
          <p:cNvSpPr txBox="1"/>
          <p:nvPr/>
        </p:nvSpPr>
        <p:spPr>
          <a:xfrm>
            <a:off x="587058" y="238760"/>
            <a:ext cx="1791970" cy="460375"/>
          </a:xfrm>
          <a:prstGeom prst="rect">
            <a:avLst/>
          </a:prstGeom>
          <a:noFill/>
        </p:spPr>
        <p:txBody>
          <a:bodyPr wrap="none" rtlCol="0">
            <a:spAutoFit/>
          </a:bodyPr>
          <a:lstStyle/>
          <a:p>
            <a:pPr algn="l"/>
            <a:r>
              <a:rPr lang="en-US" altLang="zh-CN" sz="2400" b="1" dirty="0">
                <a:solidFill>
                  <a:schemeClr val="bg1"/>
                </a:solidFill>
                <a:uFillTx/>
                <a:latin typeface="Arial MT Std" panose="020B0802020202020204" charset="0"/>
                <a:ea typeface="Arial Unicode MS" panose="020B0604020202020204" charset="-122"/>
                <a:sym typeface="+mn-ea"/>
              </a:rPr>
              <a:t>C</a:t>
            </a:r>
            <a:r>
              <a:rPr lang="en-US" altLang="zh-CN" sz="2400" b="1" dirty="0">
                <a:solidFill>
                  <a:schemeClr val="bg1"/>
                </a:solidFill>
                <a:latin typeface="Arial MT Std" panose="020B0802020202020204" charset="0"/>
                <a:ea typeface="Arial Unicode MS" panose="020B0604020202020204" charset="-122"/>
                <a:sym typeface="+mn-ea"/>
              </a:rPr>
              <a:t>ontact Us</a:t>
            </a:r>
          </a:p>
        </p:txBody>
      </p:sp>
      <p:grpSp>
        <p:nvGrpSpPr>
          <p:cNvPr id="50" name="组合 49"/>
          <p:cNvGrpSpPr/>
          <p:nvPr/>
        </p:nvGrpSpPr>
        <p:grpSpPr>
          <a:xfrm>
            <a:off x="852805" y="2623185"/>
            <a:ext cx="2970530" cy="3374390"/>
            <a:chOff x="913" y="4001"/>
            <a:chExt cx="4678" cy="5314"/>
          </a:xfrm>
        </p:grpSpPr>
        <p:sp>
          <p:nvSpPr>
            <p:cNvPr id="9" name="任意多边形 8"/>
            <p:cNvSpPr/>
            <p:nvPr/>
          </p:nvSpPr>
          <p:spPr>
            <a:xfrm>
              <a:off x="913"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descr="5653f3e7356a7-02"/>
            <p:cNvPicPr>
              <a:picLocks noChangeAspect="1"/>
            </p:cNvPicPr>
            <p:nvPr/>
          </p:nvPicPr>
          <p:blipFill>
            <a:blip r:embed="rId3"/>
            <a:stretch>
              <a:fillRect/>
            </a:stretch>
          </p:blipFill>
          <p:spPr>
            <a:xfrm>
              <a:off x="1004" y="5273"/>
              <a:ext cx="717" cy="632"/>
            </a:xfrm>
            <a:prstGeom prst="rect">
              <a:avLst/>
            </a:prstGeom>
          </p:spPr>
        </p:pic>
        <p:pic>
          <p:nvPicPr>
            <p:cNvPr id="8" name="图片 7" descr="5653f3e7356a7-03"/>
            <p:cNvPicPr>
              <a:picLocks noChangeAspect="1"/>
            </p:cNvPicPr>
            <p:nvPr/>
          </p:nvPicPr>
          <p:blipFill>
            <a:blip r:embed="rId4"/>
            <a:stretch>
              <a:fillRect/>
            </a:stretch>
          </p:blipFill>
          <p:spPr>
            <a:xfrm>
              <a:off x="1004" y="4609"/>
              <a:ext cx="712" cy="627"/>
            </a:xfrm>
            <a:prstGeom prst="rect">
              <a:avLst/>
            </a:prstGeom>
          </p:spPr>
        </p:pic>
        <p:sp>
          <p:nvSpPr>
            <p:cNvPr id="12" name="文本框 11"/>
            <p:cNvSpPr txBox="1"/>
            <p:nvPr/>
          </p:nvSpPr>
          <p:spPr>
            <a:xfrm>
              <a:off x="1026"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15" name="文本框 14"/>
            <p:cNvSpPr txBox="1"/>
            <p:nvPr/>
          </p:nvSpPr>
          <p:spPr>
            <a:xfrm>
              <a:off x="1603"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ying.liu@LKautomation.com</a:t>
              </a:r>
            </a:p>
          </p:txBody>
        </p:sp>
        <p:sp>
          <p:nvSpPr>
            <p:cNvPr id="16" name="文本框 15"/>
            <p:cNvSpPr txBox="1"/>
            <p:nvPr/>
          </p:nvSpPr>
          <p:spPr>
            <a:xfrm>
              <a:off x="1603"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+86 021  6918 0161</a:t>
              </a:r>
            </a:p>
          </p:txBody>
        </p:sp>
        <p:sp>
          <p:nvSpPr>
            <p:cNvPr id="17" name="文本框 16"/>
            <p:cNvSpPr txBox="1"/>
            <p:nvPr/>
          </p:nvSpPr>
          <p:spPr>
            <a:xfrm>
              <a:off x="1026"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19" name="文本框 18"/>
            <p:cNvSpPr txBox="1"/>
            <p:nvPr/>
          </p:nvSpPr>
          <p:spPr>
            <a:xfrm>
              <a:off x="1603"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gene.zhang@LKautomation.com</a:t>
              </a:r>
            </a:p>
          </p:txBody>
        </p:sp>
        <p:sp>
          <p:nvSpPr>
            <p:cNvPr id="20" name="文本框 19"/>
            <p:cNvSpPr txBox="1"/>
            <p:nvPr/>
          </p:nvSpPr>
          <p:spPr>
            <a:xfrm>
              <a:off x="1603" y="7127"/>
              <a:ext cx="2787" cy="459"/>
            </a:xfrm>
            <a:prstGeom prst="rect">
              <a:avLst/>
            </a:prstGeom>
            <a:noFill/>
          </p:spPr>
          <p:txBody>
            <a:bodyPr wrap="square" rtlCol="0">
              <a:spAutoFit/>
            </a:bodyPr>
            <a:lstStyle/>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+86 136 2179 1621</a:t>
              </a:r>
            </a:p>
          </p:txBody>
        </p:sp>
        <p:sp>
          <p:nvSpPr>
            <p:cNvPr id="25" name="文本框 24"/>
            <p:cNvSpPr txBox="1"/>
            <p:nvPr/>
          </p:nvSpPr>
          <p:spPr>
            <a:xfrm>
              <a:off x="1004" y="7670"/>
              <a:ext cx="4486" cy="1567"/>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BLDG #D,North </a:t>
              </a:r>
              <a:r>
                <a:rPr lang="en-US" altLang="zh-CN" sz="1000" dirty="0" err="1">
                  <a:solidFill>
                    <a:srgbClr val="016AC5"/>
                  </a:solidFill>
                  <a:latin typeface="Arial" panose="020B0604020202020204" pitchFamily="34" charset="0"/>
                  <a:ea typeface="Arial Unicode MS" panose="020B0604020202020204" charset="-122"/>
                  <a:sym typeface="+mn-ea"/>
                </a:rPr>
                <a:t>Jiasong</a:t>
              </a:r>
              <a:r>
                <a:rPr lang="en-US" altLang="zh-CN" sz="1000" dirty="0">
                  <a:solidFill>
                    <a:srgbClr val="016AC5"/>
                  </a:solidFill>
                  <a:latin typeface="Arial" panose="020B0604020202020204" pitchFamily="34" charset="0"/>
                  <a:ea typeface="Arial Unicode MS" panose="020B0604020202020204" charset="-122"/>
                  <a:sym typeface="+mn-ea"/>
                </a:rPr>
                <a:t> Road No.3570 Jiading District,Shanghai,</a:t>
              </a:r>
              <a:r>
                <a:rPr lang="en-US" altLang="zh-CN" sz="1000" dirty="0" err="1">
                  <a:solidFill>
                    <a:srgbClr val="016AC5"/>
                  </a:solidFill>
                  <a:latin typeface="Arial" panose="020B0604020202020204" pitchFamily="34" charset="0"/>
                  <a:ea typeface="Arial Unicode MS" panose="020B0604020202020204" charset="-122"/>
                  <a:sym typeface="+mn-ea"/>
                </a:rPr>
                <a:t>P.R.China</a:t>
              </a:r>
              <a:r>
                <a:rPr lang="en-US" altLang="zh-CN" sz="1200" dirty="0">
                  <a:solidFill>
                    <a:srgbClr val="016AC5"/>
                  </a:solidFill>
                  <a:latin typeface="Arial" panose="020B0604020202020204" pitchFamily="34" charset="0"/>
                  <a:ea typeface="Arial Unicode MS" panose="020B0604020202020204" charset="-122"/>
                  <a:sym typeface="+mn-ea"/>
                </a:rPr>
                <a:t> </a:t>
              </a:r>
            </a:p>
            <a:p>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11" name="图片 10" descr="5653f3e7356a7-02"/>
            <p:cNvPicPr>
              <a:picLocks noChangeAspect="1"/>
            </p:cNvPicPr>
            <p:nvPr/>
          </p:nvPicPr>
          <p:blipFill>
            <a:blip r:embed="rId3"/>
            <a:stretch>
              <a:fillRect/>
            </a:stretch>
          </p:blipFill>
          <p:spPr>
            <a:xfrm>
              <a:off x="1004" y="7040"/>
              <a:ext cx="717" cy="632"/>
            </a:xfrm>
            <a:prstGeom prst="rect">
              <a:avLst/>
            </a:prstGeom>
          </p:spPr>
        </p:pic>
        <p:pic>
          <p:nvPicPr>
            <p:cNvPr id="13" name="图片 12" descr="5653f3e7356a7-03"/>
            <p:cNvPicPr>
              <a:picLocks noChangeAspect="1"/>
            </p:cNvPicPr>
            <p:nvPr/>
          </p:nvPicPr>
          <p:blipFill>
            <a:blip r:embed="rId4"/>
            <a:stretch>
              <a:fillRect/>
            </a:stretch>
          </p:blipFill>
          <p:spPr>
            <a:xfrm>
              <a:off x="1004" y="6376"/>
              <a:ext cx="712" cy="627"/>
            </a:xfrm>
            <a:prstGeom prst="rect">
              <a:avLst/>
            </a:prstGeom>
          </p:spPr>
        </p:pic>
      </p:grpSp>
      <p:sp>
        <p:nvSpPr>
          <p:cNvPr id="22" name="文本框 21"/>
          <p:cNvSpPr txBox="1"/>
          <p:nvPr/>
        </p:nvSpPr>
        <p:spPr>
          <a:xfrm>
            <a:off x="3904932" y="1099185"/>
            <a:ext cx="4370070" cy="810260"/>
          </a:xfrm>
          <a:prstGeom prst="rect">
            <a:avLst/>
          </a:prstGeom>
          <a:noFill/>
        </p:spPr>
        <p:txBody>
          <a:bodyPr wrap="square" rtlCol="0">
            <a:spAutoFit/>
          </a:bodyPr>
          <a:lstStyle/>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L</a:t>
            </a:r>
            <a:r>
              <a:rPr lang="en-US" altLang="zh-CN" b="1" kern="600" dirty="0">
                <a:solidFill>
                  <a:srgbClr val="FF0000"/>
                </a:solidFill>
                <a:latin typeface="Arial MT Std" panose="020B0802020202020204" charset="0"/>
                <a:ea typeface="Arial Unicode MS" panose="020B0604020202020204" charset="-122"/>
                <a:sym typeface="+mn-ea"/>
              </a:rPr>
              <a:t>I</a:t>
            </a:r>
            <a:r>
              <a:rPr lang="en-US" altLang="zh-CN" b="1" kern="600" dirty="0">
                <a:solidFill>
                  <a:srgbClr val="0070C0"/>
                </a:solidFill>
                <a:latin typeface="Arial MT Std" panose="020B0802020202020204" charset="0"/>
                <a:ea typeface="Arial Unicode MS" panose="020B0604020202020204" charset="-122"/>
                <a:sym typeface="+mn-ea"/>
              </a:rPr>
              <a:t>NK</a:t>
            </a:r>
            <a:r>
              <a:rPr lang="en-US" altLang="zh-CN" b="1" kern="600" dirty="0">
                <a:latin typeface="Arial MT Std" panose="020B0802020202020204" charset="0"/>
                <a:ea typeface="Arial Unicode MS" panose="020B0604020202020204" charset="-122"/>
                <a:sym typeface="+mn-ea"/>
              </a:rPr>
              <a:t> </a:t>
            </a:r>
            <a:r>
              <a:rPr lang="en-US" altLang="zh-CN" b="1" kern="600" dirty="0">
                <a:solidFill>
                  <a:srgbClr val="0070C0"/>
                </a:solidFill>
                <a:latin typeface="Arial MT Std" panose="020B0802020202020204" charset="0"/>
                <a:ea typeface="Arial Unicode MS" panose="020B0604020202020204" charset="-122"/>
                <a:sym typeface="+mn-ea"/>
              </a:rPr>
              <a:t>Group North China</a:t>
            </a:r>
          </a:p>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Shenyang, China</a:t>
            </a:r>
            <a:endParaRPr lang="en-US" altLang="zh-CN" kern="600" dirty="0">
              <a:solidFill>
                <a:srgbClr val="0070C0"/>
              </a:solidFill>
              <a:latin typeface="Arial" panose="020B0604020202020204" pitchFamily="34" charset="0"/>
              <a:ea typeface="Arial Unicode MS" panose="020B0604020202020204" charset="-122"/>
            </a:endParaRPr>
          </a:p>
        </p:txBody>
      </p:sp>
      <p:sp>
        <p:nvSpPr>
          <p:cNvPr id="74" name="文本框 73"/>
          <p:cNvSpPr txBox="1"/>
          <p:nvPr/>
        </p:nvSpPr>
        <p:spPr>
          <a:xfrm>
            <a:off x="7885112" y="1113479"/>
            <a:ext cx="4092575" cy="1172629"/>
          </a:xfrm>
          <a:prstGeom prst="rect">
            <a:avLst/>
          </a:prstGeom>
          <a:noFill/>
        </p:spPr>
        <p:txBody>
          <a:bodyPr wrap="square" rtlCol="0">
            <a:spAutoFit/>
          </a:bodyPr>
          <a:lstStyle/>
          <a:p>
            <a:pPr algn="ctr">
              <a:lnSpc>
                <a:spcPct val="130000"/>
              </a:lnSpc>
            </a:pPr>
            <a:r>
              <a:rPr lang="en-US" altLang="zh-CN" b="1" kern="600" dirty="0">
                <a:solidFill>
                  <a:srgbClr val="0070C0"/>
                </a:solidFill>
                <a:latin typeface="Arial MT Std" panose="020B0802020202020204" charset="0"/>
                <a:ea typeface="Arial Unicode MS" panose="020B0604020202020204" charset="-122"/>
                <a:sym typeface="+mn-ea"/>
              </a:rPr>
              <a:t>L</a:t>
            </a:r>
            <a:r>
              <a:rPr lang="en-US" altLang="zh-CN" b="1" kern="600" dirty="0">
                <a:solidFill>
                  <a:srgbClr val="FF0000"/>
                </a:solidFill>
                <a:latin typeface="Arial MT Std" panose="020B0802020202020204" charset="0"/>
                <a:ea typeface="Arial Unicode MS" panose="020B0604020202020204" charset="-122"/>
                <a:sym typeface="+mn-ea"/>
              </a:rPr>
              <a:t>I</a:t>
            </a:r>
            <a:r>
              <a:rPr lang="en-US" altLang="zh-CN" b="1" kern="600" dirty="0">
                <a:solidFill>
                  <a:srgbClr val="0070C0"/>
                </a:solidFill>
                <a:latin typeface="Arial MT Std" panose="020B0802020202020204" charset="0"/>
                <a:ea typeface="Arial Unicode MS" panose="020B0604020202020204" charset="-122"/>
                <a:sym typeface="+mn-ea"/>
              </a:rPr>
              <a:t>N</a:t>
            </a:r>
            <a:r>
              <a:rPr lang="en-US" altLang="zh-CN" b="1" dirty="0">
                <a:solidFill>
                  <a:srgbClr val="0070C0"/>
                </a:solidFill>
                <a:latin typeface="Arial MT Std" panose="020B0802020202020204" charset="0"/>
                <a:ea typeface="Arial Unicode MS" panose="020B0604020202020204" charset="-122"/>
                <a:sym typeface="+mn-ea"/>
              </a:rPr>
              <a:t>K Group Europe</a:t>
            </a:r>
            <a:br>
              <a:rPr lang="en-US" altLang="zh-CN" b="1" dirty="0">
                <a:solidFill>
                  <a:srgbClr val="0070C0"/>
                </a:solidFill>
                <a:latin typeface="Arial MT Std" panose="020B0802020202020204" charset="0"/>
                <a:ea typeface="Arial Unicode MS" panose="020B0604020202020204" charset="-122"/>
                <a:sym typeface="+mn-ea"/>
              </a:rPr>
            </a:br>
            <a:r>
              <a:rPr lang="en-US" altLang="zh-CN" b="1" dirty="0">
                <a:solidFill>
                  <a:srgbClr val="0070C0"/>
                </a:solidFill>
                <a:latin typeface="Arial MT Std" panose="020B0802020202020204" charset="0"/>
                <a:ea typeface="Arial Unicode MS" panose="020B0604020202020204" charset="-122"/>
                <a:sym typeface="+mn-ea"/>
              </a:rPr>
              <a:t>(LKGG GmbH)</a:t>
            </a:r>
          </a:p>
          <a:p>
            <a:pPr algn="ctr">
              <a:lnSpc>
                <a:spcPct val="130000"/>
              </a:lnSpc>
            </a:pPr>
            <a:r>
              <a:rPr lang="en-US" altLang="zh-CN" b="1" dirty="0">
                <a:solidFill>
                  <a:srgbClr val="0070C0"/>
                </a:solidFill>
                <a:latin typeface="Arial MT Std" panose="020B0802020202020204" charset="0"/>
                <a:ea typeface="Arial Unicode MS" panose="020B0604020202020204" charset="-122"/>
                <a:sym typeface="+mn-ea"/>
              </a:rPr>
              <a:t>Bad Reichenhall, Germany</a:t>
            </a:r>
            <a:endParaRPr lang="en-US" altLang="zh-CN" kern="600" dirty="0">
              <a:solidFill>
                <a:srgbClr val="0070C0"/>
              </a:solidFill>
              <a:latin typeface="Arial" panose="020B0604020202020204" pitchFamily="34" charset="0"/>
              <a:ea typeface="Arial Unicode MS" panose="020B0604020202020204" charset="-122"/>
            </a:endParaRPr>
          </a:p>
        </p:txBody>
      </p:sp>
      <p:sp>
        <p:nvSpPr>
          <p:cNvPr id="5" name="灯片编号占位符 4"/>
          <p:cNvSpPr>
            <a:spLocks noGrp="1"/>
          </p:cNvSpPr>
          <p:nvPr>
            <p:ph type="sldNum" sz="quarter" idx="12"/>
          </p:nvPr>
        </p:nvSpPr>
        <p:spPr>
          <a:xfrm>
            <a:off x="11652583" y="6489708"/>
            <a:ext cx="551247" cy="365125"/>
          </a:xfrm>
        </p:spPr>
        <p:txBody>
          <a:bodyPr/>
          <a:lstStyle/>
          <a:p>
            <a:fld id="{D57F1E4F-1CFF-5643-939E-217C01CDF565}" type="slidenum">
              <a:rPr lang="en-US" dirty="0">
                <a:latin typeface="Arial Unicode MS" panose="020B0604020202020204" charset="-122"/>
                <a:ea typeface="Arial Unicode MS" panose="020B0604020202020204" charset="-122"/>
              </a:rPr>
              <a:t>10</a:t>
            </a:fld>
            <a:endParaRPr lang="en-US" dirty="0">
              <a:latin typeface="Arial Unicode MS" panose="020B0604020202020204" charset="-122"/>
              <a:ea typeface="Arial Unicode MS" panose="020B0604020202020204" charset="-122"/>
            </a:endParaRPr>
          </a:p>
        </p:txBody>
      </p:sp>
      <p:grpSp>
        <p:nvGrpSpPr>
          <p:cNvPr id="24" name="组合 23"/>
          <p:cNvGrpSpPr/>
          <p:nvPr/>
        </p:nvGrpSpPr>
        <p:grpSpPr>
          <a:xfrm>
            <a:off x="4636770" y="2623185"/>
            <a:ext cx="2970530" cy="3374390"/>
            <a:chOff x="6872" y="4001"/>
            <a:chExt cx="4678" cy="5314"/>
          </a:xfrm>
        </p:grpSpPr>
        <p:sp>
          <p:nvSpPr>
            <p:cNvPr id="18" name="任意多边形 17"/>
            <p:cNvSpPr/>
            <p:nvPr/>
          </p:nvSpPr>
          <p:spPr>
            <a:xfrm>
              <a:off x="6872"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descr="5653f3e7356a7-02"/>
            <p:cNvPicPr>
              <a:picLocks noChangeAspect="1"/>
            </p:cNvPicPr>
            <p:nvPr/>
          </p:nvPicPr>
          <p:blipFill>
            <a:blip r:embed="rId3"/>
            <a:stretch>
              <a:fillRect/>
            </a:stretch>
          </p:blipFill>
          <p:spPr>
            <a:xfrm>
              <a:off x="6963" y="5273"/>
              <a:ext cx="717" cy="632"/>
            </a:xfrm>
            <a:prstGeom prst="rect">
              <a:avLst/>
            </a:prstGeom>
          </p:spPr>
        </p:pic>
        <p:pic>
          <p:nvPicPr>
            <p:cNvPr id="26" name="图片 25" descr="5653f3e7356a7-03"/>
            <p:cNvPicPr>
              <a:picLocks noChangeAspect="1"/>
            </p:cNvPicPr>
            <p:nvPr/>
          </p:nvPicPr>
          <p:blipFill>
            <a:blip r:embed="rId4"/>
            <a:stretch>
              <a:fillRect/>
            </a:stretch>
          </p:blipFill>
          <p:spPr>
            <a:xfrm>
              <a:off x="6963" y="4609"/>
              <a:ext cx="712" cy="627"/>
            </a:xfrm>
            <a:prstGeom prst="rect">
              <a:avLst/>
            </a:prstGeom>
          </p:spPr>
        </p:pic>
        <p:sp>
          <p:nvSpPr>
            <p:cNvPr id="27" name="文本框 26"/>
            <p:cNvSpPr txBox="1"/>
            <p:nvPr/>
          </p:nvSpPr>
          <p:spPr>
            <a:xfrm>
              <a:off x="6985"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28" name="文本框 27"/>
            <p:cNvSpPr txBox="1"/>
            <p:nvPr/>
          </p:nvSpPr>
          <p:spPr>
            <a:xfrm>
              <a:off x="7562"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kimi.wang@LKautomation.com</a:t>
              </a:r>
            </a:p>
          </p:txBody>
        </p:sp>
        <p:sp>
          <p:nvSpPr>
            <p:cNvPr id="29" name="文本框 28"/>
            <p:cNvSpPr txBox="1"/>
            <p:nvPr/>
          </p:nvSpPr>
          <p:spPr>
            <a:xfrm>
              <a:off x="7562"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+86 021  6918 0161</a:t>
              </a:r>
            </a:p>
          </p:txBody>
        </p:sp>
        <p:sp>
          <p:nvSpPr>
            <p:cNvPr id="30" name="文本框 29"/>
            <p:cNvSpPr txBox="1"/>
            <p:nvPr/>
          </p:nvSpPr>
          <p:spPr>
            <a:xfrm>
              <a:off x="6985"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31" name="文本框 30"/>
            <p:cNvSpPr txBox="1"/>
            <p:nvPr/>
          </p:nvSpPr>
          <p:spPr>
            <a:xfrm>
              <a:off x="7562"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gene.zhang@LKautomation.com</a:t>
              </a:r>
            </a:p>
          </p:txBody>
        </p:sp>
        <p:sp>
          <p:nvSpPr>
            <p:cNvPr id="32" name="文本框 31"/>
            <p:cNvSpPr txBox="1"/>
            <p:nvPr/>
          </p:nvSpPr>
          <p:spPr>
            <a:xfrm>
              <a:off x="7562" y="7127"/>
              <a:ext cx="2787" cy="459"/>
            </a:xfrm>
            <a:prstGeom prst="rect">
              <a:avLst/>
            </a:prstGeom>
            <a:noFill/>
          </p:spPr>
          <p:txBody>
            <a:bodyPr wrap="square" rtlCol="0">
              <a:spAutoFit/>
            </a:bodyPr>
            <a:lstStyle/>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+86 136 2179 1621</a:t>
              </a:r>
            </a:p>
          </p:txBody>
        </p:sp>
        <p:sp>
          <p:nvSpPr>
            <p:cNvPr id="33" name="文本框 32"/>
            <p:cNvSpPr txBox="1"/>
            <p:nvPr/>
          </p:nvSpPr>
          <p:spPr>
            <a:xfrm>
              <a:off x="6963" y="7670"/>
              <a:ext cx="4233" cy="1529"/>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NO. 14 22nd Floor,NO.168-3 Harbin Road, </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Shenhe</a:t>
              </a:r>
              <a:r>
                <a:rPr lang="en-US" altLang="zh-CN" sz="1000" dirty="0">
                  <a:solidFill>
                    <a:srgbClr val="016AC5"/>
                  </a:solidFill>
                  <a:latin typeface="Arial" panose="020B0604020202020204" pitchFamily="34" charset="0"/>
                  <a:ea typeface="Arial Unicode MS" panose="020B0604020202020204" charset="-122"/>
                  <a:sym typeface="+mn-ea"/>
                </a:rPr>
                <a:t> District,Shenyang,Liaoning </a:t>
              </a:r>
            </a:p>
            <a:p>
              <a:pPr>
                <a:lnSpc>
                  <a:spcPct val="130000"/>
                </a:lnSpc>
              </a:pPr>
              <a:r>
                <a:rPr lang="en-US" altLang="zh-CN" sz="1000" dirty="0">
                  <a:solidFill>
                    <a:srgbClr val="016AC5"/>
                  </a:solidFill>
                  <a:latin typeface="Arial" panose="020B0604020202020204" pitchFamily="34" charset="0"/>
                  <a:ea typeface="Arial Unicode MS" panose="020B0604020202020204" charset="-122"/>
                  <a:sym typeface="+mn-ea"/>
                </a:rPr>
                <a:t>Province,</a:t>
              </a:r>
              <a:r>
                <a:rPr lang="en-US" altLang="zh-CN" sz="1000" dirty="0" err="1">
                  <a:solidFill>
                    <a:srgbClr val="016AC5"/>
                  </a:solidFill>
                  <a:latin typeface="Arial" panose="020B0604020202020204" pitchFamily="34" charset="0"/>
                  <a:ea typeface="Arial Unicode MS" panose="020B0604020202020204" charset="-122"/>
                  <a:sym typeface="+mn-ea"/>
                </a:rPr>
                <a:t>P.R.China</a:t>
              </a:r>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34" name="图片 33" descr="5653f3e7356a7-02"/>
            <p:cNvPicPr>
              <a:picLocks noChangeAspect="1"/>
            </p:cNvPicPr>
            <p:nvPr/>
          </p:nvPicPr>
          <p:blipFill>
            <a:blip r:embed="rId3"/>
            <a:stretch>
              <a:fillRect/>
            </a:stretch>
          </p:blipFill>
          <p:spPr>
            <a:xfrm>
              <a:off x="6963" y="7040"/>
              <a:ext cx="717" cy="632"/>
            </a:xfrm>
            <a:prstGeom prst="rect">
              <a:avLst/>
            </a:prstGeom>
          </p:spPr>
        </p:pic>
        <p:pic>
          <p:nvPicPr>
            <p:cNvPr id="35" name="图片 34" descr="5653f3e7356a7-03"/>
            <p:cNvPicPr>
              <a:picLocks noChangeAspect="1"/>
            </p:cNvPicPr>
            <p:nvPr/>
          </p:nvPicPr>
          <p:blipFill>
            <a:blip r:embed="rId4"/>
            <a:stretch>
              <a:fillRect/>
            </a:stretch>
          </p:blipFill>
          <p:spPr>
            <a:xfrm>
              <a:off x="6963" y="6376"/>
              <a:ext cx="712" cy="627"/>
            </a:xfrm>
            <a:prstGeom prst="rect">
              <a:avLst/>
            </a:prstGeom>
          </p:spPr>
        </p:pic>
      </p:grpSp>
      <p:grpSp>
        <p:nvGrpSpPr>
          <p:cNvPr id="3" name="组合 2"/>
          <p:cNvGrpSpPr/>
          <p:nvPr/>
        </p:nvGrpSpPr>
        <p:grpSpPr>
          <a:xfrm>
            <a:off x="8478203" y="2623185"/>
            <a:ext cx="3121660" cy="3374390"/>
            <a:chOff x="12853" y="4001"/>
            <a:chExt cx="4916" cy="5314"/>
          </a:xfrm>
        </p:grpSpPr>
        <p:sp>
          <p:nvSpPr>
            <p:cNvPr id="37" name="任意多边形 36"/>
            <p:cNvSpPr/>
            <p:nvPr/>
          </p:nvSpPr>
          <p:spPr>
            <a:xfrm>
              <a:off x="12853" y="4001"/>
              <a:ext cx="4577" cy="5314"/>
            </a:xfrm>
            <a:custGeom>
              <a:avLst/>
              <a:gdLst>
                <a:gd name="connsiteX0" fmla="*/ 0 w 4577"/>
                <a:gd name="connsiteY0" fmla="*/ 268 h 4985"/>
                <a:gd name="connsiteX1" fmla="*/ 179 w 4577"/>
                <a:gd name="connsiteY1" fmla="*/ 0 h 4985"/>
                <a:gd name="connsiteX2" fmla="*/ 4398 w 4577"/>
                <a:gd name="connsiteY2" fmla="*/ 0 h 4985"/>
                <a:gd name="connsiteX3" fmla="*/ 4577 w 4577"/>
                <a:gd name="connsiteY3" fmla="*/ 268 h 4985"/>
                <a:gd name="connsiteX4" fmla="*/ 4565 w 4577"/>
                <a:gd name="connsiteY4" fmla="*/ 4734 h 4985"/>
                <a:gd name="connsiteX5" fmla="*/ 4429 w 4577"/>
                <a:gd name="connsiteY5" fmla="*/ 4985 h 4985"/>
                <a:gd name="connsiteX6" fmla="*/ 177 w 4577"/>
                <a:gd name="connsiteY6" fmla="*/ 4982 h 4985"/>
                <a:gd name="connsiteX7" fmla="*/ 10 w 4577"/>
                <a:gd name="connsiteY7" fmla="*/ 4771 h 4985"/>
                <a:gd name="connsiteX8" fmla="*/ 0 w 4577"/>
                <a:gd name="connsiteY8" fmla="*/ 268 h 4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7" h="4985">
                  <a:moveTo>
                    <a:pt x="0" y="268"/>
                  </a:moveTo>
                  <a:cubicBezTo>
                    <a:pt x="0" y="120"/>
                    <a:pt x="80" y="0"/>
                    <a:pt x="179" y="0"/>
                  </a:cubicBezTo>
                  <a:lnTo>
                    <a:pt x="4398" y="0"/>
                  </a:lnTo>
                  <a:cubicBezTo>
                    <a:pt x="4497" y="0"/>
                    <a:pt x="4577" y="120"/>
                    <a:pt x="4577" y="268"/>
                  </a:cubicBezTo>
                  <a:lnTo>
                    <a:pt x="4565" y="4734"/>
                  </a:lnTo>
                  <a:cubicBezTo>
                    <a:pt x="4565" y="4882"/>
                    <a:pt x="4528" y="4985"/>
                    <a:pt x="4429" y="4985"/>
                  </a:cubicBezTo>
                  <a:lnTo>
                    <a:pt x="177" y="4982"/>
                  </a:lnTo>
                  <a:cubicBezTo>
                    <a:pt x="78" y="4982"/>
                    <a:pt x="10" y="4919"/>
                    <a:pt x="10" y="4771"/>
                  </a:cubicBezTo>
                  <a:lnTo>
                    <a:pt x="0" y="268"/>
                  </a:lnTo>
                  <a:close/>
                </a:path>
              </a:pathLst>
            </a:custGeom>
            <a:noFill/>
            <a:ln>
              <a:solidFill>
                <a:srgbClr val="016AC5"/>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descr="5653f3e7356a7-02"/>
            <p:cNvPicPr>
              <a:picLocks noChangeAspect="1"/>
            </p:cNvPicPr>
            <p:nvPr/>
          </p:nvPicPr>
          <p:blipFill>
            <a:blip r:embed="rId3"/>
            <a:stretch>
              <a:fillRect/>
            </a:stretch>
          </p:blipFill>
          <p:spPr>
            <a:xfrm>
              <a:off x="12944" y="5273"/>
              <a:ext cx="717" cy="632"/>
            </a:xfrm>
            <a:prstGeom prst="rect">
              <a:avLst/>
            </a:prstGeom>
          </p:spPr>
        </p:pic>
        <p:pic>
          <p:nvPicPr>
            <p:cNvPr id="40" name="图片 39" descr="5653f3e7356a7-03"/>
            <p:cNvPicPr>
              <a:picLocks noChangeAspect="1"/>
            </p:cNvPicPr>
            <p:nvPr/>
          </p:nvPicPr>
          <p:blipFill>
            <a:blip r:embed="rId4"/>
            <a:stretch>
              <a:fillRect/>
            </a:stretch>
          </p:blipFill>
          <p:spPr>
            <a:xfrm>
              <a:off x="12944" y="4609"/>
              <a:ext cx="712" cy="627"/>
            </a:xfrm>
            <a:prstGeom prst="rect">
              <a:avLst/>
            </a:prstGeom>
          </p:spPr>
        </p:pic>
        <p:sp>
          <p:nvSpPr>
            <p:cNvPr id="41" name="文本框 40"/>
            <p:cNvSpPr txBox="1"/>
            <p:nvPr/>
          </p:nvSpPr>
          <p:spPr>
            <a:xfrm>
              <a:off x="12966" y="4178"/>
              <a:ext cx="1464"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Enquiry </a:t>
              </a:r>
            </a:p>
          </p:txBody>
        </p:sp>
        <p:sp>
          <p:nvSpPr>
            <p:cNvPr id="42" name="文本框 41"/>
            <p:cNvSpPr txBox="1"/>
            <p:nvPr/>
          </p:nvSpPr>
          <p:spPr>
            <a:xfrm>
              <a:off x="13543" y="4729"/>
              <a:ext cx="33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jackey.yin@LKautomation.com</a:t>
              </a:r>
            </a:p>
          </p:txBody>
        </p:sp>
        <p:sp>
          <p:nvSpPr>
            <p:cNvPr id="43" name="文本框 42"/>
            <p:cNvSpPr txBox="1"/>
            <p:nvPr/>
          </p:nvSpPr>
          <p:spPr>
            <a:xfrm>
              <a:off x="13543" y="5454"/>
              <a:ext cx="2787"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+86 186 2171 9367 </a:t>
              </a:r>
            </a:p>
          </p:txBody>
        </p:sp>
        <p:sp>
          <p:nvSpPr>
            <p:cNvPr id="44" name="文本框 43"/>
            <p:cNvSpPr txBox="1"/>
            <p:nvPr/>
          </p:nvSpPr>
          <p:spPr>
            <a:xfrm>
              <a:off x="12966" y="5905"/>
              <a:ext cx="1111" cy="483"/>
            </a:xfrm>
            <a:prstGeom prst="rect">
              <a:avLst/>
            </a:prstGeom>
            <a:noFill/>
          </p:spPr>
          <p:txBody>
            <a:bodyPr wrap="square" rtlCol="0">
              <a:spAutoFit/>
            </a:bodyPr>
            <a:lstStyle/>
            <a:p>
              <a:r>
                <a:rPr lang="en-US" altLang="zh-CN" sz="1400" b="1" dirty="0">
                  <a:solidFill>
                    <a:srgbClr val="0070C0"/>
                  </a:solidFill>
                  <a:latin typeface="Arial" panose="020B0604020202020204" pitchFamily="34" charset="0"/>
                  <a:ea typeface="Arial Unicode MS" panose="020B0604020202020204" charset="-122"/>
                  <a:sym typeface="+mn-ea"/>
                </a:rPr>
                <a:t>Sales</a:t>
              </a:r>
            </a:p>
          </p:txBody>
        </p:sp>
        <p:sp>
          <p:nvSpPr>
            <p:cNvPr id="45" name="文本框 44"/>
            <p:cNvSpPr txBox="1"/>
            <p:nvPr/>
          </p:nvSpPr>
          <p:spPr>
            <a:xfrm>
              <a:off x="13543" y="6496"/>
              <a:ext cx="3988" cy="386"/>
            </a:xfrm>
            <a:prstGeom prst="rect">
              <a:avLst/>
            </a:prstGeom>
            <a:noFill/>
          </p:spPr>
          <p:txBody>
            <a:bodyPr wrap="square" rtlCol="0">
              <a:spAutoFit/>
            </a:bodyPr>
            <a:lstStyle/>
            <a:p>
              <a:r>
                <a:rPr lang="en-US" altLang="zh-CN" sz="1000" dirty="0">
                  <a:solidFill>
                    <a:srgbClr val="016AC5"/>
                  </a:solidFill>
                  <a:latin typeface="Arial" panose="020B0604020202020204" pitchFamily="34" charset="0"/>
                  <a:ea typeface="Arial Unicode MS" panose="020B0604020202020204" charset="-122"/>
                  <a:sym typeface="+mn-ea"/>
                </a:rPr>
                <a:t>andreas.reymendt@LKautomation.com</a:t>
              </a:r>
            </a:p>
          </p:txBody>
        </p:sp>
        <p:sp>
          <p:nvSpPr>
            <p:cNvPr id="46" name="文本框 45"/>
            <p:cNvSpPr txBox="1"/>
            <p:nvPr/>
          </p:nvSpPr>
          <p:spPr>
            <a:xfrm>
              <a:off x="13543" y="7127"/>
              <a:ext cx="2787" cy="428"/>
            </a:xfrm>
            <a:prstGeom prst="rect">
              <a:avLst/>
            </a:prstGeom>
            <a:noFill/>
          </p:spPr>
          <p:txBody>
            <a:bodyPr wrap="square" rtlCol="0">
              <a:spAutoFit/>
            </a:bodyPr>
            <a:lstStyle/>
            <a:p>
              <a:pPr>
                <a:lnSpc>
                  <a:spcPct val="130000"/>
                </a:lnSpc>
              </a:pPr>
              <a:endParaRPr lang="en-US" altLang="zh-CN" sz="1000" dirty="0">
                <a:solidFill>
                  <a:srgbClr val="016AC5"/>
                </a:solidFill>
                <a:latin typeface="Arial" panose="020B0604020202020204" pitchFamily="34" charset="0"/>
                <a:ea typeface="Arial Unicode MS" panose="020B0604020202020204" charset="-122"/>
                <a:sym typeface="+mn-ea"/>
              </a:endParaRPr>
            </a:p>
          </p:txBody>
        </p:sp>
        <p:sp>
          <p:nvSpPr>
            <p:cNvPr id="47" name="文本框 46"/>
            <p:cNvSpPr txBox="1"/>
            <p:nvPr/>
          </p:nvSpPr>
          <p:spPr>
            <a:xfrm>
              <a:off x="12944" y="7670"/>
              <a:ext cx="4825" cy="1214"/>
            </a:xfrm>
            <a:prstGeom prst="rect">
              <a:avLst/>
            </a:prstGeom>
            <a:noFill/>
          </p:spPr>
          <p:txBody>
            <a:bodyPr wrap="square" rtlCol="0">
              <a:spAutoFit/>
            </a:bodyPr>
            <a:lstStyle/>
            <a:p>
              <a:pPr>
                <a:lnSpc>
                  <a:spcPct val="130000"/>
                </a:lnSpc>
              </a:pPr>
              <a:r>
                <a:rPr lang="en-US" altLang="zh-CN" sz="1400" b="1" dirty="0">
                  <a:solidFill>
                    <a:srgbClr val="0070C0"/>
                  </a:solidFill>
                  <a:latin typeface="Arial" panose="020B0604020202020204" pitchFamily="34" charset="0"/>
                  <a:ea typeface="Arial Unicode MS" panose="020B0604020202020204" charset="-122"/>
                  <a:sym typeface="+mn-ea"/>
                </a:rPr>
                <a:t>Address</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Fischerbraeuwiese</a:t>
              </a:r>
              <a:r>
                <a:rPr lang="en-US" altLang="zh-CN" sz="1000" dirty="0">
                  <a:solidFill>
                    <a:srgbClr val="016AC5"/>
                  </a:solidFill>
                  <a:latin typeface="Arial" panose="020B0604020202020204" pitchFamily="34" charset="0"/>
                  <a:ea typeface="Arial Unicode MS" panose="020B0604020202020204" charset="-122"/>
                  <a:sym typeface="+mn-ea"/>
                </a:rPr>
                <a:t> 18b,83435 Bad</a:t>
              </a:r>
            </a:p>
            <a:p>
              <a:pPr>
                <a:lnSpc>
                  <a:spcPct val="130000"/>
                </a:lnSpc>
              </a:pPr>
              <a:r>
                <a:rPr lang="en-US" altLang="zh-CN" sz="1000" dirty="0" err="1">
                  <a:solidFill>
                    <a:srgbClr val="016AC5"/>
                  </a:solidFill>
                  <a:latin typeface="Arial" panose="020B0604020202020204" pitchFamily="34" charset="0"/>
                  <a:ea typeface="Arial Unicode MS" panose="020B0604020202020204" charset="-122"/>
                  <a:sym typeface="+mn-ea"/>
                </a:rPr>
                <a:t>Reichenhall</a:t>
              </a:r>
              <a:r>
                <a:rPr lang="en-US" altLang="zh-CN" sz="1000" dirty="0">
                  <a:solidFill>
                    <a:srgbClr val="016AC5"/>
                  </a:solidFill>
                  <a:latin typeface="Arial" panose="020B0604020202020204" pitchFamily="34" charset="0"/>
                  <a:ea typeface="Arial Unicode MS" panose="020B0604020202020204" charset="-122"/>
                  <a:sym typeface="+mn-ea"/>
                </a:rPr>
                <a:t>,Bavaria,Germany</a:t>
              </a:r>
              <a:endParaRPr lang="en-US" altLang="zh-CN" sz="1200" dirty="0">
                <a:solidFill>
                  <a:srgbClr val="016AC5"/>
                </a:solidFill>
                <a:latin typeface="Arial" panose="020B0604020202020204" pitchFamily="34" charset="0"/>
                <a:ea typeface="Arial Unicode MS" panose="020B0604020202020204" charset="-122"/>
                <a:sym typeface="+mn-ea"/>
              </a:endParaRPr>
            </a:p>
          </p:txBody>
        </p:sp>
        <p:pic>
          <p:nvPicPr>
            <p:cNvPr id="48" name="图片 47" descr="5653f3e7356a7-02"/>
            <p:cNvPicPr>
              <a:picLocks noChangeAspect="1"/>
            </p:cNvPicPr>
            <p:nvPr/>
          </p:nvPicPr>
          <p:blipFill>
            <a:blip r:embed="rId3"/>
            <a:stretch>
              <a:fillRect/>
            </a:stretch>
          </p:blipFill>
          <p:spPr>
            <a:xfrm>
              <a:off x="12944" y="7040"/>
              <a:ext cx="717" cy="632"/>
            </a:xfrm>
            <a:prstGeom prst="rect">
              <a:avLst/>
            </a:prstGeom>
          </p:spPr>
        </p:pic>
        <p:pic>
          <p:nvPicPr>
            <p:cNvPr id="49" name="图片 48" descr="5653f3e7356a7-03"/>
            <p:cNvPicPr>
              <a:picLocks noChangeAspect="1"/>
            </p:cNvPicPr>
            <p:nvPr/>
          </p:nvPicPr>
          <p:blipFill>
            <a:blip r:embed="rId4"/>
            <a:stretch>
              <a:fillRect/>
            </a:stretch>
          </p:blipFill>
          <p:spPr>
            <a:xfrm>
              <a:off x="12944" y="6376"/>
              <a:ext cx="712" cy="627"/>
            </a:xfrm>
            <a:prstGeom prst="rect">
              <a:avLst/>
            </a:prstGeom>
          </p:spPr>
        </p:pic>
      </p:grpSp>
    </p:spTree>
    <p:extLst>
      <p:ext uri="{BB962C8B-B14F-4D97-AF65-F5344CB8AC3E}">
        <p14:creationId xmlns:p14="http://schemas.microsoft.com/office/powerpoint/2010/main" val="291269537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2933</TotalTime>
  <Words>830</Words>
  <Application>Microsoft Office PowerPoint</Application>
  <PresentationFormat>Widescreen</PresentationFormat>
  <Paragraphs>99</Paragraphs>
  <Slides>10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微软雅黑</vt:lpstr>
      <vt:lpstr>Arial</vt:lpstr>
      <vt:lpstr>Arial MT Std</vt:lpstr>
      <vt:lpstr>Arial Unicode MS</vt:lpstr>
      <vt:lpstr>Calibri</vt:lpstr>
      <vt:lpstr>Calibri Light</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Sean Ma</dc:creator>
  <cp:lastModifiedBy>nguyễn phong</cp:lastModifiedBy>
  <cp:revision>292</cp:revision>
  <dcterms:created xsi:type="dcterms:W3CDTF">2018-08-09T02:12:30Z</dcterms:created>
  <dcterms:modified xsi:type="dcterms:W3CDTF">2024-05-17T09:44:58Z</dcterms:modified>
</cp:coreProperties>
</file>